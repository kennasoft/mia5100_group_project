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Snap-to-Sell: a pipeline that takes a single phone photo of a packaged corner-store product and returns a publishable sales listing — identity, description, a defensible price, a clean catalogue image, and compliance flags. Build-and-evaluate stream: the contribution is integration, grounding, and rigorous failure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scene: demand is real, the bottleneck is manual catalogue creation. Recognising 'a chocolate bar' is trivial; recognising the exact SKU, pulling a realistic local price, and writing copy that doesn't misrepresent is where it gets hard.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sits on the gap between off-the-shelf AI capability and real deployment. Three sub-problems: exact identity, defensible price, grounded copy. Solving it lowers the e-commerce barrier for retailers automation usually leaves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research question verbatim. Four objectives: build, quantify, characterise failures, safeguard. Emphasise the framing — investigation with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papers across four sub-problems support each design choice. Novelty: the integrated, measured pipeline for corner-store FMCG, with same-SKU verification and selling-context responsible-AI as first-class evaluated concerns.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six stages. Key design choices: VLM+OCR fusion over a scratch classifier; grounding generation in retrieved attributes; price as estimate-with-range; image swap only on a confident same-SKU match with the owner's photo as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contract. Typed artifacts between stages mean each module can be developed and tested in isolation behind a frozen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CRISP-DM phases. Note the data-strategy honesty: no ready-made 'corner-store photo → listing + price' dataset exists, so building the labelled test set with real observed prices is itself part of the contribution.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genuinely runnable pipeline, not a mock. Hosted providers are pluggable; retrieval is barcode-first with graceful offline fallbacks; generation is grounded; image swap gated on same-SKU verification; every run writes a per-image trace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selling context, an invented spec or a wrong image is a real harm. Four safeguards, each measurable — age-restriction recall, hallucinated-claim catch rate, false-swap rate, priced-as-range transparency.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 per-axis, not one number. Safety axes weighted heavily. The naive baseline anchors every comparison. Failure modes analysed, not averaged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in the talk: results pending the live run (the sandbox can't reach paid APIs). Show the metric skeleton so the audience sees exactly what will be filled. Fill from the eval harness output before final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Characterising failure is the point of the project. Each mode maps to a mitigation — routing low-confidence cases to human review is the safety net that makes the system deployable.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contribution: integrated, verified, reproducibly evaluated. Future work signals awareness of limitations. End with the mission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full literature review for the complete APA list. A few preprint author lists still to be verified before final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A3B"/>
        </a:solidFill>
      </p:bgPr>
    </p:bg>
    <p:spTree>
      <p:nvGrpSpPr>
        <p:cNvPr id="1" name=""/>
        <p:cNvGrpSpPr/>
        <p:nvPr/>
      </p:nvGrpSpPr>
      <p:grpSpPr>
        <a:xfrm>
          <a:off x="0" y="0"/>
          <a:ext cx="0" cy="0"/>
          <a:chOff x="0" y="0"/>
          <a:chExt cx="0" cy="0"/>
        </a:xfrm>
      </p:grpSpPr>
      <p:sp>
        <p:nvSpPr>
          <p:cNvPr id="2" name="Shape 0"/>
          <p:cNvSpPr/>
          <p:nvPr/>
        </p:nvSpPr>
        <p:spPr>
          <a:xfrm>
            <a:off x="8897112" y="-1645920"/>
            <a:ext cx="4754880" cy="4754880"/>
          </a:xfrm>
          <a:prstGeom prst="ellipse">
            <a:avLst/>
          </a:prstGeom>
          <a:solidFill>
            <a:srgbClr val="028090">
              <a:alpha val="30000"/>
            </a:srgbClr>
          </a:solidFill>
          <a:ln/>
        </p:spPr>
      </p:sp>
      <p:sp>
        <p:nvSpPr>
          <p:cNvPr id="3" name="Shape 1"/>
          <p:cNvSpPr/>
          <p:nvPr/>
        </p:nvSpPr>
        <p:spPr>
          <a:xfrm>
            <a:off x="10177272" y="3291840"/>
            <a:ext cx="3108960" cy="3108960"/>
          </a:xfrm>
          <a:prstGeom prst="ellipse">
            <a:avLst/>
          </a:prstGeom>
          <a:solidFill>
            <a:srgbClr val="02C39A">
              <a:alpha val="20000"/>
            </a:srgbClr>
          </a:solidFill>
          <a:ln/>
        </p:spPr>
      </p:sp>
      <p:sp>
        <p:nvSpPr>
          <p:cNvPr id="4" name="Text 2"/>
          <p:cNvSpPr/>
          <p:nvPr/>
        </p:nvSpPr>
        <p:spPr>
          <a:xfrm>
            <a:off x="548640" y="1371600"/>
            <a:ext cx="10058400" cy="365760"/>
          </a:xfrm>
          <a:prstGeom prst="rect">
            <a:avLst/>
          </a:prstGeom>
          <a:noFill/>
          <a:ln/>
        </p:spPr>
        <p:txBody>
          <a:bodyPr wrap="square" rtlCol="0" anchor="ctr"/>
          <a:lstStyle/>
          <a:p>
            <a:pPr indent="0" marL="0">
              <a:buNone/>
            </a:pPr>
            <a:r>
              <a:rPr lang="en-US" sz="1400" b="1" spc="200" kern="0" dirty="0">
                <a:solidFill>
                  <a:srgbClr val="02C39A"/>
                </a:solidFill>
                <a:latin typeface="Calibri" pitchFamily="34" charset="0"/>
                <a:ea typeface="Calibri" pitchFamily="34" charset="-122"/>
                <a:cs typeface="Calibri" pitchFamily="34" charset="-120"/>
              </a:rPr>
              <a:t>MIA 5100 — MACHINE LEARNING · GROUP PROJECT</a:t>
            </a:r>
            <a:endParaRPr lang="en-US" sz="1400" dirty="0"/>
          </a:p>
        </p:txBody>
      </p:sp>
      <p:sp>
        <p:nvSpPr>
          <p:cNvPr id="5" name="Text 3"/>
          <p:cNvSpPr/>
          <p:nvPr/>
        </p:nvSpPr>
        <p:spPr>
          <a:xfrm>
            <a:off x="548640" y="1920240"/>
            <a:ext cx="10515600" cy="1097280"/>
          </a:xfrm>
          <a:prstGeom prst="rect">
            <a:avLst/>
          </a:prstGeom>
          <a:noFill/>
          <a:ln/>
        </p:spPr>
        <p:txBody>
          <a:bodyPr wrap="square"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Snap-to-Sell</a:t>
            </a:r>
            <a:endParaRPr lang="en-US" sz="6000" dirty="0"/>
          </a:p>
        </p:txBody>
      </p:sp>
      <p:sp>
        <p:nvSpPr>
          <p:cNvPr id="6" name="Text 4"/>
          <p:cNvSpPr/>
          <p:nvPr/>
        </p:nvSpPr>
        <p:spPr>
          <a:xfrm>
            <a:off x="548640" y="3063240"/>
            <a:ext cx="9692640" cy="822960"/>
          </a:xfrm>
          <a:prstGeom prst="rect">
            <a:avLst/>
          </a:prstGeom>
          <a:noFill/>
          <a:ln/>
        </p:spPr>
        <p:txBody>
          <a:bodyPr wrap="square" rtlCol="0" anchor="ctr"/>
          <a:lstStyle/>
          <a:p>
            <a:pPr indent="0" marL="0">
              <a:buNone/>
            </a:pPr>
            <a:r>
              <a:rPr lang="en-US" sz="2000" dirty="0">
                <a:solidFill>
                  <a:srgbClr val="CFE6E6"/>
                </a:solidFill>
                <a:latin typeface="Calibri" pitchFamily="34" charset="0"/>
                <a:ea typeface="Calibri" pitchFamily="34" charset="-122"/>
                <a:cs typeface="Calibri" pitchFamily="34" charset="-120"/>
              </a:rPr>
              <a:t>Turning a corner-store product photo into a priced, image-upgraded, publishable listing</a:t>
            </a:r>
            <a:endParaRPr lang="en-US" sz="2000" dirty="0"/>
          </a:p>
        </p:txBody>
      </p:sp>
      <p:sp>
        <p:nvSpPr>
          <p:cNvPr id="7" name="Text 5"/>
          <p:cNvSpPr/>
          <p:nvPr/>
        </p:nvSpPr>
        <p:spPr>
          <a:xfrm>
            <a:off x="548640" y="3931920"/>
            <a:ext cx="10058400" cy="365760"/>
          </a:xfrm>
          <a:prstGeom prst="rect">
            <a:avLst/>
          </a:prstGeom>
          <a:noFill/>
          <a:ln/>
        </p:spPr>
        <p:txBody>
          <a:bodyPr wrap="square" rtlCol="0" anchor="ctr"/>
          <a:lstStyle/>
          <a:p>
            <a:pPr indent="0" marL="0">
              <a:buNone/>
            </a:pPr>
            <a:r>
              <a:rPr lang="en-US" sz="1400" i="1" dirty="0">
                <a:solidFill>
                  <a:srgbClr val="00A896"/>
                </a:solidFill>
                <a:latin typeface="Calibri" pitchFamily="34" charset="0"/>
                <a:ea typeface="Calibri" pitchFamily="34" charset="-122"/>
                <a:cs typeface="Calibri" pitchFamily="34" charset="-120"/>
              </a:rPr>
              <a:t>Hands-On AI System Development Project — Build &amp; Evaluate</a:t>
            </a:r>
            <a:endParaRPr lang="en-US" sz="1400" dirty="0"/>
          </a:p>
        </p:txBody>
      </p:sp>
      <p:sp>
        <p:nvSpPr>
          <p:cNvPr id="8" name="Text 6"/>
          <p:cNvSpPr/>
          <p:nvPr/>
        </p:nvSpPr>
        <p:spPr>
          <a:xfrm>
            <a:off x="548640" y="5212080"/>
            <a:ext cx="10515600" cy="365760"/>
          </a:xfrm>
          <a:prstGeom prst="rect">
            <a:avLst/>
          </a:prstGeom>
          <a:noFill/>
          <a:ln/>
        </p:spPr>
        <p:txBody>
          <a:bodyPr wrap="square" rtlCol="0" anchor="ctr"/>
          <a:lstStyle/>
          <a:p>
            <a:pPr indent="0" marL="0">
              <a:buNone/>
            </a:pPr>
            <a:r>
              <a:rPr lang="en-US" sz="1500" dirty="0">
                <a:solidFill>
                  <a:srgbClr val="FFFFFF"/>
                </a:solidFill>
                <a:latin typeface="Calibri" pitchFamily="34" charset="0"/>
                <a:ea typeface="Calibri" pitchFamily="34" charset="-122"/>
                <a:cs typeface="Calibri" pitchFamily="34" charset="-120"/>
              </a:rPr>
              <a:t>Ikenna Okonkwo   ·   Loic Tiemani   ·   Frank Boahen   ·   Adhikary Adhikary</a:t>
            </a:r>
            <a:endParaRPr lang="en-US" sz="1500" dirty="0"/>
          </a:p>
        </p:txBody>
      </p:sp>
      <p:sp>
        <p:nvSpPr>
          <p:cNvPr id="9" name="Text 7"/>
          <p:cNvSpPr/>
          <p:nvPr/>
        </p:nvSpPr>
        <p:spPr>
          <a:xfrm>
            <a:off x="548640" y="5623560"/>
            <a:ext cx="7315200" cy="320040"/>
          </a:xfrm>
          <a:prstGeom prst="rect">
            <a:avLst/>
          </a:prstGeom>
          <a:noFill/>
          <a:ln/>
        </p:spPr>
        <p:txBody>
          <a:bodyPr wrap="square" rtlCol="0" anchor="ctr"/>
          <a:lstStyle/>
          <a:p>
            <a:pPr indent="0" marL="0">
              <a:buNone/>
            </a:pPr>
            <a:r>
              <a:rPr lang="en-US" sz="1300" dirty="0">
                <a:solidFill>
                  <a:srgbClr val="5B6B73"/>
                </a:solidFill>
                <a:latin typeface="Calibri" pitchFamily="34" charset="0"/>
                <a:ea typeface="Calibri" pitchFamily="34" charset="-122"/>
                <a:cs typeface="Calibri" pitchFamily="34" charset="-120"/>
              </a:rPr>
              <a:t>University of Ottawa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7"/>
        </a:solidFill>
      </p:bgPr>
    </p:bg>
    <p:spTree>
      <p:nvGrpSpPr>
        <p:cNvPr id="1" name=""/>
        <p:cNvGrpSpPr/>
        <p:nvPr/>
      </p:nvGrpSpPr>
      <p:grpSpPr>
        <a:xfrm>
          <a:off x="0" y="0"/>
          <a:ext cx="0" cy="0"/>
          <a:chOff x="0" y="0"/>
          <a:chExt cx="0" cy="0"/>
        </a:xfrm>
      </p:grpSpPr>
      <p:sp>
        <p:nvSpPr>
          <p:cNvPr id="2" name="Text 0"/>
          <p:cNvSpPr/>
          <p:nvPr/>
        </p:nvSpPr>
        <p:spPr>
          <a:xfrm>
            <a:off x="548640" y="502920"/>
            <a:ext cx="8229600" cy="320040"/>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INTRODUCTION &amp; BACKGROUND</a:t>
            </a:r>
            <a:endParaRPr lang="en-US" sz="1200" dirty="0"/>
          </a:p>
        </p:txBody>
      </p:sp>
      <p:sp>
        <p:nvSpPr>
          <p:cNvPr id="3" name="Text 1"/>
          <p:cNvSpPr/>
          <p:nvPr/>
        </p:nvSpPr>
        <p:spPr>
          <a:xfrm>
            <a:off x="548640" y="777240"/>
            <a:ext cx="11091672" cy="822960"/>
          </a:xfrm>
          <a:prstGeom prst="rect">
            <a:avLst/>
          </a:prstGeom>
          <a:noFill/>
          <a:ln/>
        </p:spPr>
        <p:txBody>
          <a:bodyPr wrap="square" lIns="0" tIns="0" rIns="0" bIns="0" rtlCol="0" anchor="ctr"/>
          <a:lstStyle/>
          <a:p>
            <a:pPr indent="0" marL="0">
              <a:buNone/>
            </a:pPr>
            <a:r>
              <a:rPr lang="en-US" sz="3200" b="1" dirty="0">
                <a:solidFill>
                  <a:srgbClr val="1B2A33"/>
                </a:solidFill>
                <a:latin typeface="Cambria" pitchFamily="34" charset="0"/>
                <a:ea typeface="Cambria" pitchFamily="34" charset="-122"/>
                <a:cs typeface="Cambria" pitchFamily="34" charset="-120"/>
              </a:rPr>
              <a:t>Selling online should be one photo away</a:t>
            </a:r>
            <a:endParaRPr lang="en-US" sz="3200" dirty="0"/>
          </a:p>
        </p:txBody>
      </p:sp>
      <p:sp>
        <p:nvSpPr>
          <p:cNvPr id="4" name="Text 2"/>
          <p:cNvSpPr/>
          <p:nvPr/>
        </p:nvSpPr>
        <p:spPr>
          <a:xfrm>
            <a:off x="548640" y="1737360"/>
            <a:ext cx="6035040" cy="914400"/>
          </a:xfrm>
          <a:prstGeom prst="rect">
            <a:avLst/>
          </a:prstGeom>
          <a:noFill/>
          <a:ln/>
        </p:spPr>
        <p:txBody>
          <a:bodyPr wrap="square" lIns="0" tIns="0" rIns="0" bIns="0" rtlCol="0" anchor="ctr"/>
          <a:lstStyle/>
          <a:p>
            <a:pPr indent="0" marL="0">
              <a:buNone/>
            </a:pPr>
            <a:r>
              <a:rPr lang="en-US" sz="1700" b="1" dirty="0">
                <a:solidFill>
                  <a:srgbClr val="1B2A33"/>
                </a:solidFill>
                <a:latin typeface="Calibri" pitchFamily="34" charset="0"/>
                <a:ea typeface="Calibri" pitchFamily="34" charset="-122"/>
                <a:cs typeface="Calibri" pitchFamily="34" charset="-120"/>
              </a:rPr>
              <a:t>Independent corner stores increasingly want to sell online</a:t>
            </a:r>
            <a:endParaRPr lang="en-US" sz="1700" dirty="0"/>
          </a:p>
          <a:p>
            <a:pPr indent="0" marL="0">
              <a:buNone/>
            </a:pPr>
            <a:r>
              <a:rPr lang="en-US" sz="1500" dirty="0">
                <a:solidFill>
                  <a:srgbClr val="5B6B73"/>
                </a:solidFill>
                <a:latin typeface="Calibri" pitchFamily="34" charset="0"/>
                <a:ea typeface="Calibri" pitchFamily="34" charset="-122"/>
                <a:cs typeface="Calibri" pitchFamily="34" charset="-120"/>
              </a:rPr>
              <a:t>— through delivery platforms, their own storefronts, or aggregator catalogues.</a:t>
            </a:r>
            <a:endParaRPr lang="en-US" sz="1700" dirty="0"/>
          </a:p>
        </p:txBody>
      </p:sp>
      <p:sp>
        <p:nvSpPr>
          <p:cNvPr id="5" name="Text 3"/>
          <p:cNvSpPr/>
          <p:nvPr/>
        </p:nvSpPr>
        <p:spPr>
          <a:xfrm>
            <a:off x="548640" y="2788920"/>
            <a:ext cx="6035040" cy="2011680"/>
          </a:xfrm>
          <a:prstGeom prst="rect">
            <a:avLst/>
          </a:prstGeom>
          <a:noFill/>
          <a:ln/>
        </p:spPr>
        <p:txBody>
          <a:bodyPr wrap="square" lIns="0" tIns="0" rIns="0" bIns="0" rtlCol="0" anchor="ctr"/>
          <a:lstStyle/>
          <a:p>
            <a:pPr indent="0" marL="0">
              <a:buNone/>
            </a:pPr>
            <a:r>
              <a:rPr lang="en-US" sz="1700" b="1" dirty="0">
                <a:solidFill>
                  <a:srgbClr val="000000"/>
                </a:solidFill>
                <a:latin typeface="Calibri" pitchFamily="34" charset="0"/>
                <a:ea typeface="Calibri" pitchFamily="34" charset="-122"/>
                <a:cs typeface="Calibri" pitchFamily="34" charset="-120"/>
              </a:rPr>
              <a:t>But onboarding inventory is manual and slow.</a:t>
            </a:r>
            <a:endParaRPr lang="en-US" sz="1700" dirty="0"/>
          </a:p>
          <a:p>
            <a:pPr indent="0" marL="0">
              <a:buNone/>
            </a:pPr>
            <a:r>
              <a:rPr lang="en-US" sz="1500" b="1" dirty="0">
                <a:solidFill>
                  <a:srgbClr val="1B2A33"/>
                </a:solidFill>
                <a:latin typeface="Calibri" pitchFamily="34" charset="0"/>
                <a:ea typeface="Calibri" pitchFamily="34" charset="-122"/>
                <a:cs typeface="Calibri" pitchFamily="34" charset="-120"/>
              </a:rPr>
              <a:t>A typical shop carries hundreds of fast-moving packaged goods. Creating each catalogue entry by hand — the right name, a description, a price, an image — is slow enough that most small retailers never digitise their stock at all.</a:t>
            </a:r>
            <a:endParaRPr lang="en-US" sz="1700" dirty="0"/>
          </a:p>
        </p:txBody>
      </p:sp>
      <p:sp>
        <p:nvSpPr>
          <p:cNvPr id="6" name="Text 4"/>
          <p:cNvSpPr/>
          <p:nvPr/>
        </p:nvSpPr>
        <p:spPr>
          <a:xfrm>
            <a:off x="548640" y="5029200"/>
            <a:ext cx="6035040" cy="914400"/>
          </a:xfrm>
          <a:prstGeom prst="rect">
            <a:avLst/>
          </a:prstGeom>
          <a:noFill/>
          <a:ln/>
        </p:spPr>
        <p:txBody>
          <a:bodyPr wrap="square" lIns="0" tIns="0" rIns="0" bIns="0" rtlCol="0" anchor="ctr"/>
          <a:lstStyle/>
          <a:p>
            <a:pPr indent="0" marL="0">
              <a:buNone/>
            </a:pPr>
            <a:r>
              <a:rPr lang="en-US" sz="1500" i="1" dirty="0">
                <a:solidFill>
                  <a:srgbClr val="028090"/>
                </a:solidFill>
                <a:latin typeface="Calibri" pitchFamily="34" charset="0"/>
                <a:ea typeface="Calibri" pitchFamily="34" charset="-122"/>
                <a:cs typeface="Calibri" pitchFamily="34" charset="-120"/>
              </a:rPr>
              <a:t>Modern vision-language models can already read packaging. The gap is turning that capability into a reliable, deployable pipeline.</a:t>
            </a:r>
            <a:endParaRPr lang="en-US" sz="1500" dirty="0"/>
          </a:p>
        </p:txBody>
      </p:sp>
      <p:sp>
        <p:nvSpPr>
          <p:cNvPr id="7" name="Shape 5"/>
          <p:cNvSpPr/>
          <p:nvPr/>
        </p:nvSpPr>
        <p:spPr>
          <a:xfrm>
            <a:off x="7406640" y="1737360"/>
            <a:ext cx="4206240" cy="1325880"/>
          </a:xfrm>
          <a:prstGeom prst="roundRect">
            <a:avLst>
              <a:gd name="adj" fmla="val 8276"/>
            </a:avLst>
          </a:prstGeom>
          <a:solidFill>
            <a:srgbClr val="FFFFFF"/>
          </a:solidFill>
          <a:ln w="12700">
            <a:solidFill>
              <a:srgbClr val="DCE6E6"/>
            </a:solidFill>
            <a:prstDash val="solid"/>
          </a:ln>
          <a:effectLst>
            <a:outerShdw sx="100000" sy="100000" kx="0" ky="0" algn="bl" rotWithShape="0" blurRad="76200" dist="25400" dir="5400000">
              <a:srgbClr val="99BBBB">
                <a:alpha val="25000"/>
              </a:srgbClr>
            </a:outerShdw>
          </a:effectLst>
        </p:spPr>
      </p:sp>
      <p:sp>
        <p:nvSpPr>
          <p:cNvPr id="8" name="Text 6"/>
          <p:cNvSpPr/>
          <p:nvPr/>
        </p:nvSpPr>
        <p:spPr>
          <a:xfrm>
            <a:off x="7635240" y="1874520"/>
            <a:ext cx="3749040" cy="640080"/>
          </a:xfrm>
          <a:prstGeom prst="rect">
            <a:avLst/>
          </a:prstGeom>
          <a:noFill/>
          <a:ln/>
        </p:spPr>
        <p:txBody>
          <a:bodyPr wrap="square" lIns="0" tIns="0" rIns="0" bIns="0" rtlCol="0" anchor="ctr"/>
          <a:lstStyle/>
          <a:p>
            <a:pPr indent="0" marL="0">
              <a:buNone/>
            </a:pPr>
            <a:r>
              <a:rPr lang="en-US" sz="2800" b="1" dirty="0">
                <a:solidFill>
                  <a:srgbClr val="028090"/>
                </a:solidFill>
                <a:latin typeface="Cambria" pitchFamily="34" charset="0"/>
                <a:ea typeface="Cambria" pitchFamily="34" charset="-122"/>
                <a:cs typeface="Cambria" pitchFamily="34" charset="-120"/>
              </a:rPr>
              <a:t>Hundreds</a:t>
            </a:r>
            <a:endParaRPr lang="en-US" sz="2800" dirty="0"/>
          </a:p>
        </p:txBody>
      </p:sp>
      <p:sp>
        <p:nvSpPr>
          <p:cNvPr id="9" name="Text 7"/>
          <p:cNvSpPr/>
          <p:nvPr/>
        </p:nvSpPr>
        <p:spPr>
          <a:xfrm>
            <a:off x="7635240" y="2514600"/>
            <a:ext cx="3749040" cy="457200"/>
          </a:xfrm>
          <a:prstGeom prst="rect">
            <a:avLst/>
          </a:prstGeom>
          <a:noFill/>
          <a:ln/>
        </p:spPr>
        <p:txBody>
          <a:bodyPr wrap="square" lIns="0" tIns="0" rIns="0" bIns="0" rtlCol="0" anchor="ctr"/>
          <a:lstStyle/>
          <a:p>
            <a:pPr indent="0" marL="0">
              <a:buNone/>
            </a:pPr>
            <a:r>
              <a:rPr lang="en-US" sz="1250" dirty="0">
                <a:solidFill>
                  <a:srgbClr val="5B6B73"/>
                </a:solidFill>
                <a:latin typeface="Calibri" pitchFamily="34" charset="0"/>
                <a:ea typeface="Calibri" pitchFamily="34" charset="-122"/>
                <a:cs typeface="Calibri" pitchFamily="34" charset="-120"/>
              </a:rPr>
              <a:t>of SKUs per store, mostly packaged FMCG</a:t>
            </a:r>
            <a:endParaRPr lang="en-US" sz="1250" dirty="0"/>
          </a:p>
        </p:txBody>
      </p:sp>
      <p:sp>
        <p:nvSpPr>
          <p:cNvPr id="10" name="Shape 8"/>
          <p:cNvSpPr/>
          <p:nvPr/>
        </p:nvSpPr>
        <p:spPr>
          <a:xfrm>
            <a:off x="7406640" y="3246120"/>
            <a:ext cx="4206240" cy="1325880"/>
          </a:xfrm>
          <a:prstGeom prst="roundRect">
            <a:avLst>
              <a:gd name="adj" fmla="val 8276"/>
            </a:avLst>
          </a:prstGeom>
          <a:solidFill>
            <a:srgbClr val="FFFFFF"/>
          </a:solidFill>
          <a:ln w="12700">
            <a:solidFill>
              <a:srgbClr val="DCE6E6"/>
            </a:solidFill>
            <a:prstDash val="solid"/>
          </a:ln>
          <a:effectLst>
            <a:outerShdw sx="100000" sy="100000" kx="0" ky="0" algn="bl" rotWithShape="0" blurRad="76200" dist="25400" dir="5400000">
              <a:srgbClr val="99BBBB">
                <a:alpha val="25000"/>
              </a:srgbClr>
            </a:outerShdw>
          </a:effectLst>
        </p:spPr>
      </p:sp>
      <p:sp>
        <p:nvSpPr>
          <p:cNvPr id="11" name="Text 9"/>
          <p:cNvSpPr/>
          <p:nvPr/>
        </p:nvSpPr>
        <p:spPr>
          <a:xfrm>
            <a:off x="7635240" y="3383280"/>
            <a:ext cx="3749040" cy="640080"/>
          </a:xfrm>
          <a:prstGeom prst="rect">
            <a:avLst/>
          </a:prstGeom>
          <a:noFill/>
          <a:ln/>
        </p:spPr>
        <p:txBody>
          <a:bodyPr wrap="square" lIns="0" tIns="0" rIns="0" bIns="0" rtlCol="0" anchor="ctr"/>
          <a:lstStyle/>
          <a:p>
            <a:pPr indent="0" marL="0">
              <a:buNone/>
            </a:pPr>
            <a:r>
              <a:rPr lang="en-US" sz="2800" b="1" dirty="0">
                <a:solidFill>
                  <a:srgbClr val="028090"/>
                </a:solidFill>
                <a:latin typeface="Cambria" pitchFamily="34" charset="0"/>
                <a:ea typeface="Cambria" pitchFamily="34" charset="-122"/>
                <a:cs typeface="Cambria" pitchFamily="34" charset="-120"/>
              </a:rPr>
              <a:t>4 stages</a:t>
            </a:r>
            <a:endParaRPr lang="en-US" sz="2800" dirty="0"/>
          </a:p>
        </p:txBody>
      </p:sp>
      <p:sp>
        <p:nvSpPr>
          <p:cNvPr id="12" name="Text 10"/>
          <p:cNvSpPr/>
          <p:nvPr/>
        </p:nvSpPr>
        <p:spPr>
          <a:xfrm>
            <a:off x="7635240" y="4023360"/>
            <a:ext cx="3749040" cy="457200"/>
          </a:xfrm>
          <a:prstGeom prst="rect">
            <a:avLst/>
          </a:prstGeom>
          <a:noFill/>
          <a:ln/>
        </p:spPr>
        <p:txBody>
          <a:bodyPr wrap="square" lIns="0" tIns="0" rIns="0" bIns="0" rtlCol="0" anchor="ctr"/>
          <a:lstStyle/>
          <a:p>
            <a:pPr indent="0" marL="0">
              <a:buNone/>
            </a:pPr>
            <a:r>
              <a:rPr lang="en-US" sz="1250" dirty="0">
                <a:solidFill>
                  <a:srgbClr val="5B6B73"/>
                </a:solidFill>
                <a:latin typeface="Calibri" pitchFamily="34" charset="0"/>
                <a:ea typeface="Calibri" pitchFamily="34" charset="-122"/>
                <a:cs typeface="Calibri" pitchFamily="34" charset="-120"/>
              </a:rPr>
              <a:t>recognise → retrieve → generate → verify</a:t>
            </a:r>
            <a:endParaRPr lang="en-US" sz="1250" dirty="0"/>
          </a:p>
        </p:txBody>
      </p:sp>
      <p:sp>
        <p:nvSpPr>
          <p:cNvPr id="13" name="Shape 11"/>
          <p:cNvSpPr/>
          <p:nvPr/>
        </p:nvSpPr>
        <p:spPr>
          <a:xfrm>
            <a:off x="7406640" y="4754880"/>
            <a:ext cx="4206240" cy="1325880"/>
          </a:xfrm>
          <a:prstGeom prst="roundRect">
            <a:avLst>
              <a:gd name="adj" fmla="val 8276"/>
            </a:avLst>
          </a:prstGeom>
          <a:solidFill>
            <a:srgbClr val="FFFFFF"/>
          </a:solidFill>
          <a:ln w="12700">
            <a:solidFill>
              <a:srgbClr val="DCE6E6"/>
            </a:solidFill>
            <a:prstDash val="solid"/>
          </a:ln>
          <a:effectLst>
            <a:outerShdw sx="100000" sy="100000" kx="0" ky="0" algn="bl" rotWithShape="0" blurRad="76200" dist="25400" dir="5400000">
              <a:srgbClr val="99BBBB">
                <a:alpha val="25000"/>
              </a:srgbClr>
            </a:outerShdw>
          </a:effectLst>
        </p:spPr>
      </p:sp>
      <p:sp>
        <p:nvSpPr>
          <p:cNvPr id="14" name="Text 12"/>
          <p:cNvSpPr/>
          <p:nvPr/>
        </p:nvSpPr>
        <p:spPr>
          <a:xfrm>
            <a:off x="7635240" y="4892040"/>
            <a:ext cx="3749040" cy="640080"/>
          </a:xfrm>
          <a:prstGeom prst="rect">
            <a:avLst/>
          </a:prstGeom>
          <a:noFill/>
          <a:ln/>
        </p:spPr>
        <p:txBody>
          <a:bodyPr wrap="square" lIns="0" tIns="0" rIns="0" bIns="0" rtlCol="0" anchor="ctr"/>
          <a:lstStyle/>
          <a:p>
            <a:pPr indent="0" marL="0">
              <a:buNone/>
            </a:pPr>
            <a:r>
              <a:rPr lang="en-US" sz="2800" b="1" dirty="0">
                <a:solidFill>
                  <a:srgbClr val="028090"/>
                </a:solidFill>
                <a:latin typeface="Cambria" pitchFamily="34" charset="0"/>
                <a:ea typeface="Cambria" pitchFamily="34" charset="-122"/>
                <a:cs typeface="Cambria" pitchFamily="34" charset="-120"/>
              </a:rPr>
              <a:t>1 photo</a:t>
            </a:r>
            <a:endParaRPr lang="en-US" sz="2800" dirty="0"/>
          </a:p>
        </p:txBody>
      </p:sp>
      <p:sp>
        <p:nvSpPr>
          <p:cNvPr id="15" name="Text 13"/>
          <p:cNvSpPr/>
          <p:nvPr/>
        </p:nvSpPr>
        <p:spPr>
          <a:xfrm>
            <a:off x="7635240" y="5532120"/>
            <a:ext cx="3749040" cy="457200"/>
          </a:xfrm>
          <a:prstGeom prst="rect">
            <a:avLst/>
          </a:prstGeom>
          <a:noFill/>
          <a:ln/>
        </p:spPr>
        <p:txBody>
          <a:bodyPr wrap="square" lIns="0" tIns="0" rIns="0" bIns="0" rtlCol="0" anchor="ctr"/>
          <a:lstStyle/>
          <a:p>
            <a:pPr indent="0" marL="0">
              <a:buNone/>
            </a:pPr>
            <a:r>
              <a:rPr lang="en-US" sz="1250" dirty="0">
                <a:solidFill>
                  <a:srgbClr val="5B6B73"/>
                </a:solidFill>
                <a:latin typeface="Calibri" pitchFamily="34" charset="0"/>
                <a:ea typeface="Calibri" pitchFamily="34" charset="-122"/>
                <a:cs typeface="Calibri" pitchFamily="34" charset="-120"/>
              </a:rPr>
              <a:t>in  →  publishable listing out</a:t>
            </a:r>
            <a:endParaRPr lang="en-US" sz="1250" dirty="0"/>
          </a:p>
        </p:txBody>
      </p:sp>
      <p:sp>
        <p:nvSpPr>
          <p:cNvPr id="16" name="Text 14"/>
          <p:cNvSpPr/>
          <p:nvPr/>
        </p:nvSpPr>
        <p:spPr>
          <a:xfrm>
            <a:off x="11274552" y="6400800"/>
            <a:ext cx="457200" cy="274320"/>
          </a:xfrm>
          <a:prstGeom prst="rect">
            <a:avLst/>
          </a:prstGeom>
          <a:noFill/>
          <a:ln/>
        </p:spPr>
        <p:txBody>
          <a:bodyPr wrap="square" rtlCol="0" anchor="ctr"/>
          <a:lstStyle/>
          <a:p>
            <a:pPr algn="r" indent="0" marL="0">
              <a:buNone/>
            </a:pPr>
            <a:r>
              <a:rPr lang="en-US" sz="1000" dirty="0">
                <a:solidFill>
                  <a:srgbClr val="5B6B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7"/>
        </a:solidFill>
      </p:bgPr>
    </p:bg>
    <p:spTree>
      <p:nvGrpSpPr>
        <p:cNvPr id="1" name=""/>
        <p:cNvGrpSpPr/>
        <p:nvPr/>
      </p:nvGrpSpPr>
      <p:grpSpPr>
        <a:xfrm>
          <a:off x="0" y="0"/>
          <a:ext cx="0" cy="0"/>
          <a:chOff x="0" y="0"/>
          <a:chExt cx="0" cy="0"/>
        </a:xfrm>
      </p:grpSpPr>
      <p:sp>
        <p:nvSpPr>
          <p:cNvPr id="2" name="Text 0"/>
          <p:cNvSpPr/>
          <p:nvPr/>
        </p:nvSpPr>
        <p:spPr>
          <a:xfrm>
            <a:off x="548640" y="502920"/>
            <a:ext cx="8229600" cy="320040"/>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PROBLEM STATEMENT &amp; MOTIVATION</a:t>
            </a:r>
            <a:endParaRPr lang="en-US" sz="1200" dirty="0"/>
          </a:p>
        </p:txBody>
      </p:sp>
      <p:sp>
        <p:nvSpPr>
          <p:cNvPr id="3" name="Text 1"/>
          <p:cNvSpPr/>
          <p:nvPr/>
        </p:nvSpPr>
        <p:spPr>
          <a:xfrm>
            <a:off x="548640" y="777240"/>
            <a:ext cx="11091672" cy="822960"/>
          </a:xfrm>
          <a:prstGeom prst="rect">
            <a:avLst/>
          </a:prstGeom>
          <a:noFill/>
          <a:ln/>
        </p:spPr>
        <p:txBody>
          <a:bodyPr wrap="square" lIns="0" tIns="0" rIns="0" bIns="0" rtlCol="0" anchor="ctr"/>
          <a:lstStyle/>
          <a:p>
            <a:pPr indent="0" marL="0">
              <a:buNone/>
            </a:pPr>
            <a:r>
              <a:rPr lang="en-US" sz="3200" b="1" dirty="0">
                <a:solidFill>
                  <a:srgbClr val="1B2A33"/>
                </a:solidFill>
                <a:latin typeface="Cambria" pitchFamily="34" charset="0"/>
                <a:ea typeface="Cambria" pitchFamily="34" charset="-122"/>
                <a:cs typeface="Cambria" pitchFamily="34" charset="-120"/>
              </a:rPr>
              <a:t>The hard part isn't seeing — it's being exactly right</a:t>
            </a:r>
            <a:endParaRPr lang="en-US" sz="3200" dirty="0"/>
          </a:p>
        </p:txBody>
      </p:sp>
      <p:sp>
        <p:nvSpPr>
          <p:cNvPr id="4" name="Shape 2"/>
          <p:cNvSpPr/>
          <p:nvPr/>
        </p:nvSpPr>
        <p:spPr>
          <a:xfrm>
            <a:off x="548640" y="1691640"/>
            <a:ext cx="11064240" cy="1234440"/>
          </a:xfrm>
          <a:prstGeom prst="roundRect">
            <a:avLst>
              <a:gd name="adj" fmla="val 7407"/>
            </a:avLst>
          </a:prstGeom>
          <a:solidFill>
            <a:srgbClr val="0B2A3B"/>
          </a:solidFill>
          <a:ln/>
        </p:spPr>
      </p:sp>
      <p:sp>
        <p:nvSpPr>
          <p:cNvPr id="5" name="Text 3"/>
          <p:cNvSpPr/>
          <p:nvPr/>
        </p:nvSpPr>
        <p:spPr>
          <a:xfrm>
            <a:off x="822960" y="1783080"/>
            <a:ext cx="10515600" cy="1051560"/>
          </a:xfrm>
          <a:prstGeom prst="rect">
            <a:avLst/>
          </a:prstGeom>
          <a:noFill/>
          <a:ln/>
        </p:spPr>
        <p:txBody>
          <a:bodyPr wrap="square" lIns="0" tIns="0" rIns="0" bIns="0" rtlCol="0" anchor="ctr"/>
          <a:lstStyle/>
          <a:p>
            <a:pPr indent="0" marL="0">
              <a:buNone/>
            </a:pPr>
            <a:r>
              <a:rPr lang="en-US" sz="1800" b="1" dirty="0">
                <a:solidFill>
                  <a:srgbClr val="02C39A"/>
                </a:solidFill>
                <a:latin typeface="Calibri" pitchFamily="34" charset="0"/>
                <a:ea typeface="Calibri" pitchFamily="34" charset="-122"/>
                <a:cs typeface="Calibri" pitchFamily="34" charset="-120"/>
              </a:rPr>
              <a:t>Core question:  </a:t>
            </a:r>
            <a:pPr indent="0" marL="0">
              <a:buNone/>
            </a:pPr>
            <a:r>
              <a:rPr lang="en-US" sz="1800" dirty="0">
                <a:solidFill>
                  <a:srgbClr val="FFFFFF"/>
                </a:solidFill>
                <a:latin typeface="Calibri" pitchFamily="34" charset="0"/>
                <a:ea typeface="Calibri" pitchFamily="34" charset="-122"/>
                <a:cs typeface="Calibri" pitchFamily="34" charset="-120"/>
              </a:rPr>
              <a:t>Can a single photo of a packaged product be turned — automatically and accurately enough to be useful — into a publishable listing with a defensible suggested price?</a:t>
            </a:r>
            <a:endParaRPr lang="en-US" sz="1800" dirty="0"/>
          </a:p>
        </p:txBody>
      </p:sp>
      <p:sp>
        <p:nvSpPr>
          <p:cNvPr id="6" name="Shape 4"/>
          <p:cNvSpPr/>
          <p:nvPr/>
        </p:nvSpPr>
        <p:spPr>
          <a:xfrm>
            <a:off x="548640" y="3246120"/>
            <a:ext cx="3566160" cy="2651760"/>
          </a:xfrm>
          <a:prstGeom prst="roundRect">
            <a:avLst>
              <a:gd name="adj" fmla="val 3448"/>
            </a:avLst>
          </a:prstGeom>
          <a:solidFill>
            <a:srgbClr val="FFFFFF"/>
          </a:solidFill>
          <a:ln w="12700">
            <a:solidFill>
              <a:srgbClr val="DCE6E6"/>
            </a:solidFill>
            <a:prstDash val="solid"/>
          </a:ln>
        </p:spPr>
      </p:sp>
      <p:sp>
        <p:nvSpPr>
          <p:cNvPr id="7" name="Shape 5"/>
          <p:cNvSpPr/>
          <p:nvPr/>
        </p:nvSpPr>
        <p:spPr>
          <a:xfrm>
            <a:off x="868680" y="3566160"/>
            <a:ext cx="502920" cy="502920"/>
          </a:xfrm>
          <a:prstGeom prst="ellipse">
            <a:avLst/>
          </a:prstGeom>
          <a:solidFill>
            <a:srgbClr val="00A896"/>
          </a:solidFill>
          <a:ln/>
        </p:spPr>
      </p:sp>
      <p:sp>
        <p:nvSpPr>
          <p:cNvPr id="8" name="Text 6"/>
          <p:cNvSpPr/>
          <p:nvPr/>
        </p:nvSpPr>
        <p:spPr>
          <a:xfrm>
            <a:off x="868680" y="356616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9" name="Text 7"/>
          <p:cNvSpPr/>
          <p:nvPr/>
        </p:nvSpPr>
        <p:spPr>
          <a:xfrm>
            <a:off x="868680" y="4251960"/>
            <a:ext cx="2926080" cy="457200"/>
          </a:xfrm>
          <a:prstGeom prst="rect">
            <a:avLst/>
          </a:prstGeom>
          <a:noFill/>
          <a:ln/>
        </p:spPr>
        <p:txBody>
          <a:bodyPr wrap="square" lIns="0" tIns="0" rIns="0" bIns="0" rtlCol="0" anchor="ctr"/>
          <a:lstStyle/>
          <a:p>
            <a:pPr indent="0" marL="0">
              <a:buNone/>
            </a:pPr>
            <a:r>
              <a:rPr lang="en-US" sz="2000" b="1" dirty="0">
                <a:solidFill>
                  <a:srgbClr val="028090"/>
                </a:solidFill>
                <a:latin typeface="Cambria" pitchFamily="34" charset="0"/>
                <a:ea typeface="Cambria" pitchFamily="34" charset="-122"/>
                <a:cs typeface="Cambria" pitchFamily="34" charset="-120"/>
              </a:rPr>
              <a:t>Which SKU?</a:t>
            </a:r>
            <a:endParaRPr lang="en-US" sz="2000" dirty="0"/>
          </a:p>
        </p:txBody>
      </p:sp>
      <p:sp>
        <p:nvSpPr>
          <p:cNvPr id="10" name="Text 8"/>
          <p:cNvSpPr/>
          <p:nvPr/>
        </p:nvSpPr>
        <p:spPr>
          <a:xfrm>
            <a:off x="868680" y="4754880"/>
            <a:ext cx="2971800" cy="1005840"/>
          </a:xfrm>
          <a:prstGeom prst="rect">
            <a:avLst/>
          </a:prstGeom>
          <a:noFill/>
          <a:ln/>
        </p:spPr>
        <p:txBody>
          <a:bodyPr wrap="square" lIns="0" tIns="0" rIns="0" bIns="0" rtlCol="0" anchor="ctr"/>
          <a:lstStyle/>
          <a:p>
            <a:pPr indent="0" marL="0">
              <a:buNone/>
            </a:pPr>
            <a:r>
              <a:rPr lang="en-US" sz="1350" dirty="0">
                <a:solidFill>
                  <a:srgbClr val="1B2A33"/>
                </a:solidFill>
                <a:latin typeface="Calibri" pitchFamily="34" charset="0"/>
                <a:ea typeface="Calibri" pitchFamily="34" charset="-122"/>
                <a:cs typeface="Calibri" pitchFamily="34" charset="-120"/>
              </a:rPr>
              <a:t>Brand, variant and pack size — not just the category. This is where accuracy degrades.</a:t>
            </a:r>
            <a:endParaRPr lang="en-US" sz="1350" dirty="0"/>
          </a:p>
        </p:txBody>
      </p:sp>
      <p:sp>
        <p:nvSpPr>
          <p:cNvPr id="11" name="Shape 9"/>
          <p:cNvSpPr/>
          <p:nvPr/>
        </p:nvSpPr>
        <p:spPr>
          <a:xfrm>
            <a:off x="4297680" y="3246120"/>
            <a:ext cx="3566160" cy="2651760"/>
          </a:xfrm>
          <a:prstGeom prst="roundRect">
            <a:avLst>
              <a:gd name="adj" fmla="val 3448"/>
            </a:avLst>
          </a:prstGeom>
          <a:solidFill>
            <a:srgbClr val="FFFFFF"/>
          </a:solidFill>
          <a:ln w="12700">
            <a:solidFill>
              <a:srgbClr val="DCE6E6"/>
            </a:solidFill>
            <a:prstDash val="solid"/>
          </a:ln>
        </p:spPr>
      </p:sp>
      <p:sp>
        <p:nvSpPr>
          <p:cNvPr id="12" name="Shape 10"/>
          <p:cNvSpPr/>
          <p:nvPr/>
        </p:nvSpPr>
        <p:spPr>
          <a:xfrm>
            <a:off x="4617720" y="3566160"/>
            <a:ext cx="502920" cy="502920"/>
          </a:xfrm>
          <a:prstGeom prst="ellipse">
            <a:avLst/>
          </a:prstGeom>
          <a:solidFill>
            <a:srgbClr val="00A896"/>
          </a:solidFill>
          <a:ln/>
        </p:spPr>
      </p:sp>
      <p:sp>
        <p:nvSpPr>
          <p:cNvPr id="13" name="Text 11"/>
          <p:cNvSpPr/>
          <p:nvPr/>
        </p:nvSpPr>
        <p:spPr>
          <a:xfrm>
            <a:off x="4617720" y="356616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14" name="Text 12"/>
          <p:cNvSpPr/>
          <p:nvPr/>
        </p:nvSpPr>
        <p:spPr>
          <a:xfrm>
            <a:off x="4617720" y="4251960"/>
            <a:ext cx="2926080" cy="457200"/>
          </a:xfrm>
          <a:prstGeom prst="rect">
            <a:avLst/>
          </a:prstGeom>
          <a:noFill/>
          <a:ln/>
        </p:spPr>
        <p:txBody>
          <a:bodyPr wrap="square" lIns="0" tIns="0" rIns="0" bIns="0" rtlCol="0" anchor="ctr"/>
          <a:lstStyle/>
          <a:p>
            <a:pPr indent="0" marL="0">
              <a:buNone/>
            </a:pPr>
            <a:r>
              <a:rPr lang="en-US" sz="2000" b="1" dirty="0">
                <a:solidFill>
                  <a:srgbClr val="028090"/>
                </a:solidFill>
                <a:latin typeface="Cambria" pitchFamily="34" charset="0"/>
                <a:ea typeface="Cambria" pitchFamily="34" charset="-122"/>
                <a:cs typeface="Cambria" pitchFamily="34" charset="-120"/>
              </a:rPr>
              <a:t>Which price?</a:t>
            </a:r>
            <a:endParaRPr lang="en-US" sz="2000" dirty="0"/>
          </a:p>
        </p:txBody>
      </p:sp>
      <p:sp>
        <p:nvSpPr>
          <p:cNvPr id="15" name="Text 13"/>
          <p:cNvSpPr/>
          <p:nvPr/>
        </p:nvSpPr>
        <p:spPr>
          <a:xfrm>
            <a:off x="4617720" y="4754880"/>
            <a:ext cx="2971800" cy="1005840"/>
          </a:xfrm>
          <a:prstGeom prst="rect">
            <a:avLst/>
          </a:prstGeom>
          <a:noFill/>
          <a:ln/>
        </p:spPr>
        <p:txBody>
          <a:bodyPr wrap="square" lIns="0" tIns="0" rIns="0" bIns="0" rtlCol="0" anchor="ctr"/>
          <a:lstStyle/>
          <a:p>
            <a:pPr indent="0" marL="0">
              <a:buNone/>
            </a:pPr>
            <a:r>
              <a:rPr lang="en-US" sz="1350" dirty="0">
                <a:solidFill>
                  <a:srgbClr val="1B2A33"/>
                </a:solidFill>
                <a:latin typeface="Calibri" pitchFamily="34" charset="0"/>
                <a:ea typeface="Calibri" pitchFamily="34" charset="-122"/>
                <a:cs typeface="Calibri" pitchFamily="34" charset="-120"/>
              </a:rPr>
              <a:t>A realistic local price, grounded in comparables — never a single confident guess.</a:t>
            </a:r>
            <a:endParaRPr lang="en-US" sz="1350" dirty="0"/>
          </a:p>
        </p:txBody>
      </p:sp>
      <p:sp>
        <p:nvSpPr>
          <p:cNvPr id="16" name="Shape 14"/>
          <p:cNvSpPr/>
          <p:nvPr/>
        </p:nvSpPr>
        <p:spPr>
          <a:xfrm>
            <a:off x="8046720" y="3246120"/>
            <a:ext cx="3566160" cy="2651760"/>
          </a:xfrm>
          <a:prstGeom prst="roundRect">
            <a:avLst>
              <a:gd name="adj" fmla="val 3448"/>
            </a:avLst>
          </a:prstGeom>
          <a:solidFill>
            <a:srgbClr val="FFFFFF"/>
          </a:solidFill>
          <a:ln w="12700">
            <a:solidFill>
              <a:srgbClr val="DCE6E6"/>
            </a:solidFill>
            <a:prstDash val="solid"/>
          </a:ln>
        </p:spPr>
      </p:sp>
      <p:sp>
        <p:nvSpPr>
          <p:cNvPr id="17" name="Shape 15"/>
          <p:cNvSpPr/>
          <p:nvPr/>
        </p:nvSpPr>
        <p:spPr>
          <a:xfrm>
            <a:off x="8366760" y="3566160"/>
            <a:ext cx="502920" cy="502920"/>
          </a:xfrm>
          <a:prstGeom prst="ellipse">
            <a:avLst/>
          </a:prstGeom>
          <a:solidFill>
            <a:srgbClr val="00A896"/>
          </a:solidFill>
          <a:ln/>
        </p:spPr>
      </p:sp>
      <p:sp>
        <p:nvSpPr>
          <p:cNvPr id="18" name="Text 16"/>
          <p:cNvSpPr/>
          <p:nvPr/>
        </p:nvSpPr>
        <p:spPr>
          <a:xfrm>
            <a:off x="8366760" y="356616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19" name="Text 17"/>
          <p:cNvSpPr/>
          <p:nvPr/>
        </p:nvSpPr>
        <p:spPr>
          <a:xfrm>
            <a:off x="8366760" y="4251960"/>
            <a:ext cx="2926080" cy="457200"/>
          </a:xfrm>
          <a:prstGeom prst="rect">
            <a:avLst/>
          </a:prstGeom>
          <a:noFill/>
          <a:ln/>
        </p:spPr>
        <p:txBody>
          <a:bodyPr wrap="square" lIns="0" tIns="0" rIns="0" bIns="0" rtlCol="0" anchor="ctr"/>
          <a:lstStyle/>
          <a:p>
            <a:pPr indent="0" marL="0">
              <a:buNone/>
            </a:pPr>
            <a:r>
              <a:rPr lang="en-US" sz="2000" b="1" dirty="0">
                <a:solidFill>
                  <a:srgbClr val="028090"/>
                </a:solidFill>
                <a:latin typeface="Cambria" pitchFamily="34" charset="0"/>
                <a:ea typeface="Cambria" pitchFamily="34" charset="-122"/>
                <a:cs typeface="Cambria" pitchFamily="34" charset="-120"/>
              </a:rPr>
              <a:t>Which claims?</a:t>
            </a:r>
            <a:endParaRPr lang="en-US" sz="2000" dirty="0"/>
          </a:p>
        </p:txBody>
      </p:sp>
      <p:sp>
        <p:nvSpPr>
          <p:cNvPr id="20" name="Text 18"/>
          <p:cNvSpPr/>
          <p:nvPr/>
        </p:nvSpPr>
        <p:spPr>
          <a:xfrm>
            <a:off x="8366760" y="4754880"/>
            <a:ext cx="2971800" cy="1005840"/>
          </a:xfrm>
          <a:prstGeom prst="rect">
            <a:avLst/>
          </a:prstGeom>
          <a:noFill/>
          <a:ln/>
        </p:spPr>
        <p:txBody>
          <a:bodyPr wrap="square" lIns="0" tIns="0" rIns="0" bIns="0" rtlCol="0" anchor="ctr"/>
          <a:lstStyle/>
          <a:p>
            <a:pPr indent="0" marL="0">
              <a:buNone/>
            </a:pPr>
            <a:r>
              <a:rPr lang="en-US" sz="1350" dirty="0">
                <a:solidFill>
                  <a:srgbClr val="1B2A33"/>
                </a:solidFill>
                <a:latin typeface="Calibri" pitchFamily="34" charset="0"/>
                <a:ea typeface="Calibri" pitchFamily="34" charset="-122"/>
                <a:cs typeface="Calibri" pitchFamily="34" charset="-120"/>
              </a:rPr>
              <a:t>Copy that never invents specs or ingredients — misrepresentation is a real harm when selling.</a:t>
            </a:r>
            <a:endParaRPr lang="en-US" sz="1350" dirty="0"/>
          </a:p>
        </p:txBody>
      </p:sp>
      <p:sp>
        <p:nvSpPr>
          <p:cNvPr id="21" name="Text 19"/>
          <p:cNvSpPr/>
          <p:nvPr/>
        </p:nvSpPr>
        <p:spPr>
          <a:xfrm>
            <a:off x="11274552" y="6400800"/>
            <a:ext cx="457200" cy="274320"/>
          </a:xfrm>
          <a:prstGeom prst="rect">
            <a:avLst/>
          </a:prstGeom>
          <a:noFill/>
          <a:ln/>
        </p:spPr>
        <p:txBody>
          <a:bodyPr wrap="square" rtlCol="0" anchor="ctr"/>
          <a:lstStyle/>
          <a:p>
            <a:pPr algn="r" indent="0" marL="0">
              <a:buNone/>
            </a:pPr>
            <a:r>
              <a:rPr lang="en-US" sz="1000" dirty="0">
                <a:solidFill>
                  <a:srgbClr val="5B6B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7"/>
        </a:solidFill>
      </p:bgPr>
    </p:bg>
    <p:spTree>
      <p:nvGrpSpPr>
        <p:cNvPr id="1" name=""/>
        <p:cNvGrpSpPr/>
        <p:nvPr/>
      </p:nvGrpSpPr>
      <p:grpSpPr>
        <a:xfrm>
          <a:off x="0" y="0"/>
          <a:ext cx="0" cy="0"/>
          <a:chOff x="0" y="0"/>
          <a:chExt cx="0" cy="0"/>
        </a:xfrm>
      </p:grpSpPr>
      <p:sp>
        <p:nvSpPr>
          <p:cNvPr id="2" name="Text 0"/>
          <p:cNvSpPr/>
          <p:nvPr/>
        </p:nvSpPr>
        <p:spPr>
          <a:xfrm>
            <a:off x="548640" y="502920"/>
            <a:ext cx="8229600" cy="320040"/>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OBJECTIVES</a:t>
            </a:r>
            <a:endParaRPr lang="en-US" sz="1200" dirty="0"/>
          </a:p>
        </p:txBody>
      </p:sp>
      <p:sp>
        <p:nvSpPr>
          <p:cNvPr id="3" name="Text 1"/>
          <p:cNvSpPr/>
          <p:nvPr/>
        </p:nvSpPr>
        <p:spPr>
          <a:xfrm>
            <a:off x="548640" y="777240"/>
            <a:ext cx="11091672" cy="822960"/>
          </a:xfrm>
          <a:prstGeom prst="rect">
            <a:avLst/>
          </a:prstGeom>
          <a:noFill/>
          <a:ln/>
        </p:spPr>
        <p:txBody>
          <a:bodyPr wrap="square" lIns="0" tIns="0" rIns="0" bIns="0" rtlCol="0" anchor="ctr"/>
          <a:lstStyle/>
          <a:p>
            <a:pPr indent="0" marL="0">
              <a:buNone/>
            </a:pPr>
            <a:r>
              <a:rPr lang="en-US" sz="3200" b="1" dirty="0">
                <a:solidFill>
                  <a:srgbClr val="1B2A33"/>
                </a:solidFill>
                <a:latin typeface="Cambria" pitchFamily="34" charset="0"/>
                <a:ea typeface="Cambria" pitchFamily="34" charset="-122"/>
                <a:cs typeface="Cambria" pitchFamily="34" charset="-120"/>
              </a:rPr>
              <a:t>An investigation with an evaluation — not a product build</a:t>
            </a:r>
            <a:endParaRPr lang="en-US" sz="3200" dirty="0"/>
          </a:p>
        </p:txBody>
      </p:sp>
      <p:sp>
        <p:nvSpPr>
          <p:cNvPr id="4" name="Text 2"/>
          <p:cNvSpPr/>
          <p:nvPr/>
        </p:nvSpPr>
        <p:spPr>
          <a:xfrm>
            <a:off x="548640" y="1691640"/>
            <a:ext cx="5486400" cy="365760"/>
          </a:xfrm>
          <a:prstGeom prst="rect">
            <a:avLst/>
          </a:prstGeom>
          <a:noFill/>
          <a:ln/>
        </p:spPr>
        <p:txBody>
          <a:bodyPr wrap="square" lIns="0" tIns="0" rIns="0" bIns="0" rtlCol="0" anchor="ctr"/>
          <a:lstStyle/>
          <a:p>
            <a:pPr indent="0" marL="0">
              <a:buNone/>
            </a:pPr>
            <a:r>
              <a:rPr lang="en-US" sz="1300" b="1" spc="100" kern="0" dirty="0">
                <a:solidFill>
                  <a:srgbClr val="028090"/>
                </a:solidFill>
                <a:latin typeface="Calibri" pitchFamily="34" charset="0"/>
                <a:ea typeface="Calibri" pitchFamily="34" charset="-122"/>
                <a:cs typeface="Calibri" pitchFamily="34" charset="-120"/>
              </a:rPr>
              <a:t>RESEARCH QUESTION</a:t>
            </a:r>
            <a:endParaRPr lang="en-US" sz="1300" dirty="0"/>
          </a:p>
        </p:txBody>
      </p:sp>
      <p:sp>
        <p:nvSpPr>
          <p:cNvPr id="5" name="Text 3"/>
          <p:cNvSpPr/>
          <p:nvPr/>
        </p:nvSpPr>
        <p:spPr>
          <a:xfrm>
            <a:off x="548640" y="2057400"/>
            <a:ext cx="5577840" cy="2011680"/>
          </a:xfrm>
          <a:prstGeom prst="rect">
            <a:avLst/>
          </a:prstGeom>
          <a:noFill/>
          <a:ln/>
        </p:spPr>
        <p:txBody>
          <a:bodyPr wrap="square" lIns="0" tIns="0" rIns="0" bIns="0" rtlCol="0" anchor="ctr"/>
          <a:lstStyle/>
          <a:p>
            <a:pPr indent="0" marL="0">
              <a:buNone/>
            </a:pPr>
            <a:r>
              <a:rPr lang="en-US" sz="1800" i="1" dirty="0">
                <a:solidFill>
                  <a:srgbClr val="1B2A33"/>
                </a:solidFill>
                <a:latin typeface="Cambria" pitchFamily="34" charset="0"/>
                <a:ea typeface="Cambria" pitchFamily="34" charset="-122"/>
                <a:cs typeface="Cambria" pitchFamily="34" charset="-120"/>
              </a:rPr>
              <a:t>How accurately can a vision-language + retrieval pipeline identify packaged corner-store products from a single shelf photo and generate a publishable, correctly priced listing — and where, systematically, does it fail?</a:t>
            </a:r>
            <a:endParaRPr lang="en-US" sz="1800" dirty="0"/>
          </a:p>
        </p:txBody>
      </p:sp>
      <p:sp>
        <p:nvSpPr>
          <p:cNvPr id="6" name="Text 4"/>
          <p:cNvSpPr/>
          <p:nvPr/>
        </p:nvSpPr>
        <p:spPr>
          <a:xfrm>
            <a:off x="548640" y="4343400"/>
            <a:ext cx="5577840" cy="1097280"/>
          </a:xfrm>
          <a:prstGeom prst="rect">
            <a:avLst/>
          </a:prstGeom>
          <a:noFill/>
          <a:ln/>
        </p:spPr>
        <p:txBody>
          <a:bodyPr wrap="square" lIns="0" tIns="0" rIns="0" bIns="0" rtlCol="0" anchor="ctr"/>
          <a:lstStyle/>
          <a:p>
            <a:pPr indent="0" marL="0">
              <a:buNone/>
            </a:pPr>
            <a:r>
              <a:rPr lang="en-US" sz="1400" dirty="0">
                <a:solidFill>
                  <a:srgbClr val="5B6B73"/>
                </a:solidFill>
                <a:latin typeface="Calibri" pitchFamily="34" charset="0"/>
                <a:ea typeface="Calibri" pitchFamily="34" charset="-122"/>
                <a:cs typeface="Calibri" pitchFamily="34" charset="-120"/>
              </a:rPr>
              <a:t>Every component leans on an existing model or API. The contribution is the integration, the grounding / pricing logic, and rigorous failure analysis.</a:t>
            </a:r>
            <a:endParaRPr lang="en-US" sz="1400" dirty="0"/>
          </a:p>
        </p:txBody>
      </p:sp>
      <p:sp>
        <p:nvSpPr>
          <p:cNvPr id="7" name="Shape 5"/>
          <p:cNvSpPr/>
          <p:nvPr/>
        </p:nvSpPr>
        <p:spPr>
          <a:xfrm>
            <a:off x="6400800" y="1691640"/>
            <a:ext cx="5257800" cy="1097280"/>
          </a:xfrm>
          <a:prstGeom prst="roundRect">
            <a:avLst>
              <a:gd name="adj" fmla="val 7500"/>
            </a:avLst>
          </a:prstGeom>
          <a:solidFill>
            <a:srgbClr val="FFFFFF"/>
          </a:solidFill>
          <a:ln w="12700">
            <a:solidFill>
              <a:srgbClr val="DCE6E6"/>
            </a:solidFill>
            <a:prstDash val="solid"/>
          </a:ln>
        </p:spPr>
      </p:sp>
      <p:sp>
        <p:nvSpPr>
          <p:cNvPr id="8" name="Shape 6"/>
          <p:cNvSpPr/>
          <p:nvPr/>
        </p:nvSpPr>
        <p:spPr>
          <a:xfrm>
            <a:off x="6583680" y="1984248"/>
            <a:ext cx="502920" cy="502920"/>
          </a:xfrm>
          <a:prstGeom prst="ellipse">
            <a:avLst/>
          </a:prstGeom>
          <a:solidFill>
            <a:srgbClr val="028090"/>
          </a:solidFill>
          <a:ln/>
        </p:spPr>
      </p:sp>
      <p:sp>
        <p:nvSpPr>
          <p:cNvPr id="9" name="Text 7"/>
          <p:cNvSpPr/>
          <p:nvPr/>
        </p:nvSpPr>
        <p:spPr>
          <a:xfrm>
            <a:off x="6583680" y="1984248"/>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10" name="Text 8"/>
          <p:cNvSpPr/>
          <p:nvPr/>
        </p:nvSpPr>
        <p:spPr>
          <a:xfrm>
            <a:off x="7269480" y="1801368"/>
            <a:ext cx="4206240" cy="365760"/>
          </a:xfrm>
          <a:prstGeom prst="rect">
            <a:avLst/>
          </a:prstGeom>
          <a:noFill/>
          <a:ln/>
        </p:spPr>
        <p:txBody>
          <a:bodyPr wrap="square" lIns="0" tIns="0" rIns="0" bIns="0" rtlCol="0" anchor="ctr"/>
          <a:lstStyle/>
          <a:p>
            <a:pPr indent="0" marL="0">
              <a:buNone/>
            </a:pPr>
            <a:r>
              <a:rPr lang="en-US" sz="1600" b="1" dirty="0">
                <a:solidFill>
                  <a:srgbClr val="1B2A33"/>
                </a:solidFill>
                <a:latin typeface="Cambria" pitchFamily="34" charset="0"/>
                <a:ea typeface="Cambria" pitchFamily="34" charset="-122"/>
                <a:cs typeface="Cambria" pitchFamily="34" charset="-120"/>
              </a:rPr>
              <a:t>Build</a:t>
            </a:r>
            <a:endParaRPr lang="en-US" sz="1600" dirty="0"/>
          </a:p>
        </p:txBody>
      </p:sp>
      <p:sp>
        <p:nvSpPr>
          <p:cNvPr id="11" name="Text 9"/>
          <p:cNvSpPr/>
          <p:nvPr/>
        </p:nvSpPr>
        <p:spPr>
          <a:xfrm>
            <a:off x="7269480" y="2148840"/>
            <a:ext cx="4297680" cy="594360"/>
          </a:xfrm>
          <a:prstGeom prst="rect">
            <a:avLst/>
          </a:prstGeom>
          <a:noFill/>
          <a:ln/>
        </p:spPr>
        <p:txBody>
          <a:bodyPr wrap="square" lIns="0" tIns="0" rIns="0" bIns="0" rtlCol="0" anchor="ctr"/>
          <a:lstStyle/>
          <a:p>
            <a:pPr indent="0" marL="0">
              <a:buNone/>
            </a:pPr>
            <a:r>
              <a:rPr lang="en-US" sz="1150" dirty="0">
                <a:solidFill>
                  <a:srgbClr val="5B6B73"/>
                </a:solidFill>
                <a:latin typeface="Calibri" pitchFamily="34" charset="0"/>
                <a:ea typeface="Calibri" pitchFamily="34" charset="-122"/>
                <a:cs typeface="Calibri" pitchFamily="34" charset="-120"/>
              </a:rPr>
              <a:t>End-to-end pipeline: photo in → structured listing out (identity, attributes, copy, price, clean image, compliance flag).</a:t>
            </a:r>
            <a:endParaRPr lang="en-US" sz="1150" dirty="0"/>
          </a:p>
        </p:txBody>
      </p:sp>
      <p:sp>
        <p:nvSpPr>
          <p:cNvPr id="12" name="Shape 10"/>
          <p:cNvSpPr/>
          <p:nvPr/>
        </p:nvSpPr>
        <p:spPr>
          <a:xfrm>
            <a:off x="6400800" y="2898648"/>
            <a:ext cx="5257800" cy="1097280"/>
          </a:xfrm>
          <a:prstGeom prst="roundRect">
            <a:avLst>
              <a:gd name="adj" fmla="val 7500"/>
            </a:avLst>
          </a:prstGeom>
          <a:solidFill>
            <a:srgbClr val="FFFFFF"/>
          </a:solidFill>
          <a:ln w="12700">
            <a:solidFill>
              <a:srgbClr val="DCE6E6"/>
            </a:solidFill>
            <a:prstDash val="solid"/>
          </a:ln>
        </p:spPr>
      </p:sp>
      <p:sp>
        <p:nvSpPr>
          <p:cNvPr id="13" name="Shape 11"/>
          <p:cNvSpPr/>
          <p:nvPr/>
        </p:nvSpPr>
        <p:spPr>
          <a:xfrm>
            <a:off x="6583680" y="3191256"/>
            <a:ext cx="502920" cy="502920"/>
          </a:xfrm>
          <a:prstGeom prst="ellipse">
            <a:avLst/>
          </a:prstGeom>
          <a:solidFill>
            <a:srgbClr val="00A896"/>
          </a:solidFill>
          <a:ln/>
        </p:spPr>
      </p:sp>
      <p:sp>
        <p:nvSpPr>
          <p:cNvPr id="14" name="Text 12"/>
          <p:cNvSpPr/>
          <p:nvPr/>
        </p:nvSpPr>
        <p:spPr>
          <a:xfrm>
            <a:off x="6583680" y="3191256"/>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5" name="Text 13"/>
          <p:cNvSpPr/>
          <p:nvPr/>
        </p:nvSpPr>
        <p:spPr>
          <a:xfrm>
            <a:off x="7269480" y="3008376"/>
            <a:ext cx="4206240" cy="365760"/>
          </a:xfrm>
          <a:prstGeom prst="rect">
            <a:avLst/>
          </a:prstGeom>
          <a:noFill/>
          <a:ln/>
        </p:spPr>
        <p:txBody>
          <a:bodyPr wrap="square" lIns="0" tIns="0" rIns="0" bIns="0" rtlCol="0" anchor="ctr"/>
          <a:lstStyle/>
          <a:p>
            <a:pPr indent="0" marL="0">
              <a:buNone/>
            </a:pPr>
            <a:r>
              <a:rPr lang="en-US" sz="1600" b="1" dirty="0">
                <a:solidFill>
                  <a:srgbClr val="1B2A33"/>
                </a:solidFill>
                <a:latin typeface="Cambria" pitchFamily="34" charset="0"/>
                <a:ea typeface="Cambria" pitchFamily="34" charset="-122"/>
                <a:cs typeface="Cambria" pitchFamily="34" charset="-120"/>
              </a:rPr>
              <a:t>Quantify</a:t>
            </a:r>
            <a:endParaRPr lang="en-US" sz="1600" dirty="0"/>
          </a:p>
        </p:txBody>
      </p:sp>
      <p:sp>
        <p:nvSpPr>
          <p:cNvPr id="16" name="Text 14"/>
          <p:cNvSpPr/>
          <p:nvPr/>
        </p:nvSpPr>
        <p:spPr>
          <a:xfrm>
            <a:off x="7269480" y="3355848"/>
            <a:ext cx="4297680" cy="594360"/>
          </a:xfrm>
          <a:prstGeom prst="rect">
            <a:avLst/>
          </a:prstGeom>
          <a:noFill/>
          <a:ln/>
        </p:spPr>
        <p:txBody>
          <a:bodyPr wrap="square" lIns="0" tIns="0" rIns="0" bIns="0" rtlCol="0" anchor="ctr"/>
          <a:lstStyle/>
          <a:p>
            <a:pPr indent="0" marL="0">
              <a:buNone/>
            </a:pPr>
            <a:r>
              <a:rPr lang="en-US" sz="1150" dirty="0">
                <a:solidFill>
                  <a:srgbClr val="5B6B73"/>
                </a:solidFill>
                <a:latin typeface="Calibri" pitchFamily="34" charset="0"/>
                <a:ea typeface="Calibri" pitchFamily="34" charset="-122"/>
                <a:cs typeface="Calibri" pitchFamily="34" charset="-120"/>
              </a:rPr>
              <a:t>Performance on three axes — identification accuracy, price error, listing quality — vs a hand-labelled test set.</a:t>
            </a:r>
            <a:endParaRPr lang="en-US" sz="1150" dirty="0"/>
          </a:p>
        </p:txBody>
      </p:sp>
      <p:sp>
        <p:nvSpPr>
          <p:cNvPr id="17" name="Shape 15"/>
          <p:cNvSpPr/>
          <p:nvPr/>
        </p:nvSpPr>
        <p:spPr>
          <a:xfrm>
            <a:off x="6400800" y="4105656"/>
            <a:ext cx="5257800" cy="1097280"/>
          </a:xfrm>
          <a:prstGeom prst="roundRect">
            <a:avLst>
              <a:gd name="adj" fmla="val 7500"/>
            </a:avLst>
          </a:prstGeom>
          <a:solidFill>
            <a:srgbClr val="FFFFFF"/>
          </a:solidFill>
          <a:ln w="12700">
            <a:solidFill>
              <a:srgbClr val="DCE6E6"/>
            </a:solidFill>
            <a:prstDash val="solid"/>
          </a:ln>
        </p:spPr>
      </p:sp>
      <p:sp>
        <p:nvSpPr>
          <p:cNvPr id="18" name="Shape 16"/>
          <p:cNvSpPr/>
          <p:nvPr/>
        </p:nvSpPr>
        <p:spPr>
          <a:xfrm>
            <a:off x="6583680" y="4398264"/>
            <a:ext cx="502920" cy="502920"/>
          </a:xfrm>
          <a:prstGeom prst="ellipse">
            <a:avLst/>
          </a:prstGeom>
          <a:solidFill>
            <a:srgbClr val="02C39A"/>
          </a:solidFill>
          <a:ln/>
        </p:spPr>
      </p:sp>
      <p:sp>
        <p:nvSpPr>
          <p:cNvPr id="19" name="Text 17"/>
          <p:cNvSpPr/>
          <p:nvPr/>
        </p:nvSpPr>
        <p:spPr>
          <a:xfrm>
            <a:off x="6583680" y="439826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20" name="Text 18"/>
          <p:cNvSpPr/>
          <p:nvPr/>
        </p:nvSpPr>
        <p:spPr>
          <a:xfrm>
            <a:off x="7269480" y="4215384"/>
            <a:ext cx="4206240" cy="365760"/>
          </a:xfrm>
          <a:prstGeom prst="rect">
            <a:avLst/>
          </a:prstGeom>
          <a:noFill/>
          <a:ln/>
        </p:spPr>
        <p:txBody>
          <a:bodyPr wrap="square" lIns="0" tIns="0" rIns="0" bIns="0" rtlCol="0" anchor="ctr"/>
          <a:lstStyle/>
          <a:p>
            <a:pPr indent="0" marL="0">
              <a:buNone/>
            </a:pPr>
            <a:r>
              <a:rPr lang="en-US" sz="1600" b="1" dirty="0">
                <a:solidFill>
                  <a:srgbClr val="1B2A33"/>
                </a:solidFill>
                <a:latin typeface="Cambria" pitchFamily="34" charset="0"/>
                <a:ea typeface="Cambria" pitchFamily="34" charset="-122"/>
                <a:cs typeface="Cambria" pitchFamily="34" charset="-120"/>
              </a:rPr>
              <a:t>Characterise</a:t>
            </a:r>
            <a:endParaRPr lang="en-US" sz="1600" dirty="0"/>
          </a:p>
        </p:txBody>
      </p:sp>
      <p:sp>
        <p:nvSpPr>
          <p:cNvPr id="21" name="Text 19"/>
          <p:cNvSpPr/>
          <p:nvPr/>
        </p:nvSpPr>
        <p:spPr>
          <a:xfrm>
            <a:off x="7269480" y="4562856"/>
            <a:ext cx="4297680" cy="594360"/>
          </a:xfrm>
          <a:prstGeom prst="rect">
            <a:avLst/>
          </a:prstGeom>
          <a:noFill/>
          <a:ln/>
        </p:spPr>
        <p:txBody>
          <a:bodyPr wrap="square" lIns="0" tIns="0" rIns="0" bIns="0" rtlCol="0" anchor="ctr"/>
          <a:lstStyle/>
          <a:p>
            <a:pPr indent="0" marL="0">
              <a:buNone/>
            </a:pPr>
            <a:r>
              <a:rPr lang="en-US" sz="1150" dirty="0">
                <a:solidFill>
                  <a:srgbClr val="5B6B73"/>
                </a:solidFill>
                <a:latin typeface="Calibri" pitchFamily="34" charset="0"/>
                <a:ea typeface="Calibri" pitchFamily="34" charset="-122"/>
                <a:cs typeface="Calibri" pitchFamily="34" charset="-120"/>
              </a:rPr>
              <a:t>Failure modes: look-alikes, multipack ambiguity, glare, occlusion, own-brand — not one headline number.</a:t>
            </a:r>
            <a:endParaRPr lang="en-US" sz="1150" dirty="0"/>
          </a:p>
        </p:txBody>
      </p:sp>
      <p:sp>
        <p:nvSpPr>
          <p:cNvPr id="22" name="Shape 20"/>
          <p:cNvSpPr/>
          <p:nvPr/>
        </p:nvSpPr>
        <p:spPr>
          <a:xfrm>
            <a:off x="6400800" y="5312664"/>
            <a:ext cx="5257800" cy="1097280"/>
          </a:xfrm>
          <a:prstGeom prst="roundRect">
            <a:avLst>
              <a:gd name="adj" fmla="val 7500"/>
            </a:avLst>
          </a:prstGeom>
          <a:solidFill>
            <a:srgbClr val="FFFFFF"/>
          </a:solidFill>
          <a:ln w="12700">
            <a:solidFill>
              <a:srgbClr val="DCE6E6"/>
            </a:solidFill>
            <a:prstDash val="solid"/>
          </a:ln>
        </p:spPr>
      </p:sp>
      <p:sp>
        <p:nvSpPr>
          <p:cNvPr id="23" name="Shape 21"/>
          <p:cNvSpPr/>
          <p:nvPr/>
        </p:nvSpPr>
        <p:spPr>
          <a:xfrm>
            <a:off x="6583680" y="5605272"/>
            <a:ext cx="502920" cy="502920"/>
          </a:xfrm>
          <a:prstGeom prst="ellipse">
            <a:avLst/>
          </a:prstGeom>
          <a:solidFill>
            <a:srgbClr val="F96167"/>
          </a:solidFill>
          <a:ln/>
        </p:spPr>
      </p:sp>
      <p:sp>
        <p:nvSpPr>
          <p:cNvPr id="24" name="Text 22"/>
          <p:cNvSpPr/>
          <p:nvPr/>
        </p:nvSpPr>
        <p:spPr>
          <a:xfrm>
            <a:off x="6583680" y="5605272"/>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25" name="Text 23"/>
          <p:cNvSpPr/>
          <p:nvPr/>
        </p:nvSpPr>
        <p:spPr>
          <a:xfrm>
            <a:off x="7269480" y="5422392"/>
            <a:ext cx="4206240" cy="365760"/>
          </a:xfrm>
          <a:prstGeom prst="rect">
            <a:avLst/>
          </a:prstGeom>
          <a:noFill/>
          <a:ln/>
        </p:spPr>
        <p:txBody>
          <a:bodyPr wrap="square" lIns="0" tIns="0" rIns="0" bIns="0" rtlCol="0" anchor="ctr"/>
          <a:lstStyle/>
          <a:p>
            <a:pPr indent="0" marL="0">
              <a:buNone/>
            </a:pPr>
            <a:r>
              <a:rPr lang="en-US" sz="1600" b="1" dirty="0">
                <a:solidFill>
                  <a:srgbClr val="1B2A33"/>
                </a:solidFill>
                <a:latin typeface="Cambria" pitchFamily="34" charset="0"/>
                <a:ea typeface="Cambria" pitchFamily="34" charset="-122"/>
                <a:cs typeface="Cambria" pitchFamily="34" charset="-120"/>
              </a:rPr>
              <a:t>Safeguard</a:t>
            </a:r>
            <a:endParaRPr lang="en-US" sz="1600" dirty="0"/>
          </a:p>
        </p:txBody>
      </p:sp>
      <p:sp>
        <p:nvSpPr>
          <p:cNvPr id="26" name="Text 24"/>
          <p:cNvSpPr/>
          <p:nvPr/>
        </p:nvSpPr>
        <p:spPr>
          <a:xfrm>
            <a:off x="7269480" y="5769864"/>
            <a:ext cx="4297680" cy="594360"/>
          </a:xfrm>
          <a:prstGeom prst="rect">
            <a:avLst/>
          </a:prstGeom>
          <a:noFill/>
          <a:ln/>
        </p:spPr>
        <p:txBody>
          <a:bodyPr wrap="square" lIns="0" tIns="0" rIns="0" bIns="0" rtlCol="0" anchor="ctr"/>
          <a:lstStyle/>
          <a:p>
            <a:pPr indent="0" marL="0">
              <a:buNone/>
            </a:pPr>
            <a:r>
              <a:rPr lang="en-US" sz="1150" dirty="0">
                <a:solidFill>
                  <a:srgbClr val="5B6B73"/>
                </a:solidFill>
                <a:latin typeface="Calibri" pitchFamily="34" charset="0"/>
                <a:ea typeface="Calibri" pitchFamily="34" charset="-122"/>
                <a:cs typeface="Calibri" pitchFamily="34" charset="-120"/>
              </a:rPr>
              <a:t>A responsible-AI layer: detect age-restricted items, flag hallucinated / unverifiable claims before publish.</a:t>
            </a:r>
            <a:endParaRPr lang="en-US" sz="1150" dirty="0"/>
          </a:p>
        </p:txBody>
      </p:sp>
      <p:sp>
        <p:nvSpPr>
          <p:cNvPr id="27" name="Text 25"/>
          <p:cNvSpPr/>
          <p:nvPr/>
        </p:nvSpPr>
        <p:spPr>
          <a:xfrm>
            <a:off x="11274552" y="6400800"/>
            <a:ext cx="457200" cy="274320"/>
          </a:xfrm>
          <a:prstGeom prst="rect">
            <a:avLst/>
          </a:prstGeom>
          <a:noFill/>
          <a:ln/>
        </p:spPr>
        <p:txBody>
          <a:bodyPr wrap="square" rtlCol="0" anchor="ctr"/>
          <a:lstStyle/>
          <a:p>
            <a:pPr algn="r" indent="0" marL="0">
              <a:buNone/>
            </a:pPr>
            <a:r>
              <a:rPr lang="en-US" sz="1000" dirty="0">
                <a:solidFill>
                  <a:srgbClr val="5B6B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7"/>
        </a:solidFill>
      </p:bgPr>
    </p:bg>
    <p:spTree>
      <p:nvGrpSpPr>
        <p:cNvPr id="1" name=""/>
        <p:cNvGrpSpPr/>
        <p:nvPr/>
      </p:nvGrpSpPr>
      <p:grpSpPr>
        <a:xfrm>
          <a:off x="0" y="0"/>
          <a:ext cx="0" cy="0"/>
          <a:chOff x="0" y="0"/>
          <a:chExt cx="0" cy="0"/>
        </a:xfrm>
      </p:grpSpPr>
      <p:sp>
        <p:nvSpPr>
          <p:cNvPr id="2" name="Text 0"/>
          <p:cNvSpPr/>
          <p:nvPr/>
        </p:nvSpPr>
        <p:spPr>
          <a:xfrm>
            <a:off x="548640" y="502920"/>
            <a:ext cx="8229600" cy="320040"/>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RELATED WORK</a:t>
            </a:r>
            <a:endParaRPr lang="en-US" sz="1200" dirty="0"/>
          </a:p>
        </p:txBody>
      </p:sp>
      <p:sp>
        <p:nvSpPr>
          <p:cNvPr id="3" name="Text 1"/>
          <p:cNvSpPr/>
          <p:nvPr/>
        </p:nvSpPr>
        <p:spPr>
          <a:xfrm>
            <a:off x="548640" y="777240"/>
            <a:ext cx="11091672" cy="822960"/>
          </a:xfrm>
          <a:prstGeom prst="rect">
            <a:avLst/>
          </a:prstGeom>
          <a:noFill/>
          <a:ln/>
        </p:spPr>
        <p:txBody>
          <a:bodyPr wrap="square" lIns="0" tIns="0" rIns="0" bIns="0" rtlCol="0" anchor="ctr"/>
          <a:lstStyle/>
          <a:p>
            <a:pPr indent="0" marL="0">
              <a:buNone/>
            </a:pPr>
            <a:r>
              <a:rPr lang="en-US" sz="3200" b="1" dirty="0">
                <a:solidFill>
                  <a:srgbClr val="1B2A33"/>
                </a:solidFill>
                <a:latin typeface="Cambria" pitchFamily="34" charset="0"/>
                <a:ea typeface="Cambria" pitchFamily="34" charset="-122"/>
                <a:cs typeface="Cambria" pitchFamily="34" charset="-120"/>
              </a:rPr>
              <a:t>Each stage is solved — the integrated pipeline is not</a:t>
            </a:r>
            <a:endParaRPr lang="en-US" sz="3200" dirty="0"/>
          </a:p>
        </p:txBody>
      </p:sp>
      <p:sp>
        <p:nvSpPr>
          <p:cNvPr id="4" name="Shape 2"/>
          <p:cNvSpPr/>
          <p:nvPr/>
        </p:nvSpPr>
        <p:spPr>
          <a:xfrm>
            <a:off x="548640" y="1783080"/>
            <a:ext cx="11064240" cy="457200"/>
          </a:xfrm>
          <a:prstGeom prst="rect">
            <a:avLst/>
          </a:prstGeom>
          <a:solidFill>
            <a:srgbClr val="028090"/>
          </a:solidFill>
          <a:ln/>
        </p:spPr>
      </p:sp>
      <p:sp>
        <p:nvSpPr>
          <p:cNvPr id="5" name="Text 3"/>
          <p:cNvSpPr/>
          <p:nvPr/>
        </p:nvSpPr>
        <p:spPr>
          <a:xfrm>
            <a:off x="548640" y="1783080"/>
            <a:ext cx="2651760" cy="457200"/>
          </a:xfrm>
          <a:prstGeom prst="rect">
            <a:avLst/>
          </a:prstGeom>
          <a:noFill/>
          <a:ln/>
        </p:spPr>
        <p:txBody>
          <a:bodyPr wrap="square" lIns="762" tIns="762" rIns="762" bIns="762"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Sub-problem</a:t>
            </a:r>
            <a:endParaRPr lang="en-US" sz="1300" dirty="0"/>
          </a:p>
        </p:txBody>
      </p:sp>
      <p:sp>
        <p:nvSpPr>
          <p:cNvPr id="6" name="Text 4"/>
          <p:cNvSpPr/>
          <p:nvPr/>
        </p:nvSpPr>
        <p:spPr>
          <a:xfrm>
            <a:off x="3200400" y="1783080"/>
            <a:ext cx="4937760" cy="457200"/>
          </a:xfrm>
          <a:prstGeom prst="rect">
            <a:avLst/>
          </a:prstGeom>
          <a:noFill/>
          <a:ln/>
        </p:spPr>
        <p:txBody>
          <a:bodyPr wrap="square" lIns="762" tIns="762" rIns="762" bIns="762"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Key prior work (2018–2025)</a:t>
            </a:r>
            <a:endParaRPr lang="en-US" sz="1300" dirty="0"/>
          </a:p>
        </p:txBody>
      </p:sp>
      <p:sp>
        <p:nvSpPr>
          <p:cNvPr id="7" name="Text 5"/>
          <p:cNvSpPr/>
          <p:nvPr/>
        </p:nvSpPr>
        <p:spPr>
          <a:xfrm>
            <a:off x="8138160" y="1783080"/>
            <a:ext cx="3474720" cy="457200"/>
          </a:xfrm>
          <a:prstGeom prst="rect">
            <a:avLst/>
          </a:prstGeom>
          <a:noFill/>
          <a:ln/>
        </p:spPr>
        <p:txBody>
          <a:bodyPr wrap="square" lIns="762" tIns="762" rIns="762" bIns="762"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What it gives us</a:t>
            </a:r>
            <a:endParaRPr lang="en-US" sz="1300" dirty="0"/>
          </a:p>
        </p:txBody>
      </p:sp>
      <p:sp>
        <p:nvSpPr>
          <p:cNvPr id="8" name="Shape 6"/>
          <p:cNvSpPr/>
          <p:nvPr/>
        </p:nvSpPr>
        <p:spPr>
          <a:xfrm>
            <a:off x="548640" y="2240280"/>
            <a:ext cx="11064240" cy="749808"/>
          </a:xfrm>
          <a:prstGeom prst="rect">
            <a:avLst/>
          </a:prstGeom>
          <a:solidFill>
            <a:srgbClr val="E9F1F1"/>
          </a:solidFill>
          <a:ln/>
        </p:spPr>
      </p:sp>
      <p:sp>
        <p:nvSpPr>
          <p:cNvPr id="9" name="Text 7"/>
          <p:cNvSpPr/>
          <p:nvPr/>
        </p:nvSpPr>
        <p:spPr>
          <a:xfrm>
            <a:off x="548640" y="2240280"/>
            <a:ext cx="2651760" cy="749808"/>
          </a:xfrm>
          <a:prstGeom prst="rect">
            <a:avLst/>
          </a:prstGeom>
          <a:noFill/>
          <a:ln/>
        </p:spPr>
        <p:txBody>
          <a:bodyPr wrap="square" lIns="1016" tIns="1016" rIns="1016" bIns="1016" rtlCol="0" anchor="ctr"/>
          <a:lstStyle/>
          <a:p>
            <a:pPr indent="0" marL="0">
              <a:buNone/>
            </a:pPr>
            <a:r>
              <a:rPr lang="en-US" sz="1300" b="1" dirty="0">
                <a:solidFill>
                  <a:srgbClr val="028090"/>
                </a:solidFill>
                <a:latin typeface="Calibri" pitchFamily="34" charset="0"/>
                <a:ea typeface="Calibri" pitchFamily="34" charset="-122"/>
                <a:cs typeface="Calibri" pitchFamily="34" charset="-120"/>
              </a:rPr>
              <a:t>Listing generation</a:t>
            </a:r>
            <a:endParaRPr lang="en-US" sz="1300" dirty="0"/>
          </a:p>
        </p:txBody>
      </p:sp>
      <p:sp>
        <p:nvSpPr>
          <p:cNvPr id="10" name="Text 8"/>
          <p:cNvSpPr/>
          <p:nvPr/>
        </p:nvSpPr>
        <p:spPr>
          <a:xfrm>
            <a:off x="3200400" y="2240280"/>
            <a:ext cx="4937760" cy="749808"/>
          </a:xfrm>
          <a:prstGeom prst="rect">
            <a:avLst/>
          </a:prstGeom>
          <a:noFill/>
          <a:ln/>
        </p:spPr>
        <p:txBody>
          <a:bodyPr wrap="square" lIns="1016" tIns="1016" rIns="1016" bIns="1016" rtlCol="0" anchor="ctr"/>
          <a:lstStyle/>
          <a:p>
            <a:pPr indent="0" marL="0">
              <a:buNone/>
            </a:pPr>
            <a:r>
              <a:rPr lang="en-US" sz="1250" dirty="0">
                <a:solidFill>
                  <a:srgbClr val="1B2A33"/>
                </a:solidFill>
                <a:latin typeface="Calibri" pitchFamily="34" charset="0"/>
                <a:ea typeface="Calibri" pitchFamily="34" charset="-122"/>
                <a:cs typeface="Calibri" pitchFamily="34" charset="-120"/>
              </a:rPr>
              <a:t>ModICT (2024): frozen LLM + in-context example</a:t>
            </a:r>
            <a:endParaRPr lang="en-US" sz="1250" dirty="0"/>
          </a:p>
        </p:txBody>
      </p:sp>
      <p:sp>
        <p:nvSpPr>
          <p:cNvPr id="11" name="Text 9"/>
          <p:cNvSpPr/>
          <p:nvPr/>
        </p:nvSpPr>
        <p:spPr>
          <a:xfrm>
            <a:off x="8138160" y="2240280"/>
            <a:ext cx="3474720" cy="749808"/>
          </a:xfrm>
          <a:prstGeom prst="rect">
            <a:avLst/>
          </a:prstGeom>
          <a:noFill/>
          <a:ln/>
        </p:spPr>
        <p:txBody>
          <a:bodyPr wrap="square" lIns="1016" tIns="1016" rIns="1016" bIns="1016" rtlCol="0" anchor="ctr"/>
          <a:lstStyle/>
          <a:p>
            <a:pPr indent="0" marL="0">
              <a:buNone/>
            </a:pPr>
            <a:r>
              <a:rPr lang="en-US" sz="1200" dirty="0">
                <a:solidFill>
                  <a:srgbClr val="5B6B73"/>
                </a:solidFill>
                <a:latin typeface="Calibri" pitchFamily="34" charset="0"/>
                <a:ea typeface="Calibri" pitchFamily="34" charset="-122"/>
                <a:cs typeface="Calibri" pitchFamily="34" charset="-120"/>
              </a:rPr>
              <a:t>Names our exact risk: generic copy for look-alikes</a:t>
            </a:r>
            <a:endParaRPr lang="en-US" sz="1200" dirty="0"/>
          </a:p>
        </p:txBody>
      </p:sp>
      <p:sp>
        <p:nvSpPr>
          <p:cNvPr id="12" name="Shape 10"/>
          <p:cNvSpPr/>
          <p:nvPr/>
        </p:nvSpPr>
        <p:spPr>
          <a:xfrm>
            <a:off x="548640" y="2990088"/>
            <a:ext cx="11064240" cy="749808"/>
          </a:xfrm>
          <a:prstGeom prst="rect">
            <a:avLst/>
          </a:prstGeom>
          <a:solidFill>
            <a:srgbClr val="FFFFFF"/>
          </a:solidFill>
          <a:ln/>
        </p:spPr>
      </p:sp>
      <p:sp>
        <p:nvSpPr>
          <p:cNvPr id="13" name="Text 11"/>
          <p:cNvSpPr/>
          <p:nvPr/>
        </p:nvSpPr>
        <p:spPr>
          <a:xfrm>
            <a:off x="548640" y="2990088"/>
            <a:ext cx="2651760" cy="749808"/>
          </a:xfrm>
          <a:prstGeom prst="rect">
            <a:avLst/>
          </a:prstGeom>
          <a:noFill/>
          <a:ln/>
        </p:spPr>
        <p:txBody>
          <a:bodyPr wrap="square" lIns="1016" tIns="1016" rIns="1016" bIns="1016" rtlCol="0" anchor="ctr"/>
          <a:lstStyle/>
          <a:p>
            <a:pPr indent="0" marL="0">
              <a:buNone/>
            </a:pPr>
            <a:r>
              <a:rPr lang="en-US" sz="1300" b="1" dirty="0">
                <a:solidFill>
                  <a:srgbClr val="028090"/>
                </a:solidFill>
                <a:latin typeface="Calibri" pitchFamily="34" charset="0"/>
                <a:ea typeface="Calibri" pitchFamily="34" charset="-122"/>
                <a:cs typeface="Calibri" pitchFamily="34" charset="-120"/>
              </a:rPr>
              <a:t>Recognition</a:t>
            </a:r>
            <a:endParaRPr lang="en-US" sz="1300" dirty="0"/>
          </a:p>
        </p:txBody>
      </p:sp>
      <p:sp>
        <p:nvSpPr>
          <p:cNvPr id="14" name="Text 12"/>
          <p:cNvSpPr/>
          <p:nvPr/>
        </p:nvSpPr>
        <p:spPr>
          <a:xfrm>
            <a:off x="3200400" y="2990088"/>
            <a:ext cx="4937760" cy="749808"/>
          </a:xfrm>
          <a:prstGeom prst="rect">
            <a:avLst/>
          </a:prstGeom>
          <a:noFill/>
          <a:ln/>
        </p:spPr>
        <p:txBody>
          <a:bodyPr wrap="square" lIns="1016" tIns="1016" rIns="1016" bIns="1016" rtlCol="0" anchor="ctr"/>
          <a:lstStyle/>
          <a:p>
            <a:pPr indent="0" marL="0">
              <a:buNone/>
            </a:pPr>
            <a:r>
              <a:rPr lang="en-US" sz="1250" dirty="0">
                <a:solidFill>
                  <a:srgbClr val="1B2A33"/>
                </a:solidFill>
                <a:latin typeface="Calibri" pitchFamily="34" charset="0"/>
                <a:ea typeface="Calibri" pitchFamily="34" charset="-122"/>
                <a:cs typeface="Calibri" pitchFamily="34" charset="-120"/>
              </a:rPr>
              <a:t>RP2K, CAPG-GP; image + OCR fusion (2023)</a:t>
            </a:r>
            <a:endParaRPr lang="en-US" sz="1250" dirty="0"/>
          </a:p>
        </p:txBody>
      </p:sp>
      <p:sp>
        <p:nvSpPr>
          <p:cNvPr id="15" name="Text 13"/>
          <p:cNvSpPr/>
          <p:nvPr/>
        </p:nvSpPr>
        <p:spPr>
          <a:xfrm>
            <a:off x="8138160" y="2990088"/>
            <a:ext cx="3474720" cy="749808"/>
          </a:xfrm>
          <a:prstGeom prst="rect">
            <a:avLst/>
          </a:prstGeom>
          <a:noFill/>
          <a:ln/>
        </p:spPr>
        <p:txBody>
          <a:bodyPr wrap="square" lIns="1016" tIns="1016" rIns="1016" bIns="1016" rtlCol="0" anchor="ctr"/>
          <a:lstStyle/>
          <a:p>
            <a:pPr indent="0" marL="0">
              <a:buNone/>
            </a:pPr>
            <a:r>
              <a:rPr lang="en-US" sz="1200" dirty="0">
                <a:solidFill>
                  <a:srgbClr val="5B6B73"/>
                </a:solidFill>
                <a:latin typeface="Calibri" pitchFamily="34" charset="0"/>
                <a:ea typeface="Calibri" pitchFamily="34" charset="-122"/>
                <a:cs typeface="Calibri" pitchFamily="34" charset="-120"/>
              </a:rPr>
              <a:t>Multimodal beats image-only, esp. few-shot</a:t>
            </a:r>
            <a:endParaRPr lang="en-US" sz="1200" dirty="0"/>
          </a:p>
        </p:txBody>
      </p:sp>
      <p:sp>
        <p:nvSpPr>
          <p:cNvPr id="16" name="Shape 14"/>
          <p:cNvSpPr/>
          <p:nvPr/>
        </p:nvSpPr>
        <p:spPr>
          <a:xfrm>
            <a:off x="548640" y="3739896"/>
            <a:ext cx="11064240" cy="749808"/>
          </a:xfrm>
          <a:prstGeom prst="rect">
            <a:avLst/>
          </a:prstGeom>
          <a:solidFill>
            <a:srgbClr val="E9F1F1"/>
          </a:solidFill>
          <a:ln/>
        </p:spPr>
      </p:sp>
      <p:sp>
        <p:nvSpPr>
          <p:cNvPr id="17" name="Text 15"/>
          <p:cNvSpPr/>
          <p:nvPr/>
        </p:nvSpPr>
        <p:spPr>
          <a:xfrm>
            <a:off x="548640" y="3739896"/>
            <a:ext cx="2651760" cy="749808"/>
          </a:xfrm>
          <a:prstGeom prst="rect">
            <a:avLst/>
          </a:prstGeom>
          <a:noFill/>
          <a:ln/>
        </p:spPr>
        <p:txBody>
          <a:bodyPr wrap="square" lIns="1016" tIns="1016" rIns="1016" bIns="1016" rtlCol="0" anchor="ctr"/>
          <a:lstStyle/>
          <a:p>
            <a:pPr indent="0" marL="0">
              <a:buNone/>
            </a:pPr>
            <a:r>
              <a:rPr lang="en-US" sz="1300" b="1" dirty="0">
                <a:solidFill>
                  <a:srgbClr val="028090"/>
                </a:solidFill>
                <a:latin typeface="Calibri" pitchFamily="34" charset="0"/>
                <a:ea typeface="Calibri" pitchFamily="34" charset="-122"/>
                <a:cs typeface="Calibri" pitchFamily="34" charset="-120"/>
              </a:rPr>
              <a:t>Pricing</a:t>
            </a:r>
            <a:endParaRPr lang="en-US" sz="1300" dirty="0"/>
          </a:p>
        </p:txBody>
      </p:sp>
      <p:sp>
        <p:nvSpPr>
          <p:cNvPr id="18" name="Text 16"/>
          <p:cNvSpPr/>
          <p:nvPr/>
        </p:nvSpPr>
        <p:spPr>
          <a:xfrm>
            <a:off x="3200400" y="3739896"/>
            <a:ext cx="4937760" cy="749808"/>
          </a:xfrm>
          <a:prstGeom prst="rect">
            <a:avLst/>
          </a:prstGeom>
          <a:noFill/>
          <a:ln/>
        </p:spPr>
        <p:txBody>
          <a:bodyPr wrap="square" lIns="1016" tIns="1016" rIns="1016" bIns="1016" rtlCol="0" anchor="ctr"/>
          <a:lstStyle/>
          <a:p>
            <a:pPr indent="0" marL="0">
              <a:buNone/>
            </a:pPr>
            <a:r>
              <a:rPr lang="en-US" sz="1250" dirty="0">
                <a:solidFill>
                  <a:srgbClr val="1B2A33"/>
                </a:solidFill>
                <a:latin typeface="Calibri" pitchFamily="34" charset="0"/>
                <a:ea typeface="Calibri" pitchFamily="34" charset="-122"/>
                <a:cs typeface="Calibri" pitchFamily="34" charset="-120"/>
              </a:rPr>
              <a:t>LLP (2025): retrieve comparables, reject low-confidence</a:t>
            </a:r>
            <a:endParaRPr lang="en-US" sz="1250" dirty="0"/>
          </a:p>
        </p:txBody>
      </p:sp>
      <p:sp>
        <p:nvSpPr>
          <p:cNvPr id="19" name="Text 17"/>
          <p:cNvSpPr/>
          <p:nvPr/>
        </p:nvSpPr>
        <p:spPr>
          <a:xfrm>
            <a:off x="8138160" y="3739896"/>
            <a:ext cx="3474720" cy="749808"/>
          </a:xfrm>
          <a:prstGeom prst="rect">
            <a:avLst/>
          </a:prstGeom>
          <a:noFill/>
          <a:ln/>
        </p:spPr>
        <p:txBody>
          <a:bodyPr wrap="square" lIns="1016" tIns="1016" rIns="1016" bIns="1016" rtlCol="0" anchor="ctr"/>
          <a:lstStyle/>
          <a:p>
            <a:pPr indent="0" marL="0">
              <a:buNone/>
            </a:pPr>
            <a:r>
              <a:rPr lang="en-US" sz="1200" dirty="0">
                <a:solidFill>
                  <a:srgbClr val="5B6B73"/>
                </a:solidFill>
                <a:latin typeface="Calibri" pitchFamily="34" charset="0"/>
                <a:ea typeface="Calibri" pitchFamily="34" charset="-122"/>
                <a:cs typeface="Calibri" pitchFamily="34" charset="-120"/>
              </a:rPr>
              <a:t>Validates retrieval-grounded, confidence-gated pricing</a:t>
            </a:r>
            <a:endParaRPr lang="en-US" sz="1200" dirty="0"/>
          </a:p>
        </p:txBody>
      </p:sp>
      <p:sp>
        <p:nvSpPr>
          <p:cNvPr id="20" name="Shape 18"/>
          <p:cNvSpPr/>
          <p:nvPr/>
        </p:nvSpPr>
        <p:spPr>
          <a:xfrm>
            <a:off x="548640" y="4489704"/>
            <a:ext cx="11064240" cy="749808"/>
          </a:xfrm>
          <a:prstGeom prst="rect">
            <a:avLst/>
          </a:prstGeom>
          <a:solidFill>
            <a:srgbClr val="FFFFFF"/>
          </a:solidFill>
          <a:ln/>
        </p:spPr>
      </p:sp>
      <p:sp>
        <p:nvSpPr>
          <p:cNvPr id="21" name="Text 19"/>
          <p:cNvSpPr/>
          <p:nvPr/>
        </p:nvSpPr>
        <p:spPr>
          <a:xfrm>
            <a:off x="548640" y="4489704"/>
            <a:ext cx="2651760" cy="749808"/>
          </a:xfrm>
          <a:prstGeom prst="rect">
            <a:avLst/>
          </a:prstGeom>
          <a:noFill/>
          <a:ln/>
        </p:spPr>
        <p:txBody>
          <a:bodyPr wrap="square" lIns="1016" tIns="1016" rIns="1016" bIns="1016" rtlCol="0" anchor="ctr"/>
          <a:lstStyle/>
          <a:p>
            <a:pPr indent="0" marL="0">
              <a:buNone/>
            </a:pPr>
            <a:r>
              <a:rPr lang="en-US" sz="1300" b="1" dirty="0">
                <a:solidFill>
                  <a:srgbClr val="028090"/>
                </a:solidFill>
                <a:latin typeface="Calibri" pitchFamily="34" charset="0"/>
                <a:ea typeface="Calibri" pitchFamily="34" charset="-122"/>
                <a:cs typeface="Calibri" pitchFamily="34" charset="-120"/>
              </a:rPr>
              <a:t>Image upgrade</a:t>
            </a:r>
            <a:endParaRPr lang="en-US" sz="1300" dirty="0"/>
          </a:p>
        </p:txBody>
      </p:sp>
      <p:sp>
        <p:nvSpPr>
          <p:cNvPr id="22" name="Text 20"/>
          <p:cNvSpPr/>
          <p:nvPr/>
        </p:nvSpPr>
        <p:spPr>
          <a:xfrm>
            <a:off x="3200400" y="4489704"/>
            <a:ext cx="4937760" cy="749808"/>
          </a:xfrm>
          <a:prstGeom prst="rect">
            <a:avLst/>
          </a:prstGeom>
          <a:noFill/>
          <a:ln/>
        </p:spPr>
        <p:txBody>
          <a:bodyPr wrap="square" lIns="1016" tIns="1016" rIns="1016" bIns="1016" rtlCol="0" anchor="ctr"/>
          <a:lstStyle/>
          <a:p>
            <a:pPr indent="0" marL="0">
              <a:buNone/>
            </a:pPr>
            <a:r>
              <a:rPr lang="en-US" sz="1250" dirty="0">
                <a:solidFill>
                  <a:srgbClr val="1B2A33"/>
                </a:solidFill>
                <a:latin typeface="Calibri" pitchFamily="34" charset="0"/>
                <a:ea typeface="Calibri" pitchFamily="34" charset="-122"/>
                <a:cs typeface="Calibri" pitchFamily="34" charset="-120"/>
              </a:rPr>
              <a:t>SIR (2020), e-CLIP (2022): embedding match</a:t>
            </a:r>
            <a:endParaRPr lang="en-US" sz="1250" dirty="0"/>
          </a:p>
        </p:txBody>
      </p:sp>
      <p:sp>
        <p:nvSpPr>
          <p:cNvPr id="23" name="Text 21"/>
          <p:cNvSpPr/>
          <p:nvPr/>
        </p:nvSpPr>
        <p:spPr>
          <a:xfrm>
            <a:off x="8138160" y="4489704"/>
            <a:ext cx="3474720" cy="749808"/>
          </a:xfrm>
          <a:prstGeom prst="rect">
            <a:avLst/>
          </a:prstGeom>
          <a:noFill/>
          <a:ln/>
        </p:spPr>
        <p:txBody>
          <a:bodyPr wrap="square" lIns="1016" tIns="1016" rIns="1016" bIns="1016" rtlCol="0" anchor="ctr"/>
          <a:lstStyle/>
          <a:p>
            <a:pPr indent="0" marL="0">
              <a:buNone/>
            </a:pPr>
            <a:r>
              <a:rPr lang="en-US" sz="1200" dirty="0">
                <a:solidFill>
                  <a:srgbClr val="5B6B73"/>
                </a:solidFill>
                <a:latin typeface="Calibri" pitchFamily="34" charset="0"/>
                <a:ea typeface="Calibri" pitchFamily="34" charset="-122"/>
                <a:cs typeface="Calibri" pitchFamily="34" charset="-120"/>
              </a:rPr>
              <a:t>Same-SKU match + restricted-item detection</a:t>
            </a:r>
            <a:endParaRPr lang="en-US" sz="1200" dirty="0"/>
          </a:p>
        </p:txBody>
      </p:sp>
      <p:sp>
        <p:nvSpPr>
          <p:cNvPr id="24" name="Shape 22"/>
          <p:cNvSpPr/>
          <p:nvPr/>
        </p:nvSpPr>
        <p:spPr>
          <a:xfrm>
            <a:off x="548640" y="5422392"/>
            <a:ext cx="11064240" cy="1097280"/>
          </a:xfrm>
          <a:prstGeom prst="roundRect">
            <a:avLst>
              <a:gd name="adj" fmla="val 8333"/>
            </a:avLst>
          </a:prstGeom>
          <a:solidFill>
            <a:srgbClr val="0B2A3B"/>
          </a:solidFill>
          <a:ln/>
        </p:spPr>
      </p:sp>
      <p:sp>
        <p:nvSpPr>
          <p:cNvPr id="25" name="Text 23"/>
          <p:cNvSpPr/>
          <p:nvPr/>
        </p:nvSpPr>
        <p:spPr>
          <a:xfrm>
            <a:off x="822960" y="5513832"/>
            <a:ext cx="10515600" cy="914400"/>
          </a:xfrm>
          <a:prstGeom prst="rect">
            <a:avLst/>
          </a:prstGeom>
          <a:noFill/>
          <a:ln/>
        </p:spPr>
        <p:txBody>
          <a:bodyPr wrap="square" lIns="0" tIns="0" rIns="0" bIns="0" rtlCol="0" anchor="ctr"/>
          <a:lstStyle/>
          <a:p>
            <a:pPr indent="0" marL="0">
              <a:buNone/>
            </a:pPr>
            <a:r>
              <a:rPr lang="en-US" sz="1350" b="1" dirty="0">
                <a:solidFill>
                  <a:srgbClr val="02C39A"/>
                </a:solidFill>
                <a:latin typeface="Calibri" pitchFamily="34" charset="0"/>
                <a:ea typeface="Calibri" pitchFamily="34" charset="-122"/>
                <a:cs typeface="Calibri" pitchFamily="34" charset="-120"/>
              </a:rPr>
              <a:t>The gap:  </a:t>
            </a:r>
            <a:pPr indent="0" marL="0">
              <a:buNone/>
            </a:pPr>
            <a:r>
              <a:rPr lang="en-US" sz="1350" dirty="0">
                <a:solidFill>
                  <a:srgbClr val="FFFFFF"/>
                </a:solidFill>
                <a:latin typeface="Calibri" pitchFamily="34" charset="0"/>
                <a:ea typeface="Calibri" pitchFamily="34" charset="-122"/>
                <a:cs typeface="Calibri" pitchFamily="34" charset="-120"/>
              </a:rPr>
              <a:t>no published system chains recognition → comparable pricing → verified image replacement → grounded generation into one evaluated pipeline. Commercial snap-to-sell apps target used goods, are closed, and publish no evaluation.</a:t>
            </a:r>
            <a:endParaRPr lang="en-US" sz="1350" dirty="0"/>
          </a:p>
        </p:txBody>
      </p:sp>
      <p:sp>
        <p:nvSpPr>
          <p:cNvPr id="26" name="Text 24"/>
          <p:cNvSpPr/>
          <p:nvPr/>
        </p:nvSpPr>
        <p:spPr>
          <a:xfrm>
            <a:off x="11274552" y="6400800"/>
            <a:ext cx="457200" cy="274320"/>
          </a:xfrm>
          <a:prstGeom prst="rect">
            <a:avLst/>
          </a:prstGeom>
          <a:noFill/>
          <a:ln/>
        </p:spPr>
        <p:txBody>
          <a:bodyPr wrap="square" rtlCol="0" anchor="ctr"/>
          <a:lstStyle/>
          <a:p>
            <a:pPr algn="r" indent="0" marL="0">
              <a:buNone/>
            </a:pPr>
            <a:r>
              <a:rPr lang="en-US" sz="1000" dirty="0">
                <a:solidFill>
                  <a:srgbClr val="5B6B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7"/>
        </a:solidFill>
      </p:bgPr>
    </p:bg>
    <p:spTree>
      <p:nvGrpSpPr>
        <p:cNvPr id="1" name=""/>
        <p:cNvGrpSpPr/>
        <p:nvPr/>
      </p:nvGrpSpPr>
      <p:grpSpPr>
        <a:xfrm>
          <a:off x="0" y="0"/>
          <a:ext cx="0" cy="0"/>
          <a:chOff x="0" y="0"/>
          <a:chExt cx="0" cy="0"/>
        </a:xfrm>
      </p:grpSpPr>
      <p:sp>
        <p:nvSpPr>
          <p:cNvPr id="2" name="Text 0"/>
          <p:cNvSpPr/>
          <p:nvPr/>
        </p:nvSpPr>
        <p:spPr>
          <a:xfrm>
            <a:off x="548640" y="502920"/>
            <a:ext cx="8229600" cy="320040"/>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SYSTEM DESIGN</a:t>
            </a:r>
            <a:endParaRPr lang="en-US" sz="1200" dirty="0"/>
          </a:p>
        </p:txBody>
      </p:sp>
      <p:sp>
        <p:nvSpPr>
          <p:cNvPr id="3" name="Text 1"/>
          <p:cNvSpPr/>
          <p:nvPr/>
        </p:nvSpPr>
        <p:spPr>
          <a:xfrm>
            <a:off x="548640" y="777240"/>
            <a:ext cx="11091672" cy="822960"/>
          </a:xfrm>
          <a:prstGeom prst="rect">
            <a:avLst/>
          </a:prstGeom>
          <a:noFill/>
          <a:ln/>
        </p:spPr>
        <p:txBody>
          <a:bodyPr wrap="square" lIns="0" tIns="0" rIns="0" bIns="0" rtlCol="0" anchor="ctr"/>
          <a:lstStyle/>
          <a:p>
            <a:pPr indent="0" marL="0">
              <a:buNone/>
            </a:pPr>
            <a:r>
              <a:rPr lang="en-US" sz="3200" b="1" dirty="0">
                <a:solidFill>
                  <a:srgbClr val="1B2A33"/>
                </a:solidFill>
                <a:latin typeface="Cambria" pitchFamily="34" charset="0"/>
                <a:ea typeface="Cambria" pitchFamily="34" charset="-122"/>
                <a:cs typeface="Cambria" pitchFamily="34" charset="-120"/>
              </a:rPr>
              <a:t>A staged pipeline with human review</a:t>
            </a:r>
            <a:endParaRPr lang="en-US" sz="3200" dirty="0"/>
          </a:p>
        </p:txBody>
      </p:sp>
      <p:pic>
        <p:nvPicPr>
          <p:cNvPr id="4" name="Image 0" descr="fig_arch.png">    </p:cNvPr>
          <p:cNvPicPr>
            <a:picLocks noChangeAspect="1"/>
          </p:cNvPicPr>
          <p:nvPr/>
        </p:nvPicPr>
        <p:blipFill>
          <a:blip r:embed="rId1"/>
          <a:stretch>
            <a:fillRect/>
          </a:stretch>
        </p:blipFill>
        <p:spPr>
          <a:xfrm>
            <a:off x="7452360" y="640080"/>
            <a:ext cx="4160520" cy="6144768"/>
          </a:xfrm>
          <a:prstGeom prst="rect">
            <a:avLst/>
          </a:prstGeom>
        </p:spPr>
      </p:pic>
      <p:sp>
        <p:nvSpPr>
          <p:cNvPr id="5" name="Shape 2"/>
          <p:cNvSpPr/>
          <p:nvPr/>
        </p:nvSpPr>
        <p:spPr>
          <a:xfrm>
            <a:off x="548640" y="1737360"/>
            <a:ext cx="6583680" cy="749808"/>
          </a:xfrm>
          <a:prstGeom prst="roundRect">
            <a:avLst>
              <a:gd name="adj" fmla="val 9756"/>
            </a:avLst>
          </a:prstGeom>
          <a:solidFill>
            <a:srgbClr val="FFFFFF"/>
          </a:solidFill>
          <a:ln w="12700">
            <a:solidFill>
              <a:srgbClr val="DCE6E6"/>
            </a:solidFill>
            <a:prstDash val="solid"/>
          </a:ln>
        </p:spPr>
      </p:sp>
      <p:sp>
        <p:nvSpPr>
          <p:cNvPr id="6" name="Shape 3"/>
          <p:cNvSpPr/>
          <p:nvPr/>
        </p:nvSpPr>
        <p:spPr>
          <a:xfrm>
            <a:off x="685800" y="1883664"/>
            <a:ext cx="457200" cy="457200"/>
          </a:xfrm>
          <a:prstGeom prst="ellipse">
            <a:avLst/>
          </a:prstGeom>
          <a:solidFill>
            <a:srgbClr val="028090"/>
          </a:solidFill>
          <a:ln/>
        </p:spPr>
      </p:sp>
      <p:sp>
        <p:nvSpPr>
          <p:cNvPr id="7" name="Text 4"/>
          <p:cNvSpPr/>
          <p:nvPr/>
        </p:nvSpPr>
        <p:spPr>
          <a:xfrm>
            <a:off x="685800" y="1883664"/>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8" name="Text 5"/>
          <p:cNvSpPr/>
          <p:nvPr/>
        </p:nvSpPr>
        <p:spPr>
          <a:xfrm>
            <a:off x="1280160" y="1810512"/>
            <a:ext cx="5669280" cy="329184"/>
          </a:xfrm>
          <a:prstGeom prst="rect">
            <a:avLst/>
          </a:prstGeom>
          <a:noFill/>
          <a:ln/>
        </p:spPr>
        <p:txBody>
          <a:bodyPr wrap="square" lIns="0" tIns="0" rIns="0" bIns="0" rtlCol="0" anchor="ctr"/>
          <a:lstStyle/>
          <a:p>
            <a:pPr indent="0" marL="0">
              <a:buNone/>
            </a:pPr>
            <a:r>
              <a:rPr lang="en-US" sz="1450" b="1" dirty="0">
                <a:solidFill>
                  <a:srgbClr val="1B2A33"/>
                </a:solidFill>
                <a:latin typeface="Calibri" pitchFamily="34" charset="0"/>
                <a:ea typeface="Calibri" pitchFamily="34" charset="-122"/>
                <a:cs typeface="Calibri" pitchFamily="34" charset="-120"/>
              </a:rPr>
              <a:t>Capture</a:t>
            </a:r>
            <a:endParaRPr lang="en-US" sz="1450" dirty="0"/>
          </a:p>
        </p:txBody>
      </p:sp>
      <p:sp>
        <p:nvSpPr>
          <p:cNvPr id="9" name="Text 6"/>
          <p:cNvSpPr/>
          <p:nvPr/>
        </p:nvSpPr>
        <p:spPr>
          <a:xfrm>
            <a:off x="1280160" y="2139696"/>
            <a:ext cx="5715000" cy="310896"/>
          </a:xfrm>
          <a:prstGeom prst="rect">
            <a:avLst/>
          </a:prstGeom>
          <a:noFill/>
          <a:ln/>
        </p:spPr>
        <p:txBody>
          <a:bodyPr wrap="square" lIns="0" tIns="0" rIns="0" bIns="0" rtlCol="0" anchor="ctr"/>
          <a:lstStyle/>
          <a:p>
            <a:pPr indent="0" marL="0">
              <a:buNone/>
            </a:pPr>
            <a:r>
              <a:rPr lang="en-US" sz="1080" dirty="0">
                <a:solidFill>
                  <a:srgbClr val="5B6B73"/>
                </a:solidFill>
                <a:latin typeface="Calibri" pitchFamily="34" charset="0"/>
                <a:ea typeface="Calibri" pitchFamily="34" charset="-122"/>
                <a:cs typeface="Calibri" pitchFamily="34" charset="-120"/>
              </a:rPr>
              <a:t>Phone image; deskew, crop, glare / exposure normalise</a:t>
            </a:r>
            <a:endParaRPr lang="en-US" sz="1080" dirty="0"/>
          </a:p>
        </p:txBody>
      </p:sp>
      <p:sp>
        <p:nvSpPr>
          <p:cNvPr id="10" name="Shape 7"/>
          <p:cNvSpPr/>
          <p:nvPr/>
        </p:nvSpPr>
        <p:spPr>
          <a:xfrm>
            <a:off x="548640" y="2560320"/>
            <a:ext cx="6583680" cy="749808"/>
          </a:xfrm>
          <a:prstGeom prst="roundRect">
            <a:avLst>
              <a:gd name="adj" fmla="val 9756"/>
            </a:avLst>
          </a:prstGeom>
          <a:solidFill>
            <a:srgbClr val="FFFFFF"/>
          </a:solidFill>
          <a:ln w="12700">
            <a:solidFill>
              <a:srgbClr val="DCE6E6"/>
            </a:solidFill>
            <a:prstDash val="solid"/>
          </a:ln>
        </p:spPr>
      </p:sp>
      <p:sp>
        <p:nvSpPr>
          <p:cNvPr id="11" name="Shape 8"/>
          <p:cNvSpPr/>
          <p:nvPr/>
        </p:nvSpPr>
        <p:spPr>
          <a:xfrm>
            <a:off x="685800" y="2706624"/>
            <a:ext cx="457200" cy="457200"/>
          </a:xfrm>
          <a:prstGeom prst="ellipse">
            <a:avLst/>
          </a:prstGeom>
          <a:solidFill>
            <a:srgbClr val="028090"/>
          </a:solidFill>
          <a:ln/>
        </p:spPr>
      </p:sp>
      <p:sp>
        <p:nvSpPr>
          <p:cNvPr id="12" name="Text 9"/>
          <p:cNvSpPr/>
          <p:nvPr/>
        </p:nvSpPr>
        <p:spPr>
          <a:xfrm>
            <a:off x="685800" y="2706624"/>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2</a:t>
            </a:r>
            <a:endParaRPr lang="en-US" sz="1700" dirty="0"/>
          </a:p>
        </p:txBody>
      </p:sp>
      <p:sp>
        <p:nvSpPr>
          <p:cNvPr id="13" name="Text 10"/>
          <p:cNvSpPr/>
          <p:nvPr/>
        </p:nvSpPr>
        <p:spPr>
          <a:xfrm>
            <a:off x="1280160" y="2633472"/>
            <a:ext cx="5669280" cy="329184"/>
          </a:xfrm>
          <a:prstGeom prst="rect">
            <a:avLst/>
          </a:prstGeom>
          <a:noFill/>
          <a:ln/>
        </p:spPr>
        <p:txBody>
          <a:bodyPr wrap="square" lIns="0" tIns="0" rIns="0" bIns="0" rtlCol="0" anchor="ctr"/>
          <a:lstStyle/>
          <a:p>
            <a:pPr indent="0" marL="0">
              <a:buNone/>
            </a:pPr>
            <a:r>
              <a:rPr lang="en-US" sz="1450" b="1" dirty="0">
                <a:solidFill>
                  <a:srgbClr val="1B2A33"/>
                </a:solidFill>
                <a:latin typeface="Calibri" pitchFamily="34" charset="0"/>
                <a:ea typeface="Calibri" pitchFamily="34" charset="-122"/>
                <a:cs typeface="Calibri" pitchFamily="34" charset="-120"/>
              </a:rPr>
              <a:t>Recognise</a:t>
            </a:r>
            <a:endParaRPr lang="en-US" sz="1450" dirty="0"/>
          </a:p>
        </p:txBody>
      </p:sp>
      <p:sp>
        <p:nvSpPr>
          <p:cNvPr id="14" name="Text 11"/>
          <p:cNvSpPr/>
          <p:nvPr/>
        </p:nvSpPr>
        <p:spPr>
          <a:xfrm>
            <a:off x="1280160" y="2962656"/>
            <a:ext cx="5715000" cy="310896"/>
          </a:xfrm>
          <a:prstGeom prst="rect">
            <a:avLst/>
          </a:prstGeom>
          <a:noFill/>
          <a:ln/>
        </p:spPr>
        <p:txBody>
          <a:bodyPr wrap="square" lIns="0" tIns="0" rIns="0" bIns="0" rtlCol="0" anchor="ctr"/>
          <a:lstStyle/>
          <a:p>
            <a:pPr indent="0" marL="0">
              <a:buNone/>
            </a:pPr>
            <a:r>
              <a:rPr lang="en-US" sz="1080" dirty="0">
                <a:solidFill>
                  <a:srgbClr val="5B6B73"/>
                </a:solidFill>
                <a:latin typeface="Calibri" pitchFamily="34" charset="0"/>
                <a:ea typeface="Calibri" pitchFamily="34" charset="-122"/>
                <a:cs typeface="Calibri" pitchFamily="34" charset="-120"/>
              </a:rPr>
              <a:t>VLM + packaging OCR → brand, product, variant, size, category</a:t>
            </a:r>
            <a:endParaRPr lang="en-US" sz="1080" dirty="0"/>
          </a:p>
        </p:txBody>
      </p:sp>
      <p:sp>
        <p:nvSpPr>
          <p:cNvPr id="15" name="Shape 12"/>
          <p:cNvSpPr/>
          <p:nvPr/>
        </p:nvSpPr>
        <p:spPr>
          <a:xfrm>
            <a:off x="548640" y="3383280"/>
            <a:ext cx="6583680" cy="749808"/>
          </a:xfrm>
          <a:prstGeom prst="roundRect">
            <a:avLst>
              <a:gd name="adj" fmla="val 9756"/>
            </a:avLst>
          </a:prstGeom>
          <a:solidFill>
            <a:srgbClr val="FFFFFF"/>
          </a:solidFill>
          <a:ln w="12700">
            <a:solidFill>
              <a:srgbClr val="DCE6E6"/>
            </a:solidFill>
            <a:prstDash val="solid"/>
          </a:ln>
        </p:spPr>
      </p:sp>
      <p:sp>
        <p:nvSpPr>
          <p:cNvPr id="16" name="Shape 13"/>
          <p:cNvSpPr/>
          <p:nvPr/>
        </p:nvSpPr>
        <p:spPr>
          <a:xfrm>
            <a:off x="685800" y="3529584"/>
            <a:ext cx="457200" cy="457200"/>
          </a:xfrm>
          <a:prstGeom prst="ellipse">
            <a:avLst/>
          </a:prstGeom>
          <a:solidFill>
            <a:srgbClr val="00A896"/>
          </a:solidFill>
          <a:ln/>
        </p:spPr>
      </p:sp>
      <p:sp>
        <p:nvSpPr>
          <p:cNvPr id="17" name="Text 14"/>
          <p:cNvSpPr/>
          <p:nvPr/>
        </p:nvSpPr>
        <p:spPr>
          <a:xfrm>
            <a:off x="685800" y="3529584"/>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3</a:t>
            </a:r>
            <a:endParaRPr lang="en-US" sz="1700" dirty="0"/>
          </a:p>
        </p:txBody>
      </p:sp>
      <p:sp>
        <p:nvSpPr>
          <p:cNvPr id="18" name="Text 15"/>
          <p:cNvSpPr/>
          <p:nvPr/>
        </p:nvSpPr>
        <p:spPr>
          <a:xfrm>
            <a:off x="1280160" y="3456432"/>
            <a:ext cx="5669280" cy="329184"/>
          </a:xfrm>
          <a:prstGeom prst="rect">
            <a:avLst/>
          </a:prstGeom>
          <a:noFill/>
          <a:ln/>
        </p:spPr>
        <p:txBody>
          <a:bodyPr wrap="square" lIns="0" tIns="0" rIns="0" bIns="0" rtlCol="0" anchor="ctr"/>
          <a:lstStyle/>
          <a:p>
            <a:pPr indent="0" marL="0">
              <a:buNone/>
            </a:pPr>
            <a:r>
              <a:rPr lang="en-US" sz="1450" b="1" dirty="0">
                <a:solidFill>
                  <a:srgbClr val="1B2A33"/>
                </a:solidFill>
                <a:latin typeface="Calibri" pitchFamily="34" charset="0"/>
                <a:ea typeface="Calibri" pitchFamily="34" charset="-122"/>
                <a:cs typeface="Calibri" pitchFamily="34" charset="-120"/>
              </a:rPr>
              <a:t>Retrieve</a:t>
            </a:r>
            <a:endParaRPr lang="en-US" sz="1450" dirty="0"/>
          </a:p>
        </p:txBody>
      </p:sp>
      <p:sp>
        <p:nvSpPr>
          <p:cNvPr id="19" name="Text 16"/>
          <p:cNvSpPr/>
          <p:nvPr/>
        </p:nvSpPr>
        <p:spPr>
          <a:xfrm>
            <a:off x="1280160" y="3785616"/>
            <a:ext cx="5715000" cy="310896"/>
          </a:xfrm>
          <a:prstGeom prst="rect">
            <a:avLst/>
          </a:prstGeom>
          <a:noFill/>
          <a:ln/>
        </p:spPr>
        <p:txBody>
          <a:bodyPr wrap="square" lIns="0" tIns="0" rIns="0" bIns="0" rtlCol="0" anchor="ctr"/>
          <a:lstStyle/>
          <a:p>
            <a:pPr indent="0" marL="0">
              <a:buNone/>
            </a:pPr>
            <a:r>
              <a:rPr lang="en-US" sz="1080" dirty="0">
                <a:solidFill>
                  <a:srgbClr val="5B6B73"/>
                </a:solidFill>
                <a:latin typeface="Calibri" pitchFamily="34" charset="0"/>
                <a:ea typeface="Calibri" pitchFamily="34" charset="-122"/>
                <a:cs typeface="Calibri" pitchFamily="34" charset="-120"/>
              </a:rPr>
              <a:t>Barcode-first lookup → comparable prices, canonical name, candidate images</a:t>
            </a:r>
            <a:endParaRPr lang="en-US" sz="1080" dirty="0"/>
          </a:p>
        </p:txBody>
      </p:sp>
      <p:sp>
        <p:nvSpPr>
          <p:cNvPr id="20" name="Shape 17"/>
          <p:cNvSpPr/>
          <p:nvPr/>
        </p:nvSpPr>
        <p:spPr>
          <a:xfrm>
            <a:off x="548640" y="4206240"/>
            <a:ext cx="6583680" cy="749808"/>
          </a:xfrm>
          <a:prstGeom prst="roundRect">
            <a:avLst>
              <a:gd name="adj" fmla="val 9756"/>
            </a:avLst>
          </a:prstGeom>
          <a:solidFill>
            <a:srgbClr val="FFFFFF"/>
          </a:solidFill>
          <a:ln w="12700">
            <a:solidFill>
              <a:srgbClr val="DCE6E6"/>
            </a:solidFill>
            <a:prstDash val="solid"/>
          </a:ln>
        </p:spPr>
      </p:sp>
      <p:sp>
        <p:nvSpPr>
          <p:cNvPr id="21" name="Shape 18"/>
          <p:cNvSpPr/>
          <p:nvPr/>
        </p:nvSpPr>
        <p:spPr>
          <a:xfrm>
            <a:off x="685800" y="4352544"/>
            <a:ext cx="457200" cy="457200"/>
          </a:xfrm>
          <a:prstGeom prst="ellipse">
            <a:avLst/>
          </a:prstGeom>
          <a:solidFill>
            <a:srgbClr val="00A896"/>
          </a:solidFill>
          <a:ln/>
        </p:spPr>
      </p:sp>
      <p:sp>
        <p:nvSpPr>
          <p:cNvPr id="22" name="Text 19"/>
          <p:cNvSpPr/>
          <p:nvPr/>
        </p:nvSpPr>
        <p:spPr>
          <a:xfrm>
            <a:off x="685800" y="4352544"/>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4</a:t>
            </a:r>
            <a:endParaRPr lang="en-US" sz="1700" dirty="0"/>
          </a:p>
        </p:txBody>
      </p:sp>
      <p:sp>
        <p:nvSpPr>
          <p:cNvPr id="23" name="Text 20"/>
          <p:cNvSpPr/>
          <p:nvPr/>
        </p:nvSpPr>
        <p:spPr>
          <a:xfrm>
            <a:off x="1280160" y="4279392"/>
            <a:ext cx="5669280" cy="329184"/>
          </a:xfrm>
          <a:prstGeom prst="rect">
            <a:avLst/>
          </a:prstGeom>
          <a:noFill/>
          <a:ln/>
        </p:spPr>
        <p:txBody>
          <a:bodyPr wrap="square" lIns="0" tIns="0" rIns="0" bIns="0" rtlCol="0" anchor="ctr"/>
          <a:lstStyle/>
          <a:p>
            <a:pPr indent="0" marL="0">
              <a:buNone/>
            </a:pPr>
            <a:r>
              <a:rPr lang="en-US" sz="1450" b="1" dirty="0">
                <a:solidFill>
                  <a:srgbClr val="1B2A33"/>
                </a:solidFill>
                <a:latin typeface="Calibri" pitchFamily="34" charset="0"/>
                <a:ea typeface="Calibri" pitchFamily="34" charset="-122"/>
                <a:cs typeface="Calibri" pitchFamily="34" charset="-120"/>
              </a:rPr>
              <a:t>Generate</a:t>
            </a:r>
            <a:endParaRPr lang="en-US" sz="1450" dirty="0"/>
          </a:p>
        </p:txBody>
      </p:sp>
      <p:sp>
        <p:nvSpPr>
          <p:cNvPr id="24" name="Text 21"/>
          <p:cNvSpPr/>
          <p:nvPr/>
        </p:nvSpPr>
        <p:spPr>
          <a:xfrm>
            <a:off x="1280160" y="4608576"/>
            <a:ext cx="5715000" cy="310896"/>
          </a:xfrm>
          <a:prstGeom prst="rect">
            <a:avLst/>
          </a:prstGeom>
          <a:noFill/>
          <a:ln/>
        </p:spPr>
        <p:txBody>
          <a:bodyPr wrap="square" lIns="0" tIns="0" rIns="0" bIns="0" rtlCol="0" anchor="ctr"/>
          <a:lstStyle/>
          <a:p>
            <a:pPr indent="0" marL="0">
              <a:buNone/>
            </a:pPr>
            <a:r>
              <a:rPr lang="en-US" sz="1080" dirty="0">
                <a:solidFill>
                  <a:srgbClr val="5B6B73"/>
                </a:solidFill>
                <a:latin typeface="Calibri" pitchFamily="34" charset="0"/>
                <a:ea typeface="Calibri" pitchFamily="34" charset="-122"/>
                <a:cs typeface="Calibri" pitchFamily="34" charset="-120"/>
              </a:rPr>
              <a:t>Grounded LLM copy + price range; select &amp; verify best catalogue image</a:t>
            </a:r>
            <a:endParaRPr lang="en-US" sz="1080" dirty="0"/>
          </a:p>
        </p:txBody>
      </p:sp>
      <p:sp>
        <p:nvSpPr>
          <p:cNvPr id="25" name="Shape 22"/>
          <p:cNvSpPr/>
          <p:nvPr/>
        </p:nvSpPr>
        <p:spPr>
          <a:xfrm>
            <a:off x="548640" y="5029200"/>
            <a:ext cx="6583680" cy="749808"/>
          </a:xfrm>
          <a:prstGeom prst="roundRect">
            <a:avLst>
              <a:gd name="adj" fmla="val 9756"/>
            </a:avLst>
          </a:prstGeom>
          <a:solidFill>
            <a:srgbClr val="FFFFFF"/>
          </a:solidFill>
          <a:ln w="12700">
            <a:solidFill>
              <a:srgbClr val="DCE6E6"/>
            </a:solidFill>
            <a:prstDash val="solid"/>
          </a:ln>
        </p:spPr>
      </p:sp>
      <p:sp>
        <p:nvSpPr>
          <p:cNvPr id="26" name="Shape 23"/>
          <p:cNvSpPr/>
          <p:nvPr/>
        </p:nvSpPr>
        <p:spPr>
          <a:xfrm>
            <a:off x="685800" y="5175504"/>
            <a:ext cx="457200" cy="457200"/>
          </a:xfrm>
          <a:prstGeom prst="ellipse">
            <a:avLst/>
          </a:prstGeom>
          <a:solidFill>
            <a:srgbClr val="F96167"/>
          </a:solidFill>
          <a:ln/>
        </p:spPr>
      </p:sp>
      <p:sp>
        <p:nvSpPr>
          <p:cNvPr id="27" name="Text 24"/>
          <p:cNvSpPr/>
          <p:nvPr/>
        </p:nvSpPr>
        <p:spPr>
          <a:xfrm>
            <a:off x="685800" y="5175504"/>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5</a:t>
            </a:r>
            <a:endParaRPr lang="en-US" sz="1700" dirty="0"/>
          </a:p>
        </p:txBody>
      </p:sp>
      <p:sp>
        <p:nvSpPr>
          <p:cNvPr id="28" name="Text 25"/>
          <p:cNvSpPr/>
          <p:nvPr/>
        </p:nvSpPr>
        <p:spPr>
          <a:xfrm>
            <a:off x="1280160" y="5102352"/>
            <a:ext cx="5669280" cy="329184"/>
          </a:xfrm>
          <a:prstGeom prst="rect">
            <a:avLst/>
          </a:prstGeom>
          <a:noFill/>
          <a:ln/>
        </p:spPr>
        <p:txBody>
          <a:bodyPr wrap="square" lIns="0" tIns="0" rIns="0" bIns="0" rtlCol="0" anchor="ctr"/>
          <a:lstStyle/>
          <a:p>
            <a:pPr indent="0" marL="0">
              <a:buNone/>
            </a:pPr>
            <a:r>
              <a:rPr lang="en-US" sz="1450" b="1" dirty="0">
                <a:solidFill>
                  <a:srgbClr val="1B2A33"/>
                </a:solidFill>
                <a:latin typeface="Calibri" pitchFamily="34" charset="0"/>
                <a:ea typeface="Calibri" pitchFamily="34" charset="-122"/>
                <a:cs typeface="Calibri" pitchFamily="34" charset="-120"/>
              </a:rPr>
              <a:t>Guardrail</a:t>
            </a:r>
            <a:endParaRPr lang="en-US" sz="1450" dirty="0"/>
          </a:p>
        </p:txBody>
      </p:sp>
      <p:sp>
        <p:nvSpPr>
          <p:cNvPr id="29" name="Text 26"/>
          <p:cNvSpPr/>
          <p:nvPr/>
        </p:nvSpPr>
        <p:spPr>
          <a:xfrm>
            <a:off x="1280160" y="5431536"/>
            <a:ext cx="5715000" cy="310896"/>
          </a:xfrm>
          <a:prstGeom prst="rect">
            <a:avLst/>
          </a:prstGeom>
          <a:noFill/>
          <a:ln/>
        </p:spPr>
        <p:txBody>
          <a:bodyPr wrap="square" lIns="0" tIns="0" rIns="0" bIns="0" rtlCol="0" anchor="ctr"/>
          <a:lstStyle/>
          <a:p>
            <a:pPr indent="0" marL="0">
              <a:buNone/>
            </a:pPr>
            <a:r>
              <a:rPr lang="en-US" sz="1080" dirty="0">
                <a:solidFill>
                  <a:srgbClr val="5B6B73"/>
                </a:solidFill>
                <a:latin typeface="Calibri" pitchFamily="34" charset="0"/>
                <a:ea typeface="Calibri" pitchFamily="34" charset="-122"/>
                <a:cs typeface="Calibri" pitchFamily="34" charset="-120"/>
              </a:rPr>
              <a:t>Age-restriction, hallucination &amp; image-match checks; low-confidence routing</a:t>
            </a:r>
            <a:endParaRPr lang="en-US" sz="1080" dirty="0"/>
          </a:p>
        </p:txBody>
      </p:sp>
      <p:sp>
        <p:nvSpPr>
          <p:cNvPr id="30" name="Shape 27"/>
          <p:cNvSpPr/>
          <p:nvPr/>
        </p:nvSpPr>
        <p:spPr>
          <a:xfrm>
            <a:off x="548640" y="5852160"/>
            <a:ext cx="6583680" cy="749808"/>
          </a:xfrm>
          <a:prstGeom prst="roundRect">
            <a:avLst>
              <a:gd name="adj" fmla="val 9756"/>
            </a:avLst>
          </a:prstGeom>
          <a:solidFill>
            <a:srgbClr val="FFFFFF"/>
          </a:solidFill>
          <a:ln w="12700">
            <a:solidFill>
              <a:srgbClr val="DCE6E6"/>
            </a:solidFill>
            <a:prstDash val="solid"/>
          </a:ln>
        </p:spPr>
      </p:sp>
      <p:sp>
        <p:nvSpPr>
          <p:cNvPr id="31" name="Shape 28"/>
          <p:cNvSpPr/>
          <p:nvPr/>
        </p:nvSpPr>
        <p:spPr>
          <a:xfrm>
            <a:off x="685800" y="5998464"/>
            <a:ext cx="457200" cy="457200"/>
          </a:xfrm>
          <a:prstGeom prst="ellipse">
            <a:avLst/>
          </a:prstGeom>
          <a:solidFill>
            <a:srgbClr val="02C39A"/>
          </a:solidFill>
          <a:ln/>
        </p:spPr>
      </p:sp>
      <p:sp>
        <p:nvSpPr>
          <p:cNvPr id="32" name="Text 29"/>
          <p:cNvSpPr/>
          <p:nvPr/>
        </p:nvSpPr>
        <p:spPr>
          <a:xfrm>
            <a:off x="685800" y="5998464"/>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6</a:t>
            </a:r>
            <a:endParaRPr lang="en-US" sz="1700" dirty="0"/>
          </a:p>
        </p:txBody>
      </p:sp>
      <p:sp>
        <p:nvSpPr>
          <p:cNvPr id="33" name="Text 30"/>
          <p:cNvSpPr/>
          <p:nvPr/>
        </p:nvSpPr>
        <p:spPr>
          <a:xfrm>
            <a:off x="1280160" y="5925312"/>
            <a:ext cx="5669280" cy="329184"/>
          </a:xfrm>
          <a:prstGeom prst="rect">
            <a:avLst/>
          </a:prstGeom>
          <a:noFill/>
          <a:ln/>
        </p:spPr>
        <p:txBody>
          <a:bodyPr wrap="square" lIns="0" tIns="0" rIns="0" bIns="0" rtlCol="0" anchor="ctr"/>
          <a:lstStyle/>
          <a:p>
            <a:pPr indent="0" marL="0">
              <a:buNone/>
            </a:pPr>
            <a:r>
              <a:rPr lang="en-US" sz="1450" b="1" dirty="0">
                <a:solidFill>
                  <a:srgbClr val="1B2A33"/>
                </a:solidFill>
                <a:latin typeface="Calibri" pitchFamily="34" charset="0"/>
                <a:ea typeface="Calibri" pitchFamily="34" charset="-122"/>
                <a:cs typeface="Calibri" pitchFamily="34" charset="-120"/>
              </a:rPr>
              <a:t>Human review</a:t>
            </a:r>
            <a:endParaRPr lang="en-US" sz="1450" dirty="0"/>
          </a:p>
        </p:txBody>
      </p:sp>
      <p:sp>
        <p:nvSpPr>
          <p:cNvPr id="34" name="Text 31"/>
          <p:cNvSpPr/>
          <p:nvPr/>
        </p:nvSpPr>
        <p:spPr>
          <a:xfrm>
            <a:off x="1280160" y="6254496"/>
            <a:ext cx="5715000" cy="310896"/>
          </a:xfrm>
          <a:prstGeom prst="rect">
            <a:avLst/>
          </a:prstGeom>
          <a:noFill/>
          <a:ln/>
        </p:spPr>
        <p:txBody>
          <a:bodyPr wrap="square" lIns="0" tIns="0" rIns="0" bIns="0" rtlCol="0" anchor="ctr"/>
          <a:lstStyle/>
          <a:p>
            <a:pPr indent="0" marL="0">
              <a:buNone/>
            </a:pPr>
            <a:r>
              <a:rPr lang="en-US" sz="1080" dirty="0">
                <a:solidFill>
                  <a:srgbClr val="5B6B73"/>
                </a:solidFill>
                <a:latin typeface="Calibri" pitchFamily="34" charset="0"/>
                <a:ea typeface="Calibri" pitchFamily="34" charset="-122"/>
                <a:cs typeface="Calibri" pitchFamily="34" charset="-120"/>
              </a:rPr>
              <a:t>Owner edits / approves; corrections feed back as labelled data</a:t>
            </a:r>
            <a:endParaRPr lang="en-US" sz="1080" dirty="0"/>
          </a:p>
        </p:txBody>
      </p:sp>
      <p:sp>
        <p:nvSpPr>
          <p:cNvPr id="35" name="Text 32"/>
          <p:cNvSpPr/>
          <p:nvPr/>
        </p:nvSpPr>
        <p:spPr>
          <a:xfrm>
            <a:off x="11274552" y="6400800"/>
            <a:ext cx="457200" cy="274320"/>
          </a:xfrm>
          <a:prstGeom prst="rect">
            <a:avLst/>
          </a:prstGeom>
          <a:noFill/>
          <a:ln/>
        </p:spPr>
        <p:txBody>
          <a:bodyPr wrap="square" rtlCol="0" anchor="ctr"/>
          <a:lstStyle/>
          <a:p>
            <a:pPr algn="r" indent="0" marL="0">
              <a:buNone/>
            </a:pPr>
            <a:r>
              <a:rPr lang="en-US" sz="1000" dirty="0">
                <a:solidFill>
                  <a:srgbClr val="5B6B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7"/>
        </a:solidFill>
      </p:bgPr>
    </p:bg>
    <p:spTree>
      <p:nvGrpSpPr>
        <p:cNvPr id="1" name=""/>
        <p:cNvGrpSpPr/>
        <p:nvPr/>
      </p:nvGrpSpPr>
      <p:grpSpPr>
        <a:xfrm>
          <a:off x="0" y="0"/>
          <a:ext cx="0" cy="0"/>
          <a:chOff x="0" y="0"/>
          <a:chExt cx="0" cy="0"/>
        </a:xfrm>
      </p:grpSpPr>
      <p:sp>
        <p:nvSpPr>
          <p:cNvPr id="2" name="Text 0"/>
          <p:cNvSpPr/>
          <p:nvPr/>
        </p:nvSpPr>
        <p:spPr>
          <a:xfrm>
            <a:off x="548640" y="502920"/>
            <a:ext cx="8229600" cy="320040"/>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SYSTEM DESIGN</a:t>
            </a:r>
            <a:endParaRPr lang="en-US" sz="1200" dirty="0"/>
          </a:p>
        </p:txBody>
      </p:sp>
      <p:sp>
        <p:nvSpPr>
          <p:cNvPr id="3" name="Text 1"/>
          <p:cNvSpPr/>
          <p:nvPr/>
        </p:nvSpPr>
        <p:spPr>
          <a:xfrm>
            <a:off x="548640" y="777240"/>
            <a:ext cx="11091672" cy="822960"/>
          </a:xfrm>
          <a:prstGeom prst="rect">
            <a:avLst/>
          </a:prstGeom>
          <a:noFill/>
          <a:ln/>
        </p:spPr>
        <p:txBody>
          <a:bodyPr wrap="square" lIns="0" tIns="0" rIns="0" bIns="0" rtlCol="0" anchor="ctr"/>
          <a:lstStyle/>
          <a:p>
            <a:pPr indent="0" marL="0">
              <a:buNone/>
            </a:pPr>
            <a:r>
              <a:rPr lang="en-US" sz="3200" b="1" dirty="0">
                <a:solidFill>
                  <a:srgbClr val="1B2A33"/>
                </a:solidFill>
                <a:latin typeface="Cambria" pitchFamily="34" charset="0"/>
                <a:ea typeface="Cambria" pitchFamily="34" charset="-122"/>
                <a:cs typeface="Cambria" pitchFamily="34" charset="-120"/>
              </a:rPr>
              <a:t>What flows between the stages</a:t>
            </a:r>
            <a:endParaRPr lang="en-US" sz="3200" dirty="0"/>
          </a:p>
        </p:txBody>
      </p:sp>
      <p:pic>
        <p:nvPicPr>
          <p:cNvPr id="4" name="Image 0" descr="fig_dataflow.png">    </p:cNvPr>
          <p:cNvPicPr>
            <a:picLocks noChangeAspect="1"/>
          </p:cNvPicPr>
          <p:nvPr/>
        </p:nvPicPr>
        <p:blipFill>
          <a:blip r:embed="rId1"/>
          <a:stretch>
            <a:fillRect/>
          </a:stretch>
        </p:blipFill>
        <p:spPr>
          <a:xfrm>
            <a:off x="7680960" y="640080"/>
            <a:ext cx="3931920" cy="6144768"/>
          </a:xfrm>
          <a:prstGeom prst="rect">
            <a:avLst/>
          </a:prstGeom>
        </p:spPr>
      </p:pic>
      <p:sp>
        <p:nvSpPr>
          <p:cNvPr id="5" name="Text 2"/>
          <p:cNvSpPr/>
          <p:nvPr/>
        </p:nvSpPr>
        <p:spPr>
          <a:xfrm>
            <a:off x="548640" y="1737360"/>
            <a:ext cx="6675120" cy="822960"/>
          </a:xfrm>
          <a:prstGeom prst="rect">
            <a:avLst/>
          </a:prstGeom>
          <a:noFill/>
          <a:ln/>
        </p:spPr>
        <p:txBody>
          <a:bodyPr wrap="square" lIns="0" tIns="0" rIns="0" bIns="0" rtlCol="0" anchor="ctr"/>
          <a:lstStyle/>
          <a:p>
            <a:pPr indent="0" marL="0">
              <a:buNone/>
            </a:pPr>
            <a:r>
              <a:rPr lang="en-US" sz="1500" dirty="0">
                <a:solidFill>
                  <a:srgbClr val="1B2A33"/>
                </a:solidFill>
                <a:latin typeface="Calibri" pitchFamily="34" charset="0"/>
                <a:ea typeface="Calibri" pitchFamily="34" charset="-122"/>
                <a:cs typeface="Calibri" pitchFamily="34" charset="-120"/>
              </a:rPr>
              <a:t>Every stage exchanges a typed artifact — the interfaces are frozen so components can be built and tested independently.</a:t>
            </a:r>
            <a:endParaRPr lang="en-US" sz="1500" dirty="0"/>
          </a:p>
        </p:txBody>
      </p:sp>
      <p:sp>
        <p:nvSpPr>
          <p:cNvPr id="6" name="Shape 3"/>
          <p:cNvSpPr/>
          <p:nvPr/>
        </p:nvSpPr>
        <p:spPr>
          <a:xfrm>
            <a:off x="548640" y="2743200"/>
            <a:ext cx="6629400" cy="658368"/>
          </a:xfrm>
          <a:prstGeom prst="roundRect">
            <a:avLst>
              <a:gd name="adj" fmla="val 11111"/>
            </a:avLst>
          </a:prstGeom>
          <a:solidFill>
            <a:srgbClr val="E9F1F1"/>
          </a:solidFill>
          <a:ln w="12700">
            <a:solidFill>
              <a:srgbClr val="DCE6E6"/>
            </a:solidFill>
            <a:prstDash val="solid"/>
          </a:ln>
        </p:spPr>
      </p:sp>
      <p:sp>
        <p:nvSpPr>
          <p:cNvPr id="7" name="Text 4"/>
          <p:cNvSpPr/>
          <p:nvPr/>
        </p:nvSpPr>
        <p:spPr>
          <a:xfrm>
            <a:off x="731520" y="2743200"/>
            <a:ext cx="1828800" cy="658368"/>
          </a:xfrm>
          <a:prstGeom prst="rect">
            <a:avLst/>
          </a:prstGeom>
          <a:noFill/>
          <a:ln/>
        </p:spPr>
        <p:txBody>
          <a:bodyPr wrap="square" lIns="635" tIns="635" rIns="635" bIns="635" rtlCol="0" anchor="ctr"/>
          <a:lstStyle/>
          <a:p>
            <a:pPr indent="0" marL="0">
              <a:buNone/>
            </a:pPr>
            <a:r>
              <a:rPr lang="en-US" sz="1500" b="1" dirty="0">
                <a:solidFill>
                  <a:srgbClr val="028090"/>
                </a:solidFill>
                <a:latin typeface="Cambria" pitchFamily="34" charset="0"/>
                <a:ea typeface="Cambria" pitchFamily="34" charset="-122"/>
                <a:cs typeface="Cambria" pitchFamily="34" charset="-120"/>
              </a:rPr>
              <a:t>Photo</a:t>
            </a:r>
            <a:endParaRPr lang="en-US" sz="1500" dirty="0"/>
          </a:p>
        </p:txBody>
      </p:sp>
      <p:sp>
        <p:nvSpPr>
          <p:cNvPr id="8" name="Text 5"/>
          <p:cNvSpPr/>
          <p:nvPr/>
        </p:nvSpPr>
        <p:spPr>
          <a:xfrm>
            <a:off x="2514600" y="2743200"/>
            <a:ext cx="4572000" cy="658368"/>
          </a:xfrm>
          <a:prstGeom prst="rect">
            <a:avLst/>
          </a:prstGeom>
          <a:noFill/>
          <a:ln/>
        </p:spPr>
        <p:txBody>
          <a:bodyPr wrap="square" lIns="635" tIns="635" rIns="635" bIns="635" rtlCol="0" anchor="ctr"/>
          <a:lstStyle/>
          <a:p>
            <a:pPr indent="0" marL="0">
              <a:buNone/>
            </a:pPr>
            <a:r>
              <a:rPr lang="en-US" sz="1150" dirty="0">
                <a:solidFill>
                  <a:srgbClr val="1B2A33"/>
                </a:solidFill>
                <a:latin typeface="Calibri" pitchFamily="34" charset="0"/>
                <a:ea typeface="Calibri" pitchFamily="34" charset="-122"/>
                <a:cs typeface="Calibri" pitchFamily="34" charset="-120"/>
              </a:rPr>
              <a:t>normalised image + optional barcode crop</a:t>
            </a:r>
            <a:endParaRPr lang="en-US" sz="1150" dirty="0"/>
          </a:p>
        </p:txBody>
      </p:sp>
      <p:sp>
        <p:nvSpPr>
          <p:cNvPr id="9" name="Shape 6"/>
          <p:cNvSpPr/>
          <p:nvPr/>
        </p:nvSpPr>
        <p:spPr>
          <a:xfrm>
            <a:off x="548640" y="3493008"/>
            <a:ext cx="6629400" cy="658368"/>
          </a:xfrm>
          <a:prstGeom prst="roundRect">
            <a:avLst>
              <a:gd name="adj" fmla="val 11111"/>
            </a:avLst>
          </a:prstGeom>
          <a:solidFill>
            <a:srgbClr val="FFFFFF"/>
          </a:solidFill>
          <a:ln w="12700">
            <a:solidFill>
              <a:srgbClr val="DCE6E6"/>
            </a:solidFill>
            <a:prstDash val="solid"/>
          </a:ln>
        </p:spPr>
      </p:sp>
      <p:sp>
        <p:nvSpPr>
          <p:cNvPr id="10" name="Text 7"/>
          <p:cNvSpPr/>
          <p:nvPr/>
        </p:nvSpPr>
        <p:spPr>
          <a:xfrm>
            <a:off x="731520" y="3493008"/>
            <a:ext cx="1828800" cy="658368"/>
          </a:xfrm>
          <a:prstGeom prst="rect">
            <a:avLst/>
          </a:prstGeom>
          <a:noFill/>
          <a:ln/>
        </p:spPr>
        <p:txBody>
          <a:bodyPr wrap="square" lIns="635" tIns="635" rIns="635" bIns="635" rtlCol="0" anchor="ctr"/>
          <a:lstStyle/>
          <a:p>
            <a:pPr indent="0" marL="0">
              <a:buNone/>
            </a:pPr>
            <a:r>
              <a:rPr lang="en-US" sz="1500" b="1" dirty="0">
                <a:solidFill>
                  <a:srgbClr val="028090"/>
                </a:solidFill>
                <a:latin typeface="Cambria" pitchFamily="34" charset="0"/>
                <a:ea typeface="Cambria" pitchFamily="34" charset="-122"/>
                <a:cs typeface="Cambria" pitchFamily="34" charset="-120"/>
              </a:rPr>
              <a:t>Identity</a:t>
            </a:r>
            <a:endParaRPr lang="en-US" sz="1500" dirty="0"/>
          </a:p>
        </p:txBody>
      </p:sp>
      <p:sp>
        <p:nvSpPr>
          <p:cNvPr id="11" name="Text 8"/>
          <p:cNvSpPr/>
          <p:nvPr/>
        </p:nvSpPr>
        <p:spPr>
          <a:xfrm>
            <a:off x="2514600" y="3493008"/>
            <a:ext cx="4572000" cy="658368"/>
          </a:xfrm>
          <a:prstGeom prst="rect">
            <a:avLst/>
          </a:prstGeom>
          <a:noFill/>
          <a:ln/>
        </p:spPr>
        <p:txBody>
          <a:bodyPr wrap="square" lIns="635" tIns="635" rIns="635" bIns="635" rtlCol="0" anchor="ctr"/>
          <a:lstStyle/>
          <a:p>
            <a:pPr indent="0" marL="0">
              <a:buNone/>
            </a:pPr>
            <a:r>
              <a:rPr lang="en-US" sz="1150" dirty="0">
                <a:solidFill>
                  <a:srgbClr val="1B2A33"/>
                </a:solidFill>
                <a:latin typeface="Calibri" pitchFamily="34" charset="0"/>
                <a:ea typeface="Calibri" pitchFamily="34" charset="-122"/>
                <a:cs typeface="Calibri" pitchFamily="34" charset="-120"/>
              </a:rPr>
              <a:t>brand · product · variant · size · category · confidence · query</a:t>
            </a:r>
            <a:endParaRPr lang="en-US" sz="1150" dirty="0"/>
          </a:p>
        </p:txBody>
      </p:sp>
      <p:sp>
        <p:nvSpPr>
          <p:cNvPr id="12" name="Shape 9"/>
          <p:cNvSpPr/>
          <p:nvPr/>
        </p:nvSpPr>
        <p:spPr>
          <a:xfrm>
            <a:off x="548640" y="4242816"/>
            <a:ext cx="6629400" cy="658368"/>
          </a:xfrm>
          <a:prstGeom prst="roundRect">
            <a:avLst>
              <a:gd name="adj" fmla="val 11111"/>
            </a:avLst>
          </a:prstGeom>
          <a:solidFill>
            <a:srgbClr val="E9F1F1"/>
          </a:solidFill>
          <a:ln w="12700">
            <a:solidFill>
              <a:srgbClr val="DCE6E6"/>
            </a:solidFill>
            <a:prstDash val="solid"/>
          </a:ln>
        </p:spPr>
      </p:sp>
      <p:sp>
        <p:nvSpPr>
          <p:cNvPr id="13" name="Text 10"/>
          <p:cNvSpPr/>
          <p:nvPr/>
        </p:nvSpPr>
        <p:spPr>
          <a:xfrm>
            <a:off x="731520" y="4242816"/>
            <a:ext cx="1828800" cy="658368"/>
          </a:xfrm>
          <a:prstGeom prst="rect">
            <a:avLst/>
          </a:prstGeom>
          <a:noFill/>
          <a:ln/>
        </p:spPr>
        <p:txBody>
          <a:bodyPr wrap="square" lIns="635" tIns="635" rIns="635" bIns="635" rtlCol="0" anchor="ctr"/>
          <a:lstStyle/>
          <a:p>
            <a:pPr indent="0" marL="0">
              <a:buNone/>
            </a:pPr>
            <a:r>
              <a:rPr lang="en-US" sz="1500" b="1" dirty="0">
                <a:solidFill>
                  <a:srgbClr val="028090"/>
                </a:solidFill>
                <a:latin typeface="Cambria" pitchFamily="34" charset="0"/>
                <a:ea typeface="Cambria" pitchFamily="34" charset="-122"/>
                <a:cs typeface="Cambria" pitchFamily="34" charset="-120"/>
              </a:rPr>
              <a:t>Bundle</a:t>
            </a:r>
            <a:endParaRPr lang="en-US" sz="1500" dirty="0"/>
          </a:p>
        </p:txBody>
      </p:sp>
      <p:sp>
        <p:nvSpPr>
          <p:cNvPr id="14" name="Text 11"/>
          <p:cNvSpPr/>
          <p:nvPr/>
        </p:nvSpPr>
        <p:spPr>
          <a:xfrm>
            <a:off x="2514600" y="4242816"/>
            <a:ext cx="4572000" cy="658368"/>
          </a:xfrm>
          <a:prstGeom prst="rect">
            <a:avLst/>
          </a:prstGeom>
          <a:noFill/>
          <a:ln/>
        </p:spPr>
        <p:txBody>
          <a:bodyPr wrap="square" lIns="635" tIns="635" rIns="635" bIns="635" rtlCol="0" anchor="ctr"/>
          <a:lstStyle/>
          <a:p>
            <a:pPr indent="0" marL="0">
              <a:buNone/>
            </a:pPr>
            <a:r>
              <a:rPr lang="en-US" sz="1150" dirty="0">
                <a:solidFill>
                  <a:srgbClr val="1B2A33"/>
                </a:solidFill>
                <a:latin typeface="Calibri" pitchFamily="34" charset="0"/>
                <a:ea typeface="Calibri" pitchFamily="34" charset="-122"/>
                <a:cs typeface="Calibri" pitchFamily="34" charset="-120"/>
              </a:rPr>
              <a:t>canonical name · price + currency · candidate images · ambiguity flag</a:t>
            </a:r>
            <a:endParaRPr lang="en-US" sz="1150" dirty="0"/>
          </a:p>
        </p:txBody>
      </p:sp>
      <p:sp>
        <p:nvSpPr>
          <p:cNvPr id="15" name="Shape 12"/>
          <p:cNvSpPr/>
          <p:nvPr/>
        </p:nvSpPr>
        <p:spPr>
          <a:xfrm>
            <a:off x="548640" y="4992624"/>
            <a:ext cx="6629400" cy="658368"/>
          </a:xfrm>
          <a:prstGeom prst="roundRect">
            <a:avLst>
              <a:gd name="adj" fmla="val 11111"/>
            </a:avLst>
          </a:prstGeom>
          <a:solidFill>
            <a:srgbClr val="FFFFFF"/>
          </a:solidFill>
          <a:ln w="12700">
            <a:solidFill>
              <a:srgbClr val="DCE6E6"/>
            </a:solidFill>
            <a:prstDash val="solid"/>
          </a:ln>
        </p:spPr>
      </p:sp>
      <p:sp>
        <p:nvSpPr>
          <p:cNvPr id="16" name="Text 13"/>
          <p:cNvSpPr/>
          <p:nvPr/>
        </p:nvSpPr>
        <p:spPr>
          <a:xfrm>
            <a:off x="731520" y="4992624"/>
            <a:ext cx="1828800" cy="658368"/>
          </a:xfrm>
          <a:prstGeom prst="rect">
            <a:avLst/>
          </a:prstGeom>
          <a:noFill/>
          <a:ln/>
        </p:spPr>
        <p:txBody>
          <a:bodyPr wrap="square" lIns="635" tIns="635" rIns="635" bIns="635" rtlCol="0" anchor="ctr"/>
          <a:lstStyle/>
          <a:p>
            <a:pPr indent="0" marL="0">
              <a:buNone/>
            </a:pPr>
            <a:r>
              <a:rPr lang="en-US" sz="1500" b="1" dirty="0">
                <a:solidFill>
                  <a:srgbClr val="028090"/>
                </a:solidFill>
                <a:latin typeface="Cambria" pitchFamily="34" charset="0"/>
                <a:ea typeface="Cambria" pitchFamily="34" charset="-122"/>
                <a:cs typeface="Cambria" pitchFamily="34" charset="-120"/>
              </a:rPr>
              <a:t>Draft listing</a:t>
            </a:r>
            <a:endParaRPr lang="en-US" sz="1500" dirty="0"/>
          </a:p>
        </p:txBody>
      </p:sp>
      <p:sp>
        <p:nvSpPr>
          <p:cNvPr id="17" name="Text 14"/>
          <p:cNvSpPr/>
          <p:nvPr/>
        </p:nvSpPr>
        <p:spPr>
          <a:xfrm>
            <a:off x="2514600" y="4992624"/>
            <a:ext cx="4572000" cy="658368"/>
          </a:xfrm>
          <a:prstGeom prst="rect">
            <a:avLst/>
          </a:prstGeom>
          <a:noFill/>
          <a:ln/>
        </p:spPr>
        <p:txBody>
          <a:bodyPr wrap="square" lIns="635" tIns="635" rIns="635" bIns="635" rtlCol="0" anchor="ctr"/>
          <a:lstStyle/>
          <a:p>
            <a:pPr indent="0" marL="0">
              <a:buNone/>
            </a:pPr>
            <a:r>
              <a:rPr lang="en-US" sz="1150" dirty="0">
                <a:solidFill>
                  <a:srgbClr val="1B2A33"/>
                </a:solidFill>
                <a:latin typeface="Calibri" pitchFamily="34" charset="0"/>
                <a:ea typeface="Calibri" pitchFamily="34" charset="-122"/>
                <a:cs typeface="Calibri" pitchFamily="34" charset="-120"/>
              </a:rPr>
              <a:t>title · description · suggested price · best image</a:t>
            </a:r>
            <a:endParaRPr lang="en-US" sz="1150" dirty="0"/>
          </a:p>
        </p:txBody>
      </p:sp>
      <p:sp>
        <p:nvSpPr>
          <p:cNvPr id="18" name="Shape 15"/>
          <p:cNvSpPr/>
          <p:nvPr/>
        </p:nvSpPr>
        <p:spPr>
          <a:xfrm>
            <a:off x="548640" y="5742432"/>
            <a:ext cx="6629400" cy="658368"/>
          </a:xfrm>
          <a:prstGeom prst="roundRect">
            <a:avLst>
              <a:gd name="adj" fmla="val 11111"/>
            </a:avLst>
          </a:prstGeom>
          <a:solidFill>
            <a:srgbClr val="E9F1F1"/>
          </a:solidFill>
          <a:ln w="12700">
            <a:solidFill>
              <a:srgbClr val="DCE6E6"/>
            </a:solidFill>
            <a:prstDash val="solid"/>
          </a:ln>
        </p:spPr>
      </p:sp>
      <p:sp>
        <p:nvSpPr>
          <p:cNvPr id="19" name="Text 16"/>
          <p:cNvSpPr/>
          <p:nvPr/>
        </p:nvSpPr>
        <p:spPr>
          <a:xfrm>
            <a:off x="731520" y="5742432"/>
            <a:ext cx="1828800" cy="658368"/>
          </a:xfrm>
          <a:prstGeom prst="rect">
            <a:avLst/>
          </a:prstGeom>
          <a:noFill/>
          <a:ln/>
        </p:spPr>
        <p:txBody>
          <a:bodyPr wrap="square" lIns="635" tIns="635" rIns="635" bIns="635" rtlCol="0" anchor="ctr"/>
          <a:lstStyle/>
          <a:p>
            <a:pPr indent="0" marL="0">
              <a:buNone/>
            </a:pPr>
            <a:r>
              <a:rPr lang="en-US" sz="1500" b="1" dirty="0">
                <a:solidFill>
                  <a:srgbClr val="028090"/>
                </a:solidFill>
                <a:latin typeface="Cambria" pitchFamily="34" charset="0"/>
                <a:ea typeface="Cambria" pitchFamily="34" charset="-122"/>
                <a:cs typeface="Cambria" pitchFamily="34" charset="-120"/>
              </a:rPr>
              <a:t>Flags</a:t>
            </a:r>
            <a:endParaRPr lang="en-US" sz="1500" dirty="0"/>
          </a:p>
        </p:txBody>
      </p:sp>
      <p:sp>
        <p:nvSpPr>
          <p:cNvPr id="20" name="Text 17"/>
          <p:cNvSpPr/>
          <p:nvPr/>
        </p:nvSpPr>
        <p:spPr>
          <a:xfrm>
            <a:off x="2514600" y="5742432"/>
            <a:ext cx="4572000" cy="658368"/>
          </a:xfrm>
          <a:prstGeom prst="rect">
            <a:avLst/>
          </a:prstGeom>
          <a:noFill/>
          <a:ln/>
        </p:spPr>
        <p:txBody>
          <a:bodyPr wrap="square" lIns="635" tIns="635" rIns="635" bIns="635" rtlCol="0" anchor="ctr"/>
          <a:lstStyle/>
          <a:p>
            <a:pPr indent="0" marL="0">
              <a:buNone/>
            </a:pPr>
            <a:r>
              <a:rPr lang="en-US" sz="1150" dirty="0">
                <a:solidFill>
                  <a:srgbClr val="1B2A33"/>
                </a:solidFill>
                <a:latin typeface="Calibri" pitchFamily="34" charset="0"/>
                <a:ea typeface="Calibri" pitchFamily="34" charset="-122"/>
                <a:cs typeface="Calibri" pitchFamily="34" charset="-120"/>
              </a:rPr>
              <a:t>age-restricted · claim-grounded · image-swapped · route-to-review</a:t>
            </a:r>
            <a:endParaRPr lang="en-US" sz="1150" dirty="0"/>
          </a:p>
        </p:txBody>
      </p:sp>
      <p:sp>
        <p:nvSpPr>
          <p:cNvPr id="21" name="Text 18"/>
          <p:cNvSpPr/>
          <p:nvPr/>
        </p:nvSpPr>
        <p:spPr>
          <a:xfrm>
            <a:off x="11274552" y="6400800"/>
            <a:ext cx="457200" cy="274320"/>
          </a:xfrm>
          <a:prstGeom prst="rect">
            <a:avLst/>
          </a:prstGeom>
          <a:noFill/>
          <a:ln/>
        </p:spPr>
        <p:txBody>
          <a:bodyPr wrap="square" rtlCol="0" anchor="ctr"/>
          <a:lstStyle/>
          <a:p>
            <a:pPr algn="r" indent="0" marL="0">
              <a:buNone/>
            </a:pPr>
            <a:r>
              <a:rPr lang="en-US" sz="1000" dirty="0">
                <a:solidFill>
                  <a:srgbClr val="5B6B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7"/>
        </a:solidFill>
      </p:bgPr>
    </p:bg>
    <p:spTree>
      <p:nvGrpSpPr>
        <p:cNvPr id="1" name=""/>
        <p:cNvGrpSpPr/>
        <p:nvPr/>
      </p:nvGrpSpPr>
      <p:grpSpPr>
        <a:xfrm>
          <a:off x="0" y="0"/>
          <a:ext cx="0" cy="0"/>
          <a:chOff x="0" y="0"/>
          <a:chExt cx="0" cy="0"/>
        </a:xfrm>
      </p:grpSpPr>
      <p:sp>
        <p:nvSpPr>
          <p:cNvPr id="2" name="Text 0"/>
          <p:cNvSpPr/>
          <p:nvPr/>
        </p:nvSpPr>
        <p:spPr>
          <a:xfrm>
            <a:off x="548640" y="502920"/>
            <a:ext cx="8229600" cy="320040"/>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METHODOLOGY</a:t>
            </a:r>
            <a:endParaRPr lang="en-US" sz="1200" dirty="0"/>
          </a:p>
        </p:txBody>
      </p:sp>
      <p:sp>
        <p:nvSpPr>
          <p:cNvPr id="3" name="Text 1"/>
          <p:cNvSpPr/>
          <p:nvPr/>
        </p:nvSpPr>
        <p:spPr>
          <a:xfrm>
            <a:off x="548640" y="777240"/>
            <a:ext cx="11091672" cy="822960"/>
          </a:xfrm>
          <a:prstGeom prst="rect">
            <a:avLst/>
          </a:prstGeom>
          <a:noFill/>
          <a:ln/>
        </p:spPr>
        <p:txBody>
          <a:bodyPr wrap="square" lIns="0" tIns="0" rIns="0" bIns="0" rtlCol="0" anchor="ctr"/>
          <a:lstStyle/>
          <a:p>
            <a:pPr indent="0" marL="0">
              <a:buNone/>
            </a:pPr>
            <a:r>
              <a:rPr lang="en-US" sz="3200" b="1" dirty="0">
                <a:solidFill>
                  <a:srgbClr val="1B2A33"/>
                </a:solidFill>
                <a:latin typeface="Cambria" pitchFamily="34" charset="0"/>
                <a:ea typeface="Cambria" pitchFamily="34" charset="-122"/>
                <a:cs typeface="Cambria" pitchFamily="34" charset="-120"/>
              </a:rPr>
              <a:t>CRISP-DM, adapted for assembled pretrained components</a:t>
            </a:r>
            <a:endParaRPr lang="en-US" sz="3200" dirty="0"/>
          </a:p>
        </p:txBody>
      </p:sp>
      <p:sp>
        <p:nvSpPr>
          <p:cNvPr id="4" name="Shape 2"/>
          <p:cNvSpPr/>
          <p:nvPr/>
        </p:nvSpPr>
        <p:spPr>
          <a:xfrm>
            <a:off x="548640" y="1920240"/>
            <a:ext cx="3566160" cy="1965960"/>
          </a:xfrm>
          <a:prstGeom prst="roundRect">
            <a:avLst>
              <a:gd name="adj" fmla="val 4186"/>
            </a:avLst>
          </a:prstGeom>
          <a:solidFill>
            <a:srgbClr val="FFFFFF"/>
          </a:solidFill>
          <a:ln w="12700">
            <a:solidFill>
              <a:srgbClr val="DCE6E6"/>
            </a:solidFill>
            <a:prstDash val="solid"/>
          </a:ln>
        </p:spPr>
      </p:sp>
      <p:sp>
        <p:nvSpPr>
          <p:cNvPr id="5" name="Shape 3"/>
          <p:cNvSpPr/>
          <p:nvPr/>
        </p:nvSpPr>
        <p:spPr>
          <a:xfrm>
            <a:off x="822960" y="2194560"/>
            <a:ext cx="548640" cy="548640"/>
          </a:xfrm>
          <a:prstGeom prst="ellipse">
            <a:avLst/>
          </a:prstGeom>
          <a:solidFill>
            <a:srgbClr val="028090"/>
          </a:solidFill>
          <a:ln/>
        </p:spPr>
      </p:sp>
      <p:sp>
        <p:nvSpPr>
          <p:cNvPr id="6" name="Text 4"/>
          <p:cNvSpPr/>
          <p:nvPr/>
        </p:nvSpPr>
        <p:spPr>
          <a:xfrm>
            <a:off x="822960" y="2194560"/>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7" name="Text 5"/>
          <p:cNvSpPr/>
          <p:nvPr/>
        </p:nvSpPr>
        <p:spPr>
          <a:xfrm>
            <a:off x="822960" y="2880360"/>
            <a:ext cx="3017520" cy="457200"/>
          </a:xfrm>
          <a:prstGeom prst="rect">
            <a:avLst/>
          </a:prstGeom>
          <a:noFill/>
          <a:ln/>
        </p:spPr>
        <p:txBody>
          <a:bodyPr wrap="square" lIns="0" tIns="0" rIns="0" bIns="0" rtlCol="0" anchor="ctr"/>
          <a:lstStyle/>
          <a:p>
            <a:pPr indent="0" marL="0">
              <a:buNone/>
            </a:pPr>
            <a:r>
              <a:rPr lang="en-US" sz="1550" b="1" dirty="0">
                <a:solidFill>
                  <a:srgbClr val="1B2A33"/>
                </a:solidFill>
                <a:latin typeface="Cambria" pitchFamily="34" charset="0"/>
                <a:ea typeface="Cambria" pitchFamily="34" charset="-122"/>
                <a:cs typeface="Cambria" pitchFamily="34" charset="-120"/>
              </a:rPr>
              <a:t>Problem understanding</a:t>
            </a:r>
            <a:endParaRPr lang="en-US" sz="1550" dirty="0"/>
          </a:p>
        </p:txBody>
      </p:sp>
      <p:sp>
        <p:nvSpPr>
          <p:cNvPr id="8" name="Text 6"/>
          <p:cNvSpPr/>
          <p:nvPr/>
        </p:nvSpPr>
        <p:spPr>
          <a:xfrm>
            <a:off x="822960" y="3291840"/>
            <a:ext cx="3063240" cy="548640"/>
          </a:xfrm>
          <a:prstGeom prst="rect">
            <a:avLst/>
          </a:prstGeom>
          <a:noFill/>
          <a:ln/>
        </p:spPr>
        <p:txBody>
          <a:bodyPr wrap="square" lIns="0" tIns="0" rIns="0" bIns="0" rtlCol="0" anchor="ctr"/>
          <a:lstStyle/>
          <a:p>
            <a:pPr indent="0" marL="0">
              <a:buNone/>
            </a:pPr>
            <a:r>
              <a:rPr lang="en-US" sz="1150" dirty="0">
                <a:solidFill>
                  <a:srgbClr val="5B6B73"/>
                </a:solidFill>
                <a:latin typeface="Calibri" pitchFamily="34" charset="0"/>
                <a:ea typeface="Calibri" pitchFamily="34" charset="-122"/>
                <a:cs typeface="Calibri" pitchFamily="34" charset="-120"/>
              </a:rPr>
              <a:t>Lock category, success criteria, responsible-AI requirements</a:t>
            </a:r>
            <a:endParaRPr lang="en-US" sz="1150" dirty="0"/>
          </a:p>
        </p:txBody>
      </p:sp>
      <p:sp>
        <p:nvSpPr>
          <p:cNvPr id="9" name="Shape 7"/>
          <p:cNvSpPr/>
          <p:nvPr/>
        </p:nvSpPr>
        <p:spPr>
          <a:xfrm>
            <a:off x="4251960" y="1920240"/>
            <a:ext cx="3566160" cy="1965960"/>
          </a:xfrm>
          <a:prstGeom prst="roundRect">
            <a:avLst>
              <a:gd name="adj" fmla="val 4186"/>
            </a:avLst>
          </a:prstGeom>
          <a:solidFill>
            <a:srgbClr val="FFFFFF"/>
          </a:solidFill>
          <a:ln w="12700">
            <a:solidFill>
              <a:srgbClr val="DCE6E6"/>
            </a:solidFill>
            <a:prstDash val="solid"/>
          </a:ln>
        </p:spPr>
      </p:sp>
      <p:sp>
        <p:nvSpPr>
          <p:cNvPr id="10" name="Shape 8"/>
          <p:cNvSpPr/>
          <p:nvPr/>
        </p:nvSpPr>
        <p:spPr>
          <a:xfrm>
            <a:off x="4526280" y="2194560"/>
            <a:ext cx="548640" cy="548640"/>
          </a:xfrm>
          <a:prstGeom prst="ellipse">
            <a:avLst/>
          </a:prstGeom>
          <a:solidFill>
            <a:srgbClr val="00A896"/>
          </a:solidFill>
          <a:ln/>
        </p:spPr>
      </p:sp>
      <p:sp>
        <p:nvSpPr>
          <p:cNvPr id="11" name="Text 9"/>
          <p:cNvSpPr/>
          <p:nvPr/>
        </p:nvSpPr>
        <p:spPr>
          <a:xfrm>
            <a:off x="4526280" y="2194560"/>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2" name="Text 10"/>
          <p:cNvSpPr/>
          <p:nvPr/>
        </p:nvSpPr>
        <p:spPr>
          <a:xfrm>
            <a:off x="4526280" y="2880360"/>
            <a:ext cx="3017520" cy="457200"/>
          </a:xfrm>
          <a:prstGeom prst="rect">
            <a:avLst/>
          </a:prstGeom>
          <a:noFill/>
          <a:ln/>
        </p:spPr>
        <p:txBody>
          <a:bodyPr wrap="square" lIns="0" tIns="0" rIns="0" bIns="0" rtlCol="0" anchor="ctr"/>
          <a:lstStyle/>
          <a:p>
            <a:pPr indent="0" marL="0">
              <a:buNone/>
            </a:pPr>
            <a:r>
              <a:rPr lang="en-US" sz="1550" b="1" dirty="0">
                <a:solidFill>
                  <a:srgbClr val="1B2A33"/>
                </a:solidFill>
                <a:latin typeface="Cambria" pitchFamily="34" charset="0"/>
                <a:ea typeface="Cambria" pitchFamily="34" charset="-122"/>
                <a:cs typeface="Cambria" pitchFamily="34" charset="-120"/>
              </a:rPr>
              <a:t>Data understanding</a:t>
            </a:r>
            <a:endParaRPr lang="en-US" sz="1550" dirty="0"/>
          </a:p>
        </p:txBody>
      </p:sp>
      <p:sp>
        <p:nvSpPr>
          <p:cNvPr id="13" name="Text 11"/>
          <p:cNvSpPr/>
          <p:nvPr/>
        </p:nvSpPr>
        <p:spPr>
          <a:xfrm>
            <a:off x="4526280" y="3291840"/>
            <a:ext cx="3063240" cy="548640"/>
          </a:xfrm>
          <a:prstGeom prst="rect">
            <a:avLst/>
          </a:prstGeom>
          <a:noFill/>
          <a:ln/>
        </p:spPr>
        <p:txBody>
          <a:bodyPr wrap="square" lIns="0" tIns="0" rIns="0" bIns="0" rtlCol="0" anchor="ctr"/>
          <a:lstStyle/>
          <a:p>
            <a:pPr indent="0" marL="0">
              <a:buNone/>
            </a:pPr>
            <a:r>
              <a:rPr lang="en-US" sz="1150" dirty="0">
                <a:solidFill>
                  <a:srgbClr val="5B6B73"/>
                </a:solidFill>
                <a:latin typeface="Calibri" pitchFamily="34" charset="0"/>
                <a:ea typeface="Calibri" pitchFamily="34" charset="-122"/>
                <a:cs typeface="Calibri" pitchFamily="34" charset="-120"/>
              </a:rPr>
              <a:t>Assemble &amp; profile candidate images and price references; find look-alike clusters</a:t>
            </a:r>
            <a:endParaRPr lang="en-US" sz="1150" dirty="0"/>
          </a:p>
        </p:txBody>
      </p:sp>
      <p:sp>
        <p:nvSpPr>
          <p:cNvPr id="14" name="Shape 12"/>
          <p:cNvSpPr/>
          <p:nvPr/>
        </p:nvSpPr>
        <p:spPr>
          <a:xfrm>
            <a:off x="7955280" y="1920240"/>
            <a:ext cx="3566160" cy="1965960"/>
          </a:xfrm>
          <a:prstGeom prst="roundRect">
            <a:avLst>
              <a:gd name="adj" fmla="val 4186"/>
            </a:avLst>
          </a:prstGeom>
          <a:solidFill>
            <a:srgbClr val="FFFFFF"/>
          </a:solidFill>
          <a:ln w="12700">
            <a:solidFill>
              <a:srgbClr val="DCE6E6"/>
            </a:solidFill>
            <a:prstDash val="solid"/>
          </a:ln>
        </p:spPr>
      </p:sp>
      <p:sp>
        <p:nvSpPr>
          <p:cNvPr id="15" name="Shape 13"/>
          <p:cNvSpPr/>
          <p:nvPr/>
        </p:nvSpPr>
        <p:spPr>
          <a:xfrm>
            <a:off x="8229600" y="2194560"/>
            <a:ext cx="548640" cy="548640"/>
          </a:xfrm>
          <a:prstGeom prst="ellipse">
            <a:avLst/>
          </a:prstGeom>
          <a:solidFill>
            <a:srgbClr val="02C39A"/>
          </a:solidFill>
          <a:ln/>
        </p:spPr>
      </p:sp>
      <p:sp>
        <p:nvSpPr>
          <p:cNvPr id="16" name="Text 14"/>
          <p:cNvSpPr/>
          <p:nvPr/>
        </p:nvSpPr>
        <p:spPr>
          <a:xfrm>
            <a:off x="8229600" y="2194560"/>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7" name="Text 15"/>
          <p:cNvSpPr/>
          <p:nvPr/>
        </p:nvSpPr>
        <p:spPr>
          <a:xfrm>
            <a:off x="8229600" y="2880360"/>
            <a:ext cx="3017520" cy="457200"/>
          </a:xfrm>
          <a:prstGeom prst="rect">
            <a:avLst/>
          </a:prstGeom>
          <a:noFill/>
          <a:ln/>
        </p:spPr>
        <p:txBody>
          <a:bodyPr wrap="square" lIns="0" tIns="0" rIns="0" bIns="0" rtlCol="0" anchor="ctr"/>
          <a:lstStyle/>
          <a:p>
            <a:pPr indent="0" marL="0">
              <a:buNone/>
            </a:pPr>
            <a:r>
              <a:rPr lang="en-US" sz="1550" b="1" dirty="0">
                <a:solidFill>
                  <a:srgbClr val="1B2A33"/>
                </a:solidFill>
                <a:latin typeface="Cambria" pitchFamily="34" charset="0"/>
                <a:ea typeface="Cambria" pitchFamily="34" charset="-122"/>
                <a:cs typeface="Cambria" pitchFamily="34" charset="-120"/>
              </a:rPr>
              <a:t>Data preparation</a:t>
            </a:r>
            <a:endParaRPr lang="en-US" sz="1550" dirty="0"/>
          </a:p>
        </p:txBody>
      </p:sp>
      <p:sp>
        <p:nvSpPr>
          <p:cNvPr id="18" name="Text 16"/>
          <p:cNvSpPr/>
          <p:nvPr/>
        </p:nvSpPr>
        <p:spPr>
          <a:xfrm>
            <a:off x="8229600" y="3291840"/>
            <a:ext cx="3063240" cy="548640"/>
          </a:xfrm>
          <a:prstGeom prst="rect">
            <a:avLst/>
          </a:prstGeom>
          <a:noFill/>
          <a:ln/>
        </p:spPr>
        <p:txBody>
          <a:bodyPr wrap="square" lIns="0" tIns="0" rIns="0" bIns="0" rtlCol="0" anchor="ctr"/>
          <a:lstStyle/>
          <a:p>
            <a:pPr indent="0" marL="0">
              <a:buNone/>
            </a:pPr>
            <a:r>
              <a:rPr lang="en-US" sz="1150" dirty="0">
                <a:solidFill>
                  <a:srgbClr val="5B6B73"/>
                </a:solidFill>
                <a:latin typeface="Calibri" pitchFamily="34" charset="0"/>
                <a:ea typeface="Calibri" pitchFamily="34" charset="-122"/>
                <a:cs typeface="Calibri" pitchFamily="34" charset="-120"/>
              </a:rPr>
              <a:t>Build the labelled test set (photo → SKU + real observed price); define quality rubric</a:t>
            </a:r>
            <a:endParaRPr lang="en-US" sz="1150" dirty="0"/>
          </a:p>
        </p:txBody>
      </p:sp>
      <p:sp>
        <p:nvSpPr>
          <p:cNvPr id="19" name="Shape 17"/>
          <p:cNvSpPr/>
          <p:nvPr/>
        </p:nvSpPr>
        <p:spPr>
          <a:xfrm>
            <a:off x="548640" y="4114800"/>
            <a:ext cx="3566160" cy="1965960"/>
          </a:xfrm>
          <a:prstGeom prst="roundRect">
            <a:avLst>
              <a:gd name="adj" fmla="val 4186"/>
            </a:avLst>
          </a:prstGeom>
          <a:solidFill>
            <a:srgbClr val="FFFFFF"/>
          </a:solidFill>
          <a:ln w="12700">
            <a:solidFill>
              <a:srgbClr val="DCE6E6"/>
            </a:solidFill>
            <a:prstDash val="solid"/>
          </a:ln>
        </p:spPr>
      </p:sp>
      <p:sp>
        <p:nvSpPr>
          <p:cNvPr id="20" name="Shape 18"/>
          <p:cNvSpPr/>
          <p:nvPr/>
        </p:nvSpPr>
        <p:spPr>
          <a:xfrm>
            <a:off x="822960" y="4389120"/>
            <a:ext cx="548640" cy="548640"/>
          </a:xfrm>
          <a:prstGeom prst="ellipse">
            <a:avLst/>
          </a:prstGeom>
          <a:solidFill>
            <a:srgbClr val="028090"/>
          </a:solidFill>
          <a:ln/>
        </p:spPr>
      </p:sp>
      <p:sp>
        <p:nvSpPr>
          <p:cNvPr id="21" name="Text 19"/>
          <p:cNvSpPr/>
          <p:nvPr/>
        </p:nvSpPr>
        <p:spPr>
          <a:xfrm>
            <a:off x="822960" y="4389120"/>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4</a:t>
            </a:r>
            <a:endParaRPr lang="en-US" sz="2400" dirty="0"/>
          </a:p>
        </p:txBody>
      </p:sp>
      <p:sp>
        <p:nvSpPr>
          <p:cNvPr id="22" name="Text 20"/>
          <p:cNvSpPr/>
          <p:nvPr/>
        </p:nvSpPr>
        <p:spPr>
          <a:xfrm>
            <a:off x="822960" y="5074920"/>
            <a:ext cx="3017520" cy="457200"/>
          </a:xfrm>
          <a:prstGeom prst="rect">
            <a:avLst/>
          </a:prstGeom>
          <a:noFill/>
          <a:ln/>
        </p:spPr>
        <p:txBody>
          <a:bodyPr wrap="square" lIns="0" tIns="0" rIns="0" bIns="0" rtlCol="0" anchor="ctr"/>
          <a:lstStyle/>
          <a:p>
            <a:pPr indent="0" marL="0">
              <a:buNone/>
            </a:pPr>
            <a:r>
              <a:rPr lang="en-US" sz="1550" b="1" dirty="0">
                <a:solidFill>
                  <a:srgbClr val="1B2A33"/>
                </a:solidFill>
                <a:latin typeface="Cambria" pitchFamily="34" charset="0"/>
                <a:ea typeface="Cambria" pitchFamily="34" charset="-122"/>
                <a:cs typeface="Cambria" pitchFamily="34" charset="-120"/>
              </a:rPr>
              <a:t>Modelling</a:t>
            </a:r>
            <a:endParaRPr lang="en-US" sz="1550" dirty="0"/>
          </a:p>
        </p:txBody>
      </p:sp>
      <p:sp>
        <p:nvSpPr>
          <p:cNvPr id="23" name="Text 21"/>
          <p:cNvSpPr/>
          <p:nvPr/>
        </p:nvSpPr>
        <p:spPr>
          <a:xfrm>
            <a:off x="822960" y="5486400"/>
            <a:ext cx="3063240" cy="548640"/>
          </a:xfrm>
          <a:prstGeom prst="rect">
            <a:avLst/>
          </a:prstGeom>
          <a:noFill/>
          <a:ln/>
        </p:spPr>
        <p:txBody>
          <a:bodyPr wrap="square" lIns="0" tIns="0" rIns="0" bIns="0" rtlCol="0" anchor="ctr"/>
          <a:lstStyle/>
          <a:p>
            <a:pPr indent="0" marL="0">
              <a:buNone/>
            </a:pPr>
            <a:r>
              <a:rPr lang="en-US" sz="1150" dirty="0">
                <a:solidFill>
                  <a:srgbClr val="5B6B73"/>
                </a:solidFill>
                <a:latin typeface="Calibri" pitchFamily="34" charset="0"/>
                <a:ea typeface="Calibri" pitchFamily="34" charset="-122"/>
                <a:cs typeface="Calibri" pitchFamily="34" charset="-120"/>
              </a:rPr>
              <a:t>Assemble stages; compare VLM-only vs VLM+OCR, retrieved-median vs adjusted pricing</a:t>
            </a:r>
            <a:endParaRPr lang="en-US" sz="1150" dirty="0"/>
          </a:p>
        </p:txBody>
      </p:sp>
      <p:sp>
        <p:nvSpPr>
          <p:cNvPr id="24" name="Shape 22"/>
          <p:cNvSpPr/>
          <p:nvPr/>
        </p:nvSpPr>
        <p:spPr>
          <a:xfrm>
            <a:off x="4251960" y="4114800"/>
            <a:ext cx="3566160" cy="1965960"/>
          </a:xfrm>
          <a:prstGeom prst="roundRect">
            <a:avLst>
              <a:gd name="adj" fmla="val 4186"/>
            </a:avLst>
          </a:prstGeom>
          <a:solidFill>
            <a:srgbClr val="FFFFFF"/>
          </a:solidFill>
          <a:ln w="12700">
            <a:solidFill>
              <a:srgbClr val="DCE6E6"/>
            </a:solidFill>
            <a:prstDash val="solid"/>
          </a:ln>
        </p:spPr>
      </p:sp>
      <p:sp>
        <p:nvSpPr>
          <p:cNvPr id="25" name="Shape 23"/>
          <p:cNvSpPr/>
          <p:nvPr/>
        </p:nvSpPr>
        <p:spPr>
          <a:xfrm>
            <a:off x="4526280" y="4389120"/>
            <a:ext cx="548640" cy="548640"/>
          </a:xfrm>
          <a:prstGeom prst="ellipse">
            <a:avLst/>
          </a:prstGeom>
          <a:solidFill>
            <a:srgbClr val="00A896"/>
          </a:solidFill>
          <a:ln/>
        </p:spPr>
      </p:sp>
      <p:sp>
        <p:nvSpPr>
          <p:cNvPr id="26" name="Text 24"/>
          <p:cNvSpPr/>
          <p:nvPr/>
        </p:nvSpPr>
        <p:spPr>
          <a:xfrm>
            <a:off x="4526280" y="4389120"/>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5</a:t>
            </a:r>
            <a:endParaRPr lang="en-US" sz="2400" dirty="0"/>
          </a:p>
        </p:txBody>
      </p:sp>
      <p:sp>
        <p:nvSpPr>
          <p:cNvPr id="27" name="Text 25"/>
          <p:cNvSpPr/>
          <p:nvPr/>
        </p:nvSpPr>
        <p:spPr>
          <a:xfrm>
            <a:off x="4526280" y="5074920"/>
            <a:ext cx="3017520" cy="457200"/>
          </a:xfrm>
          <a:prstGeom prst="rect">
            <a:avLst/>
          </a:prstGeom>
          <a:noFill/>
          <a:ln/>
        </p:spPr>
        <p:txBody>
          <a:bodyPr wrap="square" lIns="0" tIns="0" rIns="0" bIns="0" rtlCol="0" anchor="ctr"/>
          <a:lstStyle/>
          <a:p>
            <a:pPr indent="0" marL="0">
              <a:buNone/>
            </a:pPr>
            <a:r>
              <a:rPr lang="en-US" sz="1550" b="1" dirty="0">
                <a:solidFill>
                  <a:srgbClr val="1B2A33"/>
                </a:solidFill>
                <a:latin typeface="Cambria" pitchFamily="34" charset="0"/>
                <a:ea typeface="Cambria" pitchFamily="34" charset="-122"/>
                <a:cs typeface="Cambria" pitchFamily="34" charset="-120"/>
              </a:rPr>
              <a:t>Evaluation</a:t>
            </a:r>
            <a:endParaRPr lang="en-US" sz="1550" dirty="0"/>
          </a:p>
        </p:txBody>
      </p:sp>
      <p:sp>
        <p:nvSpPr>
          <p:cNvPr id="28" name="Text 26"/>
          <p:cNvSpPr/>
          <p:nvPr/>
        </p:nvSpPr>
        <p:spPr>
          <a:xfrm>
            <a:off x="4526280" y="5486400"/>
            <a:ext cx="3063240" cy="548640"/>
          </a:xfrm>
          <a:prstGeom prst="rect">
            <a:avLst/>
          </a:prstGeom>
          <a:noFill/>
          <a:ln/>
        </p:spPr>
        <p:txBody>
          <a:bodyPr wrap="square" lIns="0" tIns="0" rIns="0" bIns="0" rtlCol="0" anchor="ctr"/>
          <a:lstStyle/>
          <a:p>
            <a:pPr indent="0" marL="0">
              <a:buNone/>
            </a:pPr>
            <a:r>
              <a:rPr lang="en-US" sz="1150" dirty="0">
                <a:solidFill>
                  <a:srgbClr val="5B6B73"/>
                </a:solidFill>
                <a:latin typeface="Calibri" pitchFamily="34" charset="0"/>
                <a:ea typeface="Calibri" pitchFamily="34" charset="-122"/>
                <a:cs typeface="Calibri" pitchFamily="34" charset="-120"/>
              </a:rPr>
              <a:t>Score on held-out set; failure-mode analysis; compare to a naive baseline</a:t>
            </a:r>
            <a:endParaRPr lang="en-US" sz="1150" dirty="0"/>
          </a:p>
        </p:txBody>
      </p:sp>
      <p:sp>
        <p:nvSpPr>
          <p:cNvPr id="29" name="Shape 27"/>
          <p:cNvSpPr/>
          <p:nvPr/>
        </p:nvSpPr>
        <p:spPr>
          <a:xfrm>
            <a:off x="7955280" y="4114800"/>
            <a:ext cx="3566160" cy="1965960"/>
          </a:xfrm>
          <a:prstGeom prst="roundRect">
            <a:avLst>
              <a:gd name="adj" fmla="val 4186"/>
            </a:avLst>
          </a:prstGeom>
          <a:solidFill>
            <a:srgbClr val="FFFFFF"/>
          </a:solidFill>
          <a:ln w="12700">
            <a:solidFill>
              <a:srgbClr val="DCE6E6"/>
            </a:solidFill>
            <a:prstDash val="solid"/>
          </a:ln>
        </p:spPr>
      </p:sp>
      <p:sp>
        <p:nvSpPr>
          <p:cNvPr id="30" name="Shape 28"/>
          <p:cNvSpPr/>
          <p:nvPr/>
        </p:nvSpPr>
        <p:spPr>
          <a:xfrm>
            <a:off x="8229600" y="4389120"/>
            <a:ext cx="548640" cy="548640"/>
          </a:xfrm>
          <a:prstGeom prst="ellipse">
            <a:avLst/>
          </a:prstGeom>
          <a:solidFill>
            <a:srgbClr val="0B2A3B"/>
          </a:solidFill>
          <a:ln/>
        </p:spPr>
      </p:sp>
      <p:sp>
        <p:nvSpPr>
          <p:cNvPr id="31" name="Text 29"/>
          <p:cNvSpPr/>
          <p:nvPr/>
        </p:nvSpPr>
        <p:spPr>
          <a:xfrm>
            <a:off x="8229600" y="4389120"/>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6</a:t>
            </a:r>
            <a:endParaRPr lang="en-US" sz="2400" dirty="0"/>
          </a:p>
        </p:txBody>
      </p:sp>
      <p:sp>
        <p:nvSpPr>
          <p:cNvPr id="32" name="Text 30"/>
          <p:cNvSpPr/>
          <p:nvPr/>
        </p:nvSpPr>
        <p:spPr>
          <a:xfrm>
            <a:off x="8229600" y="5074920"/>
            <a:ext cx="3017520" cy="457200"/>
          </a:xfrm>
          <a:prstGeom prst="rect">
            <a:avLst/>
          </a:prstGeom>
          <a:noFill/>
          <a:ln/>
        </p:spPr>
        <p:txBody>
          <a:bodyPr wrap="square" lIns="0" tIns="0" rIns="0" bIns="0" rtlCol="0" anchor="ctr"/>
          <a:lstStyle/>
          <a:p>
            <a:pPr indent="0" marL="0">
              <a:buNone/>
            </a:pPr>
            <a:r>
              <a:rPr lang="en-US" sz="1550" b="1" dirty="0">
                <a:solidFill>
                  <a:srgbClr val="1B2A33"/>
                </a:solidFill>
                <a:latin typeface="Cambria" pitchFamily="34" charset="0"/>
                <a:ea typeface="Cambria" pitchFamily="34" charset="-122"/>
                <a:cs typeface="Cambria" pitchFamily="34" charset="-120"/>
              </a:rPr>
              <a:t>Deployment (academic)</a:t>
            </a:r>
            <a:endParaRPr lang="en-US" sz="1550" dirty="0"/>
          </a:p>
        </p:txBody>
      </p:sp>
      <p:sp>
        <p:nvSpPr>
          <p:cNvPr id="33" name="Text 31"/>
          <p:cNvSpPr/>
          <p:nvPr/>
        </p:nvSpPr>
        <p:spPr>
          <a:xfrm>
            <a:off x="8229600" y="5486400"/>
            <a:ext cx="3063240" cy="548640"/>
          </a:xfrm>
          <a:prstGeom prst="rect">
            <a:avLst/>
          </a:prstGeom>
          <a:noFill/>
          <a:ln/>
        </p:spPr>
        <p:txBody>
          <a:bodyPr wrap="square" lIns="0" tIns="0" rIns="0" bIns="0" rtlCol="0" anchor="ctr"/>
          <a:lstStyle/>
          <a:p>
            <a:pPr indent="0" marL="0">
              <a:buNone/>
            </a:pPr>
            <a:r>
              <a:rPr lang="en-US" sz="1150" dirty="0">
                <a:solidFill>
                  <a:srgbClr val="5B6B73"/>
                </a:solidFill>
                <a:latin typeface="Calibri" pitchFamily="34" charset="0"/>
                <a:ea typeface="Calibri" pitchFamily="34" charset="-122"/>
                <a:cs typeface="Calibri" pitchFamily="34" charset="-120"/>
              </a:rPr>
              <a:t>IEEE paper, timed presentation, documented reproducible codebase + demo</a:t>
            </a:r>
            <a:endParaRPr lang="en-US" sz="1150" dirty="0"/>
          </a:p>
        </p:txBody>
      </p:sp>
      <p:sp>
        <p:nvSpPr>
          <p:cNvPr id="34" name="Text 32"/>
          <p:cNvSpPr/>
          <p:nvPr/>
        </p:nvSpPr>
        <p:spPr>
          <a:xfrm>
            <a:off x="11274552" y="6400800"/>
            <a:ext cx="457200" cy="274320"/>
          </a:xfrm>
          <a:prstGeom prst="rect">
            <a:avLst/>
          </a:prstGeom>
          <a:noFill/>
          <a:ln/>
        </p:spPr>
        <p:txBody>
          <a:bodyPr wrap="square" rtlCol="0" anchor="ctr"/>
          <a:lstStyle/>
          <a:p>
            <a:pPr algn="r" indent="0" marL="0">
              <a:buNone/>
            </a:pPr>
            <a:r>
              <a:rPr lang="en-US" sz="1000" dirty="0">
                <a:solidFill>
                  <a:srgbClr val="5B6B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7"/>
        </a:solidFill>
      </p:bgPr>
    </p:bg>
    <p:spTree>
      <p:nvGrpSpPr>
        <p:cNvPr id="1" name=""/>
        <p:cNvGrpSpPr/>
        <p:nvPr/>
      </p:nvGrpSpPr>
      <p:grpSpPr>
        <a:xfrm>
          <a:off x="0" y="0"/>
          <a:ext cx="0" cy="0"/>
          <a:chOff x="0" y="0"/>
          <a:chExt cx="0" cy="0"/>
        </a:xfrm>
      </p:grpSpPr>
      <p:sp>
        <p:nvSpPr>
          <p:cNvPr id="2" name="Text 0"/>
          <p:cNvSpPr/>
          <p:nvPr/>
        </p:nvSpPr>
        <p:spPr>
          <a:xfrm>
            <a:off x="548640" y="502920"/>
            <a:ext cx="8229600" cy="320040"/>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IMPLEMENTATION DETAILS</a:t>
            </a:r>
            <a:endParaRPr lang="en-US" sz="1200" dirty="0"/>
          </a:p>
        </p:txBody>
      </p:sp>
      <p:sp>
        <p:nvSpPr>
          <p:cNvPr id="3" name="Text 1"/>
          <p:cNvSpPr/>
          <p:nvPr/>
        </p:nvSpPr>
        <p:spPr>
          <a:xfrm>
            <a:off x="548640" y="777240"/>
            <a:ext cx="11091672" cy="822960"/>
          </a:xfrm>
          <a:prstGeom prst="rect">
            <a:avLst/>
          </a:prstGeom>
          <a:noFill/>
          <a:ln/>
        </p:spPr>
        <p:txBody>
          <a:bodyPr wrap="square" lIns="0" tIns="0" rIns="0" bIns="0" rtlCol="0" anchor="ctr"/>
          <a:lstStyle/>
          <a:p>
            <a:pPr indent="0" marL="0">
              <a:buNone/>
            </a:pPr>
            <a:r>
              <a:rPr lang="en-US" sz="3200" b="1" dirty="0">
                <a:solidFill>
                  <a:srgbClr val="1B2A33"/>
                </a:solidFill>
                <a:latin typeface="Cambria" pitchFamily="34" charset="0"/>
                <a:ea typeface="Cambria" pitchFamily="34" charset="-122"/>
                <a:cs typeface="Cambria" pitchFamily="34" charset="-120"/>
              </a:rPr>
              <a:t>How it is actually built</a:t>
            </a:r>
            <a:endParaRPr lang="en-US" sz="3200" dirty="0"/>
          </a:p>
        </p:txBody>
      </p:sp>
      <p:sp>
        <p:nvSpPr>
          <p:cNvPr id="4" name="Shape 2"/>
          <p:cNvSpPr/>
          <p:nvPr/>
        </p:nvSpPr>
        <p:spPr>
          <a:xfrm>
            <a:off x="548640" y="1783080"/>
            <a:ext cx="7498080" cy="896112"/>
          </a:xfrm>
          <a:prstGeom prst="roundRect">
            <a:avLst>
              <a:gd name="adj" fmla="val 8163"/>
            </a:avLst>
          </a:prstGeom>
          <a:solidFill>
            <a:srgbClr val="FFFFFF"/>
          </a:solidFill>
          <a:ln w="12700">
            <a:solidFill>
              <a:srgbClr val="DCE6E6"/>
            </a:solidFill>
            <a:prstDash val="solid"/>
          </a:ln>
        </p:spPr>
      </p:sp>
      <p:sp>
        <p:nvSpPr>
          <p:cNvPr id="5" name="Text 3"/>
          <p:cNvSpPr/>
          <p:nvPr/>
        </p:nvSpPr>
        <p:spPr>
          <a:xfrm>
            <a:off x="777240" y="1783080"/>
            <a:ext cx="1828800" cy="896112"/>
          </a:xfrm>
          <a:prstGeom prst="rect">
            <a:avLst/>
          </a:prstGeom>
          <a:noFill/>
          <a:ln/>
        </p:spPr>
        <p:txBody>
          <a:bodyPr wrap="square" lIns="635" tIns="635" rIns="635" bIns="635" rtlCol="0" anchor="ctr"/>
          <a:lstStyle/>
          <a:p>
            <a:pPr indent="0" marL="0">
              <a:buNone/>
            </a:pPr>
            <a:r>
              <a:rPr lang="en-US" sz="1450" b="1" dirty="0">
                <a:solidFill>
                  <a:srgbClr val="028090"/>
                </a:solidFill>
                <a:latin typeface="Cambria" pitchFamily="34" charset="0"/>
                <a:ea typeface="Cambria" pitchFamily="34" charset="-122"/>
                <a:cs typeface="Cambria" pitchFamily="34" charset="-120"/>
              </a:rPr>
              <a:t>Recognition</a:t>
            </a:r>
            <a:endParaRPr lang="en-US" sz="1450" dirty="0"/>
          </a:p>
        </p:txBody>
      </p:sp>
      <p:sp>
        <p:nvSpPr>
          <p:cNvPr id="6" name="Text 4"/>
          <p:cNvSpPr/>
          <p:nvPr/>
        </p:nvSpPr>
        <p:spPr>
          <a:xfrm>
            <a:off x="2606040" y="1783080"/>
            <a:ext cx="5349240" cy="896112"/>
          </a:xfrm>
          <a:prstGeom prst="rect">
            <a:avLst/>
          </a:prstGeom>
          <a:noFill/>
          <a:ln/>
        </p:spPr>
        <p:txBody>
          <a:bodyPr wrap="square" lIns="762" tIns="762" rIns="762" bIns="762" rtlCol="0" anchor="ctr"/>
          <a:lstStyle/>
          <a:p>
            <a:pPr indent="0" marL="0">
              <a:buNone/>
            </a:pPr>
            <a:r>
              <a:rPr lang="en-US" sz="1100" dirty="0">
                <a:solidFill>
                  <a:srgbClr val="1B2A33"/>
                </a:solidFill>
                <a:latin typeface="Calibri" pitchFamily="34" charset="0"/>
                <a:ea typeface="Calibri" pitchFamily="34" charset="-122"/>
                <a:cs typeface="Calibri" pitchFamily="34" charset="-120"/>
              </a:rPr>
              <a:t>Hosted vision-language model (default GPT-4o-mini; Claude / Gemini optional) fused with packaging OCR → structured identity JSON.</a:t>
            </a:r>
            <a:endParaRPr lang="en-US" sz="1100" dirty="0"/>
          </a:p>
        </p:txBody>
      </p:sp>
      <p:sp>
        <p:nvSpPr>
          <p:cNvPr id="7" name="Shape 5"/>
          <p:cNvSpPr/>
          <p:nvPr/>
        </p:nvSpPr>
        <p:spPr>
          <a:xfrm>
            <a:off x="548640" y="2752344"/>
            <a:ext cx="7498080" cy="896112"/>
          </a:xfrm>
          <a:prstGeom prst="roundRect">
            <a:avLst>
              <a:gd name="adj" fmla="val 8163"/>
            </a:avLst>
          </a:prstGeom>
          <a:solidFill>
            <a:srgbClr val="FFFFFF"/>
          </a:solidFill>
          <a:ln w="12700">
            <a:solidFill>
              <a:srgbClr val="DCE6E6"/>
            </a:solidFill>
            <a:prstDash val="solid"/>
          </a:ln>
        </p:spPr>
      </p:sp>
      <p:sp>
        <p:nvSpPr>
          <p:cNvPr id="8" name="Text 6"/>
          <p:cNvSpPr/>
          <p:nvPr/>
        </p:nvSpPr>
        <p:spPr>
          <a:xfrm>
            <a:off x="777240" y="2752344"/>
            <a:ext cx="1828800" cy="896112"/>
          </a:xfrm>
          <a:prstGeom prst="rect">
            <a:avLst/>
          </a:prstGeom>
          <a:noFill/>
          <a:ln/>
        </p:spPr>
        <p:txBody>
          <a:bodyPr wrap="square" lIns="635" tIns="635" rIns="635" bIns="635" rtlCol="0" anchor="ctr"/>
          <a:lstStyle/>
          <a:p>
            <a:pPr indent="0" marL="0">
              <a:buNone/>
            </a:pPr>
            <a:r>
              <a:rPr lang="en-US" sz="1450" b="1" dirty="0">
                <a:solidFill>
                  <a:srgbClr val="00A896"/>
                </a:solidFill>
                <a:latin typeface="Cambria" pitchFamily="34" charset="0"/>
                <a:ea typeface="Cambria" pitchFamily="34" charset="-122"/>
                <a:cs typeface="Cambria" pitchFamily="34" charset="-120"/>
              </a:rPr>
              <a:t>Retrieval</a:t>
            </a:r>
            <a:endParaRPr lang="en-US" sz="1450" dirty="0"/>
          </a:p>
        </p:txBody>
      </p:sp>
      <p:sp>
        <p:nvSpPr>
          <p:cNvPr id="9" name="Text 7"/>
          <p:cNvSpPr/>
          <p:nvPr/>
        </p:nvSpPr>
        <p:spPr>
          <a:xfrm>
            <a:off x="2606040" y="2752344"/>
            <a:ext cx="5349240" cy="896112"/>
          </a:xfrm>
          <a:prstGeom prst="rect">
            <a:avLst/>
          </a:prstGeom>
          <a:noFill/>
          <a:ln/>
        </p:spPr>
        <p:txBody>
          <a:bodyPr wrap="square" lIns="762" tIns="762" rIns="762" bIns="762" rtlCol="0" anchor="ctr"/>
          <a:lstStyle/>
          <a:p>
            <a:pPr indent="0" marL="0">
              <a:buNone/>
            </a:pPr>
            <a:r>
              <a:rPr lang="en-US" sz="1100" dirty="0">
                <a:solidFill>
                  <a:srgbClr val="1B2A33"/>
                </a:solidFill>
                <a:latin typeface="Calibri" pitchFamily="34" charset="0"/>
                <a:ea typeface="Calibri" pitchFamily="34" charset="-122"/>
                <a:cs typeface="Calibri" pitchFamily="34" charset="-120"/>
              </a:rPr>
              <a:t>Barcode-first lookup across Open Food Facts / Open Products Facts / Open Prices, plus a bounded Google Shopping layer; N-best re-ranking with retailer &amp; local-currency preference.</a:t>
            </a:r>
            <a:endParaRPr lang="en-US" sz="1100" dirty="0"/>
          </a:p>
        </p:txBody>
      </p:sp>
      <p:sp>
        <p:nvSpPr>
          <p:cNvPr id="10" name="Shape 8"/>
          <p:cNvSpPr/>
          <p:nvPr/>
        </p:nvSpPr>
        <p:spPr>
          <a:xfrm>
            <a:off x="548640" y="3721608"/>
            <a:ext cx="7498080" cy="896112"/>
          </a:xfrm>
          <a:prstGeom prst="roundRect">
            <a:avLst>
              <a:gd name="adj" fmla="val 8163"/>
            </a:avLst>
          </a:prstGeom>
          <a:solidFill>
            <a:srgbClr val="FFFFFF"/>
          </a:solidFill>
          <a:ln w="12700">
            <a:solidFill>
              <a:srgbClr val="DCE6E6"/>
            </a:solidFill>
            <a:prstDash val="solid"/>
          </a:ln>
        </p:spPr>
      </p:sp>
      <p:sp>
        <p:nvSpPr>
          <p:cNvPr id="11" name="Text 9"/>
          <p:cNvSpPr/>
          <p:nvPr/>
        </p:nvSpPr>
        <p:spPr>
          <a:xfrm>
            <a:off x="777240" y="3721608"/>
            <a:ext cx="1828800" cy="896112"/>
          </a:xfrm>
          <a:prstGeom prst="rect">
            <a:avLst/>
          </a:prstGeom>
          <a:noFill/>
          <a:ln/>
        </p:spPr>
        <p:txBody>
          <a:bodyPr wrap="square" lIns="635" tIns="635" rIns="635" bIns="635" rtlCol="0" anchor="ctr"/>
          <a:lstStyle/>
          <a:p>
            <a:pPr indent="0" marL="0">
              <a:buNone/>
            </a:pPr>
            <a:r>
              <a:rPr lang="en-US" sz="1450" b="1" dirty="0">
                <a:solidFill>
                  <a:srgbClr val="02C39A"/>
                </a:solidFill>
                <a:latin typeface="Cambria" pitchFamily="34" charset="0"/>
                <a:ea typeface="Cambria" pitchFamily="34" charset="-122"/>
                <a:cs typeface="Cambria" pitchFamily="34" charset="-120"/>
              </a:rPr>
              <a:t>Generation</a:t>
            </a:r>
            <a:endParaRPr lang="en-US" sz="1450" dirty="0"/>
          </a:p>
        </p:txBody>
      </p:sp>
      <p:sp>
        <p:nvSpPr>
          <p:cNvPr id="12" name="Text 10"/>
          <p:cNvSpPr/>
          <p:nvPr/>
        </p:nvSpPr>
        <p:spPr>
          <a:xfrm>
            <a:off x="2606040" y="3721608"/>
            <a:ext cx="5349240" cy="896112"/>
          </a:xfrm>
          <a:prstGeom prst="rect">
            <a:avLst/>
          </a:prstGeom>
          <a:noFill/>
          <a:ln/>
        </p:spPr>
        <p:txBody>
          <a:bodyPr wrap="square" lIns="762" tIns="762" rIns="762" bIns="762" rtlCol="0" anchor="ctr"/>
          <a:lstStyle/>
          <a:p>
            <a:pPr indent="0" marL="0">
              <a:buNone/>
            </a:pPr>
            <a:r>
              <a:rPr lang="en-US" sz="1100" dirty="0">
                <a:solidFill>
                  <a:srgbClr val="1B2A33"/>
                </a:solidFill>
                <a:latin typeface="Calibri" pitchFamily="34" charset="0"/>
                <a:ea typeface="Calibri" pitchFamily="34" charset="-122"/>
                <a:cs typeface="Calibri" pitchFamily="34" charset="-120"/>
              </a:rPr>
              <a:t>LLM with structured-output prompting, grounded strictly in retrieved / extracted attributes — no invented specs.</a:t>
            </a:r>
            <a:endParaRPr lang="en-US" sz="1100" dirty="0"/>
          </a:p>
        </p:txBody>
      </p:sp>
      <p:sp>
        <p:nvSpPr>
          <p:cNvPr id="13" name="Shape 11"/>
          <p:cNvSpPr/>
          <p:nvPr/>
        </p:nvSpPr>
        <p:spPr>
          <a:xfrm>
            <a:off x="548640" y="4690872"/>
            <a:ext cx="7498080" cy="896112"/>
          </a:xfrm>
          <a:prstGeom prst="roundRect">
            <a:avLst>
              <a:gd name="adj" fmla="val 8163"/>
            </a:avLst>
          </a:prstGeom>
          <a:solidFill>
            <a:srgbClr val="FFFFFF"/>
          </a:solidFill>
          <a:ln w="12700">
            <a:solidFill>
              <a:srgbClr val="DCE6E6"/>
            </a:solidFill>
            <a:prstDash val="solid"/>
          </a:ln>
        </p:spPr>
      </p:sp>
      <p:sp>
        <p:nvSpPr>
          <p:cNvPr id="14" name="Text 12"/>
          <p:cNvSpPr/>
          <p:nvPr/>
        </p:nvSpPr>
        <p:spPr>
          <a:xfrm>
            <a:off x="777240" y="4690872"/>
            <a:ext cx="1828800" cy="896112"/>
          </a:xfrm>
          <a:prstGeom prst="rect">
            <a:avLst/>
          </a:prstGeom>
          <a:noFill/>
          <a:ln/>
        </p:spPr>
        <p:txBody>
          <a:bodyPr wrap="square" lIns="635" tIns="635" rIns="635" bIns="635" rtlCol="0" anchor="ctr"/>
          <a:lstStyle/>
          <a:p>
            <a:pPr indent="0" marL="0">
              <a:buNone/>
            </a:pPr>
            <a:r>
              <a:rPr lang="en-US" sz="1450" b="1" dirty="0">
                <a:solidFill>
                  <a:srgbClr val="028090"/>
                </a:solidFill>
                <a:latin typeface="Cambria" pitchFamily="34" charset="0"/>
                <a:ea typeface="Cambria" pitchFamily="34" charset="-122"/>
                <a:cs typeface="Cambria" pitchFamily="34" charset="-120"/>
              </a:rPr>
              <a:t>Image upgrade</a:t>
            </a:r>
            <a:endParaRPr lang="en-US" sz="1450" dirty="0"/>
          </a:p>
        </p:txBody>
      </p:sp>
      <p:sp>
        <p:nvSpPr>
          <p:cNvPr id="15" name="Text 13"/>
          <p:cNvSpPr/>
          <p:nvPr/>
        </p:nvSpPr>
        <p:spPr>
          <a:xfrm>
            <a:off x="2606040" y="4690872"/>
            <a:ext cx="5349240" cy="896112"/>
          </a:xfrm>
          <a:prstGeom prst="rect">
            <a:avLst/>
          </a:prstGeom>
          <a:noFill/>
          <a:ln/>
        </p:spPr>
        <p:txBody>
          <a:bodyPr wrap="square" lIns="762" tIns="762" rIns="762" bIns="762" rtlCol="0" anchor="ctr"/>
          <a:lstStyle/>
          <a:p>
            <a:pPr indent="0" marL="0">
              <a:buNone/>
            </a:pPr>
            <a:r>
              <a:rPr lang="en-US" sz="1100" dirty="0">
                <a:solidFill>
                  <a:srgbClr val="1B2A33"/>
                </a:solidFill>
                <a:latin typeface="Calibri" pitchFamily="34" charset="0"/>
                <a:ea typeface="Calibri" pitchFamily="34" charset="-122"/>
                <a:cs typeface="Calibri" pitchFamily="34" charset="-120"/>
              </a:rPr>
              <a:t>CLIP-style similarity + perceptual hash to verify same-SKU; background removal (rembg) to clean the owner's own photo; quality gate before any swap.</a:t>
            </a:r>
            <a:endParaRPr lang="en-US" sz="1100" dirty="0"/>
          </a:p>
        </p:txBody>
      </p:sp>
      <p:sp>
        <p:nvSpPr>
          <p:cNvPr id="16" name="Shape 14"/>
          <p:cNvSpPr/>
          <p:nvPr/>
        </p:nvSpPr>
        <p:spPr>
          <a:xfrm>
            <a:off x="548640" y="5660136"/>
            <a:ext cx="7498080" cy="896112"/>
          </a:xfrm>
          <a:prstGeom prst="roundRect">
            <a:avLst>
              <a:gd name="adj" fmla="val 8163"/>
            </a:avLst>
          </a:prstGeom>
          <a:solidFill>
            <a:srgbClr val="FFFFFF"/>
          </a:solidFill>
          <a:ln w="12700">
            <a:solidFill>
              <a:srgbClr val="DCE6E6"/>
            </a:solidFill>
            <a:prstDash val="solid"/>
          </a:ln>
        </p:spPr>
      </p:sp>
      <p:sp>
        <p:nvSpPr>
          <p:cNvPr id="17" name="Text 15"/>
          <p:cNvSpPr/>
          <p:nvPr/>
        </p:nvSpPr>
        <p:spPr>
          <a:xfrm>
            <a:off x="777240" y="5660136"/>
            <a:ext cx="1828800" cy="896112"/>
          </a:xfrm>
          <a:prstGeom prst="rect">
            <a:avLst/>
          </a:prstGeom>
          <a:noFill/>
          <a:ln/>
        </p:spPr>
        <p:txBody>
          <a:bodyPr wrap="square" lIns="635" tIns="635" rIns="635" bIns="635" rtlCol="0" anchor="ctr"/>
          <a:lstStyle/>
          <a:p>
            <a:pPr indent="0" marL="0">
              <a:buNone/>
            </a:pPr>
            <a:r>
              <a:rPr lang="en-US" sz="1450" b="1" dirty="0">
                <a:solidFill>
                  <a:srgbClr val="F96167"/>
                </a:solidFill>
                <a:latin typeface="Cambria" pitchFamily="34" charset="0"/>
                <a:ea typeface="Cambria" pitchFamily="34" charset="-122"/>
                <a:cs typeface="Cambria" pitchFamily="34" charset="-120"/>
              </a:rPr>
              <a:t>Guardrails</a:t>
            </a:r>
            <a:endParaRPr lang="en-US" sz="1450" dirty="0"/>
          </a:p>
        </p:txBody>
      </p:sp>
      <p:sp>
        <p:nvSpPr>
          <p:cNvPr id="18" name="Text 16"/>
          <p:cNvSpPr/>
          <p:nvPr/>
        </p:nvSpPr>
        <p:spPr>
          <a:xfrm>
            <a:off x="2606040" y="5660136"/>
            <a:ext cx="5349240" cy="896112"/>
          </a:xfrm>
          <a:prstGeom prst="rect">
            <a:avLst/>
          </a:prstGeom>
          <a:noFill/>
          <a:ln/>
        </p:spPr>
        <p:txBody>
          <a:bodyPr wrap="square" lIns="762" tIns="762" rIns="762" bIns="762" rtlCol="0" anchor="ctr"/>
          <a:lstStyle/>
          <a:p>
            <a:pPr indent="0" marL="0">
              <a:buNone/>
            </a:pPr>
            <a:r>
              <a:rPr lang="en-US" sz="1100" dirty="0">
                <a:solidFill>
                  <a:srgbClr val="1B2A33"/>
                </a:solidFill>
                <a:latin typeface="Calibri" pitchFamily="34" charset="0"/>
                <a:ea typeface="Calibri" pitchFamily="34" charset="-122"/>
                <a:cs typeface="Calibri" pitchFamily="34" charset="-120"/>
              </a:rPr>
              <a:t>Age-restriction flag, claim-grounding, ambiguity → human review; per-image trace log for every decision.</a:t>
            </a:r>
            <a:endParaRPr lang="en-US" sz="1100" dirty="0"/>
          </a:p>
        </p:txBody>
      </p:sp>
      <p:sp>
        <p:nvSpPr>
          <p:cNvPr id="19" name="Shape 17"/>
          <p:cNvSpPr/>
          <p:nvPr/>
        </p:nvSpPr>
        <p:spPr>
          <a:xfrm>
            <a:off x="8321040" y="1783080"/>
            <a:ext cx="3337560" cy="4526280"/>
          </a:xfrm>
          <a:prstGeom prst="roundRect">
            <a:avLst>
              <a:gd name="adj" fmla="val 2740"/>
            </a:avLst>
          </a:prstGeom>
          <a:solidFill>
            <a:srgbClr val="0B2A3B"/>
          </a:solidFill>
          <a:ln/>
        </p:spPr>
      </p:sp>
      <p:sp>
        <p:nvSpPr>
          <p:cNvPr id="20" name="Text 18"/>
          <p:cNvSpPr/>
          <p:nvPr/>
        </p:nvSpPr>
        <p:spPr>
          <a:xfrm>
            <a:off x="8549640" y="1965960"/>
            <a:ext cx="2743200" cy="320040"/>
          </a:xfrm>
          <a:prstGeom prst="rect">
            <a:avLst/>
          </a:prstGeom>
          <a:noFill/>
          <a:ln/>
        </p:spPr>
        <p:txBody>
          <a:bodyPr wrap="square" lIns="0" tIns="0" rIns="0" bIns="0" rtlCol="0" anchor="ctr"/>
          <a:lstStyle/>
          <a:p>
            <a:pPr indent="0" marL="0">
              <a:buNone/>
            </a:pPr>
            <a:r>
              <a:rPr lang="en-US" sz="1200" b="1" spc="200" kern="0" dirty="0">
                <a:solidFill>
                  <a:srgbClr val="02C39A"/>
                </a:solidFill>
                <a:latin typeface="Calibri" pitchFamily="34" charset="0"/>
                <a:ea typeface="Calibri" pitchFamily="34" charset="-122"/>
                <a:cs typeface="Calibri" pitchFamily="34" charset="-120"/>
              </a:rPr>
              <a:t>STACK</a:t>
            </a:r>
            <a:endParaRPr lang="en-US" sz="1200" dirty="0"/>
          </a:p>
        </p:txBody>
      </p:sp>
      <p:sp>
        <p:nvSpPr>
          <p:cNvPr id="21" name="Text 19"/>
          <p:cNvSpPr/>
          <p:nvPr/>
        </p:nvSpPr>
        <p:spPr>
          <a:xfrm>
            <a:off x="8549640" y="2377440"/>
            <a:ext cx="2971800" cy="402336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D8ECEC"/>
                </a:solidFill>
                <a:latin typeface="Calibri" pitchFamily="34" charset="0"/>
                <a:ea typeface="Calibri" pitchFamily="34" charset="-122"/>
                <a:cs typeface="Calibri" pitchFamily="34" charset="-120"/>
              </a:rPr>
              <a:t>Python 3.12 · src/ package</a:t>
            </a:r>
            <a:endParaRPr lang="en-US" sz="1200" dirty="0"/>
          </a:p>
          <a:p>
            <a:pPr marL="342900" indent="-342900">
              <a:spcAft>
                <a:spcPts val="800"/>
              </a:spcAft>
              <a:buSzPct val="100000"/>
              <a:buChar char="•"/>
            </a:pPr>
            <a:r>
              <a:rPr lang="en-US" sz="1200" dirty="0">
                <a:solidFill>
                  <a:srgbClr val="D8ECEC"/>
                </a:solidFill>
                <a:latin typeface="Calibri" pitchFamily="34" charset="0"/>
                <a:ea typeface="Calibri" pitchFamily="34" charset="-122"/>
                <a:cs typeface="Calibri" pitchFamily="34" charset="-120"/>
              </a:rPr>
              <a:t>OpenCV — capture</a:t>
            </a:r>
            <a:endParaRPr lang="en-US" sz="1200" dirty="0"/>
          </a:p>
          <a:p>
            <a:pPr marL="342900" indent="-342900">
              <a:spcAft>
                <a:spcPts val="800"/>
              </a:spcAft>
              <a:buSzPct val="100000"/>
              <a:buChar char="•"/>
            </a:pPr>
            <a:r>
              <a:rPr lang="en-US" sz="1200" dirty="0">
                <a:solidFill>
                  <a:srgbClr val="D8ECEC"/>
                </a:solidFill>
                <a:latin typeface="Calibri" pitchFamily="34" charset="0"/>
                <a:ea typeface="Calibri" pitchFamily="34" charset="-122"/>
                <a:cs typeface="Calibri" pitchFamily="34" charset="-120"/>
              </a:rPr>
              <a:t>Hosted VLM + OCR — recognise</a:t>
            </a:r>
            <a:endParaRPr lang="en-US" sz="1200" dirty="0"/>
          </a:p>
          <a:p>
            <a:pPr marL="342900" indent="-342900">
              <a:spcAft>
                <a:spcPts val="800"/>
              </a:spcAft>
              <a:buSzPct val="100000"/>
              <a:buChar char="•"/>
            </a:pPr>
            <a:r>
              <a:rPr lang="en-US" sz="1200" dirty="0">
                <a:solidFill>
                  <a:srgbClr val="D8ECEC"/>
                </a:solidFill>
                <a:latin typeface="Calibri" pitchFamily="34" charset="0"/>
                <a:ea typeface="Calibri" pitchFamily="34" charset="-122"/>
                <a:cs typeface="Calibri" pitchFamily="34" charset="-120"/>
              </a:rPr>
              <a:t>OFF / OPF / Open Prices + Shopping API — retrieve</a:t>
            </a:r>
            <a:endParaRPr lang="en-US" sz="1200" dirty="0"/>
          </a:p>
          <a:p>
            <a:pPr marL="342900" indent="-342900">
              <a:spcAft>
                <a:spcPts val="800"/>
              </a:spcAft>
              <a:buSzPct val="100000"/>
              <a:buChar char="•"/>
            </a:pPr>
            <a:r>
              <a:rPr lang="en-US" sz="1200" dirty="0">
                <a:solidFill>
                  <a:srgbClr val="D8ECEC"/>
                </a:solidFill>
                <a:latin typeface="Calibri" pitchFamily="34" charset="0"/>
                <a:ea typeface="Calibri" pitchFamily="34" charset="-122"/>
                <a:cs typeface="Calibri" pitchFamily="34" charset="-120"/>
              </a:rPr>
              <a:t>CLIP / phash + rembg — imagematch</a:t>
            </a:r>
            <a:endParaRPr lang="en-US" sz="1200" dirty="0"/>
          </a:p>
          <a:p>
            <a:pPr marL="342900" indent="-342900">
              <a:spcAft>
                <a:spcPts val="800"/>
              </a:spcAft>
              <a:buSzPct val="100000"/>
              <a:buChar char="•"/>
            </a:pPr>
            <a:r>
              <a:rPr lang="en-US" sz="1200" dirty="0">
                <a:solidFill>
                  <a:srgbClr val="D8ECEC"/>
                </a:solidFill>
                <a:latin typeface="Calibri" pitchFamily="34" charset="0"/>
                <a:ea typeface="Calibri" pitchFamily="34" charset="-122"/>
                <a:cs typeface="Calibri" pitchFamily="34" charset="-120"/>
              </a:rPr>
              <a:t>Structured-output LLM — generate</a:t>
            </a:r>
            <a:endParaRPr lang="en-US" sz="1200" dirty="0"/>
          </a:p>
          <a:p>
            <a:pPr marL="342900" indent="-342900">
              <a:spcAft>
                <a:spcPts val="800"/>
              </a:spcAft>
              <a:buSzPct val="100000"/>
              <a:buChar char="•"/>
            </a:pPr>
            <a:r>
              <a:rPr lang="en-US" sz="1200" dirty="0">
                <a:solidFill>
                  <a:srgbClr val="D8ECEC"/>
                </a:solidFill>
                <a:latin typeface="Calibri" pitchFamily="34" charset="0"/>
                <a:ea typeface="Calibri" pitchFamily="34" charset="-122"/>
                <a:cs typeface="Calibri" pitchFamily="34" charset="-120"/>
              </a:rPr>
              <a:t>Guardrail + trace layer</a:t>
            </a:r>
            <a:endParaRPr lang="en-US" sz="1200" dirty="0"/>
          </a:p>
          <a:p>
            <a:pPr marL="342900" indent="-342900">
              <a:spcAft>
                <a:spcPts val="800"/>
              </a:spcAft>
              <a:buSzPct val="100000"/>
              <a:buChar char="•"/>
            </a:pPr>
            <a:r>
              <a:rPr lang="en-US" sz="1200" dirty="0">
                <a:solidFill>
                  <a:srgbClr val="D8ECEC"/>
                </a:solidFill>
                <a:latin typeface="Calibri" pitchFamily="34" charset="0"/>
                <a:ea typeface="Calibri" pitchFamily="34" charset="-122"/>
                <a:cs typeface="Calibri" pitchFamily="34" charset="-120"/>
              </a:rPr>
              <a:t>Notebooks (local + Colab) demo</a:t>
            </a:r>
            <a:endParaRPr lang="en-US" sz="1200" dirty="0"/>
          </a:p>
        </p:txBody>
      </p:sp>
      <p:sp>
        <p:nvSpPr>
          <p:cNvPr id="22" name="Text 20"/>
          <p:cNvSpPr/>
          <p:nvPr/>
        </p:nvSpPr>
        <p:spPr>
          <a:xfrm>
            <a:off x="11274552" y="6400800"/>
            <a:ext cx="457200" cy="274320"/>
          </a:xfrm>
          <a:prstGeom prst="rect">
            <a:avLst/>
          </a:prstGeom>
          <a:noFill/>
          <a:ln/>
        </p:spPr>
        <p:txBody>
          <a:bodyPr wrap="square" rtlCol="0" anchor="ctr"/>
          <a:lstStyle/>
          <a:p>
            <a:pPr algn="r" indent="0" marL="0">
              <a:buNone/>
            </a:pPr>
            <a:r>
              <a:rPr lang="en-US" sz="1000" dirty="0">
                <a:solidFill>
                  <a:srgbClr val="5B6B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7"/>
        </a:solidFill>
      </p:bgPr>
    </p:bg>
    <p:spTree>
      <p:nvGrpSpPr>
        <p:cNvPr id="1" name=""/>
        <p:cNvGrpSpPr/>
        <p:nvPr/>
      </p:nvGrpSpPr>
      <p:grpSpPr>
        <a:xfrm>
          <a:off x="0" y="0"/>
          <a:ext cx="0" cy="0"/>
          <a:chOff x="0" y="0"/>
          <a:chExt cx="0" cy="0"/>
        </a:xfrm>
      </p:grpSpPr>
      <p:sp>
        <p:nvSpPr>
          <p:cNvPr id="2" name="Text 0"/>
          <p:cNvSpPr/>
          <p:nvPr/>
        </p:nvSpPr>
        <p:spPr>
          <a:xfrm>
            <a:off x="548640" y="502920"/>
            <a:ext cx="8229600" cy="320040"/>
          </a:xfrm>
          <a:prstGeom prst="rect">
            <a:avLst/>
          </a:prstGeom>
          <a:noFill/>
          <a:ln/>
        </p:spPr>
        <p:txBody>
          <a:bodyPr wrap="square" lIns="0" tIns="0" rIns="0" bIns="0" rtlCol="0" anchor="ctr"/>
          <a:lstStyle/>
          <a:p>
            <a:pPr indent="0" marL="0">
              <a:buNone/>
            </a:pPr>
            <a:r>
              <a:rPr lang="en-US" sz="1200" b="1" spc="200" kern="0" dirty="0">
                <a:solidFill>
                  <a:srgbClr val="F96167"/>
                </a:solidFill>
                <a:latin typeface="Calibri" pitchFamily="34" charset="0"/>
                <a:ea typeface="Calibri" pitchFamily="34" charset="-122"/>
                <a:cs typeface="Calibri" pitchFamily="34" charset="-120"/>
              </a:rPr>
              <a:t>RESPONSIBLE AI</a:t>
            </a:r>
            <a:endParaRPr lang="en-US" sz="1200" dirty="0"/>
          </a:p>
        </p:txBody>
      </p:sp>
      <p:sp>
        <p:nvSpPr>
          <p:cNvPr id="3" name="Text 1"/>
          <p:cNvSpPr/>
          <p:nvPr/>
        </p:nvSpPr>
        <p:spPr>
          <a:xfrm>
            <a:off x="548640" y="777240"/>
            <a:ext cx="11091672" cy="822960"/>
          </a:xfrm>
          <a:prstGeom prst="rect">
            <a:avLst/>
          </a:prstGeom>
          <a:noFill/>
          <a:ln/>
        </p:spPr>
        <p:txBody>
          <a:bodyPr wrap="square" lIns="0" tIns="0" rIns="0" bIns="0" rtlCol="0" anchor="ctr"/>
          <a:lstStyle/>
          <a:p>
            <a:pPr indent="0" marL="0">
              <a:buNone/>
            </a:pPr>
            <a:r>
              <a:rPr lang="en-US" sz="3200" b="1" dirty="0">
                <a:solidFill>
                  <a:srgbClr val="1B2A33"/>
                </a:solidFill>
                <a:latin typeface="Cambria" pitchFamily="34" charset="0"/>
                <a:ea typeface="Cambria" pitchFamily="34" charset="-122"/>
                <a:cs typeface="Cambria" pitchFamily="34" charset="-120"/>
              </a:rPr>
              <a:t>Safety treated as a first-class, measured concern</a:t>
            </a:r>
            <a:endParaRPr lang="en-US" sz="3200" dirty="0"/>
          </a:p>
        </p:txBody>
      </p:sp>
      <p:sp>
        <p:nvSpPr>
          <p:cNvPr id="4" name="Shape 2"/>
          <p:cNvSpPr/>
          <p:nvPr/>
        </p:nvSpPr>
        <p:spPr>
          <a:xfrm>
            <a:off x="548640" y="1920240"/>
            <a:ext cx="5394960" cy="2148840"/>
          </a:xfrm>
          <a:prstGeom prst="roundRect">
            <a:avLst>
              <a:gd name="adj" fmla="val 4255"/>
            </a:avLst>
          </a:prstGeom>
          <a:solidFill>
            <a:srgbClr val="FFFFFF"/>
          </a:solidFill>
          <a:ln w="12700">
            <a:solidFill>
              <a:srgbClr val="DCE6E6"/>
            </a:solidFill>
            <a:prstDash val="solid"/>
          </a:ln>
        </p:spPr>
      </p:sp>
      <p:sp>
        <p:nvSpPr>
          <p:cNvPr id="5" name="Shape 3"/>
          <p:cNvSpPr/>
          <p:nvPr/>
        </p:nvSpPr>
        <p:spPr>
          <a:xfrm>
            <a:off x="868680" y="2240280"/>
            <a:ext cx="640080" cy="640080"/>
          </a:xfrm>
          <a:prstGeom prst="ellipse">
            <a:avLst/>
          </a:prstGeom>
          <a:solidFill>
            <a:srgbClr val="F96167"/>
          </a:solidFill>
          <a:ln/>
        </p:spPr>
      </p:sp>
      <p:sp>
        <p:nvSpPr>
          <p:cNvPr id="6" name="Text 4"/>
          <p:cNvSpPr/>
          <p:nvPr/>
        </p:nvSpPr>
        <p:spPr>
          <a:xfrm>
            <a:off x="868680" y="2240280"/>
            <a:ext cx="640080" cy="64008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a:t>
            </a:r>
            <a:endParaRPr lang="en-US" sz="2600" dirty="0"/>
          </a:p>
        </p:txBody>
      </p:sp>
      <p:sp>
        <p:nvSpPr>
          <p:cNvPr id="7" name="Text 5"/>
          <p:cNvSpPr/>
          <p:nvPr/>
        </p:nvSpPr>
        <p:spPr>
          <a:xfrm>
            <a:off x="1691640" y="2304288"/>
            <a:ext cx="4023360" cy="502920"/>
          </a:xfrm>
          <a:prstGeom prst="rect">
            <a:avLst/>
          </a:prstGeom>
          <a:noFill/>
          <a:ln/>
        </p:spPr>
        <p:txBody>
          <a:bodyPr wrap="square" lIns="0" tIns="0" rIns="0" bIns="0" rtlCol="0" anchor="ctr"/>
          <a:lstStyle/>
          <a:p>
            <a:pPr indent="0" marL="0">
              <a:buNone/>
            </a:pPr>
            <a:r>
              <a:rPr lang="en-US" sz="1900" b="1" dirty="0">
                <a:solidFill>
                  <a:srgbClr val="1B2A33"/>
                </a:solidFill>
                <a:latin typeface="Cambria" pitchFamily="34" charset="0"/>
                <a:ea typeface="Cambria" pitchFamily="34" charset="-122"/>
                <a:cs typeface="Cambria" pitchFamily="34" charset="-120"/>
              </a:rPr>
              <a:t>Age-restricted items</a:t>
            </a:r>
            <a:endParaRPr lang="en-US" sz="1900" dirty="0"/>
          </a:p>
        </p:txBody>
      </p:sp>
      <p:sp>
        <p:nvSpPr>
          <p:cNvPr id="8" name="Text 6"/>
          <p:cNvSpPr/>
          <p:nvPr/>
        </p:nvSpPr>
        <p:spPr>
          <a:xfrm>
            <a:off x="868680" y="3017520"/>
            <a:ext cx="4754880" cy="914400"/>
          </a:xfrm>
          <a:prstGeom prst="rect">
            <a:avLst/>
          </a:prstGeom>
          <a:noFill/>
          <a:ln/>
        </p:spPr>
        <p:txBody>
          <a:bodyPr wrap="square" lIns="0" tIns="0" rIns="0" bIns="0" rtlCol="0" anchor="ctr"/>
          <a:lstStyle/>
          <a:p>
            <a:pPr indent="0" marL="0">
              <a:buNone/>
            </a:pPr>
            <a:r>
              <a:rPr lang="en-US" sz="1300" dirty="0">
                <a:solidFill>
                  <a:srgbClr val="5B6B73"/>
                </a:solidFill>
                <a:latin typeface="Calibri" pitchFamily="34" charset="0"/>
                <a:ea typeface="Calibri" pitchFamily="34" charset="-122"/>
                <a:cs typeface="Calibri" pitchFamily="34" charset="-120"/>
              </a:rPr>
              <a:t>Tobacco and similar are detected and flagged — never a silent publishable listing for a restricted product.</a:t>
            </a:r>
            <a:endParaRPr lang="en-US" sz="1300" dirty="0"/>
          </a:p>
        </p:txBody>
      </p:sp>
      <p:sp>
        <p:nvSpPr>
          <p:cNvPr id="9" name="Shape 7"/>
          <p:cNvSpPr/>
          <p:nvPr/>
        </p:nvSpPr>
        <p:spPr>
          <a:xfrm>
            <a:off x="6217920" y="1920240"/>
            <a:ext cx="5394960" cy="2148840"/>
          </a:xfrm>
          <a:prstGeom prst="roundRect">
            <a:avLst>
              <a:gd name="adj" fmla="val 4255"/>
            </a:avLst>
          </a:prstGeom>
          <a:solidFill>
            <a:srgbClr val="FFFFFF"/>
          </a:solidFill>
          <a:ln w="12700">
            <a:solidFill>
              <a:srgbClr val="DCE6E6"/>
            </a:solidFill>
            <a:prstDash val="solid"/>
          </a:ln>
        </p:spPr>
      </p:sp>
      <p:sp>
        <p:nvSpPr>
          <p:cNvPr id="10" name="Shape 8"/>
          <p:cNvSpPr/>
          <p:nvPr/>
        </p:nvSpPr>
        <p:spPr>
          <a:xfrm>
            <a:off x="6537960" y="2240280"/>
            <a:ext cx="640080" cy="640080"/>
          </a:xfrm>
          <a:prstGeom prst="ellipse">
            <a:avLst/>
          </a:prstGeom>
          <a:solidFill>
            <a:srgbClr val="028090"/>
          </a:solidFill>
          <a:ln/>
        </p:spPr>
      </p:sp>
      <p:sp>
        <p:nvSpPr>
          <p:cNvPr id="11" name="Text 9"/>
          <p:cNvSpPr/>
          <p:nvPr/>
        </p:nvSpPr>
        <p:spPr>
          <a:xfrm>
            <a:off x="6537960" y="2240280"/>
            <a:ext cx="640080" cy="64008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a:t>
            </a:r>
            <a:endParaRPr lang="en-US" sz="2600" dirty="0"/>
          </a:p>
        </p:txBody>
      </p:sp>
      <p:sp>
        <p:nvSpPr>
          <p:cNvPr id="12" name="Text 10"/>
          <p:cNvSpPr/>
          <p:nvPr/>
        </p:nvSpPr>
        <p:spPr>
          <a:xfrm>
            <a:off x="7360920" y="2304288"/>
            <a:ext cx="4023360" cy="502920"/>
          </a:xfrm>
          <a:prstGeom prst="rect">
            <a:avLst/>
          </a:prstGeom>
          <a:noFill/>
          <a:ln/>
        </p:spPr>
        <p:txBody>
          <a:bodyPr wrap="square" lIns="0" tIns="0" rIns="0" bIns="0" rtlCol="0" anchor="ctr"/>
          <a:lstStyle/>
          <a:p>
            <a:pPr indent="0" marL="0">
              <a:buNone/>
            </a:pPr>
            <a:r>
              <a:rPr lang="en-US" sz="1900" b="1" dirty="0">
                <a:solidFill>
                  <a:srgbClr val="1B2A33"/>
                </a:solidFill>
                <a:latin typeface="Cambria" pitchFamily="34" charset="0"/>
                <a:ea typeface="Cambria" pitchFamily="34" charset="-122"/>
                <a:cs typeface="Cambria" pitchFamily="34" charset="-120"/>
              </a:rPr>
              <a:t>No misrepresentation</a:t>
            </a:r>
            <a:endParaRPr lang="en-US" sz="1900" dirty="0"/>
          </a:p>
        </p:txBody>
      </p:sp>
      <p:sp>
        <p:nvSpPr>
          <p:cNvPr id="13" name="Text 11"/>
          <p:cNvSpPr/>
          <p:nvPr/>
        </p:nvSpPr>
        <p:spPr>
          <a:xfrm>
            <a:off x="6537960" y="3017520"/>
            <a:ext cx="4754880" cy="914400"/>
          </a:xfrm>
          <a:prstGeom prst="rect">
            <a:avLst/>
          </a:prstGeom>
          <a:noFill/>
          <a:ln/>
        </p:spPr>
        <p:txBody>
          <a:bodyPr wrap="square" lIns="0" tIns="0" rIns="0" bIns="0" rtlCol="0" anchor="ctr"/>
          <a:lstStyle/>
          <a:p>
            <a:pPr indent="0" marL="0">
              <a:buNone/>
            </a:pPr>
            <a:r>
              <a:rPr lang="en-US" sz="1300" dirty="0">
                <a:solidFill>
                  <a:srgbClr val="5B6B73"/>
                </a:solidFill>
                <a:latin typeface="Calibri" pitchFamily="34" charset="0"/>
                <a:ea typeface="Calibri" pitchFamily="34" charset="-122"/>
                <a:cs typeface="Calibri" pitchFamily="34" charset="-120"/>
              </a:rPr>
              <a:t>Generation is grounded in retrieved attributes; unverifiable claims are flagged before review.</a:t>
            </a:r>
            <a:endParaRPr lang="en-US" sz="1300" dirty="0"/>
          </a:p>
        </p:txBody>
      </p:sp>
      <p:sp>
        <p:nvSpPr>
          <p:cNvPr id="14" name="Shape 12"/>
          <p:cNvSpPr/>
          <p:nvPr/>
        </p:nvSpPr>
        <p:spPr>
          <a:xfrm>
            <a:off x="548640" y="4297680"/>
            <a:ext cx="5394960" cy="2148840"/>
          </a:xfrm>
          <a:prstGeom prst="roundRect">
            <a:avLst>
              <a:gd name="adj" fmla="val 4255"/>
            </a:avLst>
          </a:prstGeom>
          <a:solidFill>
            <a:srgbClr val="FFFFFF"/>
          </a:solidFill>
          <a:ln w="12700">
            <a:solidFill>
              <a:srgbClr val="DCE6E6"/>
            </a:solidFill>
            <a:prstDash val="solid"/>
          </a:ln>
        </p:spPr>
      </p:sp>
      <p:sp>
        <p:nvSpPr>
          <p:cNvPr id="15" name="Shape 13"/>
          <p:cNvSpPr/>
          <p:nvPr/>
        </p:nvSpPr>
        <p:spPr>
          <a:xfrm>
            <a:off x="868680" y="4617720"/>
            <a:ext cx="640080" cy="640080"/>
          </a:xfrm>
          <a:prstGeom prst="ellipse">
            <a:avLst/>
          </a:prstGeom>
          <a:solidFill>
            <a:srgbClr val="00A896"/>
          </a:solidFill>
          <a:ln/>
        </p:spPr>
      </p:sp>
      <p:sp>
        <p:nvSpPr>
          <p:cNvPr id="16" name="Text 14"/>
          <p:cNvSpPr/>
          <p:nvPr/>
        </p:nvSpPr>
        <p:spPr>
          <a:xfrm>
            <a:off x="868680" y="4617720"/>
            <a:ext cx="640080" cy="64008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a:t>
            </a:r>
            <a:endParaRPr lang="en-US" sz="2600" dirty="0"/>
          </a:p>
        </p:txBody>
      </p:sp>
      <p:sp>
        <p:nvSpPr>
          <p:cNvPr id="17" name="Text 15"/>
          <p:cNvSpPr/>
          <p:nvPr/>
        </p:nvSpPr>
        <p:spPr>
          <a:xfrm>
            <a:off x="1691640" y="4681728"/>
            <a:ext cx="4023360" cy="502920"/>
          </a:xfrm>
          <a:prstGeom prst="rect">
            <a:avLst/>
          </a:prstGeom>
          <a:noFill/>
          <a:ln/>
        </p:spPr>
        <p:txBody>
          <a:bodyPr wrap="square" lIns="0" tIns="0" rIns="0" bIns="0" rtlCol="0" anchor="ctr"/>
          <a:lstStyle/>
          <a:p>
            <a:pPr indent="0" marL="0">
              <a:buNone/>
            </a:pPr>
            <a:r>
              <a:rPr lang="en-US" sz="1900" b="1" dirty="0">
                <a:solidFill>
                  <a:srgbClr val="1B2A33"/>
                </a:solidFill>
                <a:latin typeface="Cambria" pitchFamily="34" charset="0"/>
                <a:ea typeface="Cambria" pitchFamily="34" charset="-122"/>
                <a:cs typeface="Cambria" pitchFamily="34" charset="-120"/>
              </a:rPr>
              <a:t>Right image, licensed</a:t>
            </a:r>
            <a:endParaRPr lang="en-US" sz="1900" dirty="0"/>
          </a:p>
        </p:txBody>
      </p:sp>
      <p:sp>
        <p:nvSpPr>
          <p:cNvPr id="18" name="Text 16"/>
          <p:cNvSpPr/>
          <p:nvPr/>
        </p:nvSpPr>
        <p:spPr>
          <a:xfrm>
            <a:off x="868680" y="5394960"/>
            <a:ext cx="4754880" cy="914400"/>
          </a:xfrm>
          <a:prstGeom prst="rect">
            <a:avLst/>
          </a:prstGeom>
          <a:noFill/>
          <a:ln/>
        </p:spPr>
        <p:txBody>
          <a:bodyPr wrap="square" lIns="0" tIns="0" rIns="0" bIns="0" rtlCol="0" anchor="ctr"/>
          <a:lstStyle/>
          <a:p>
            <a:pPr indent="0" marL="0">
              <a:buNone/>
            </a:pPr>
            <a:r>
              <a:rPr lang="en-US" sz="1300" dirty="0">
                <a:solidFill>
                  <a:srgbClr val="5B6B73"/>
                </a:solidFill>
                <a:latin typeface="Calibri" pitchFamily="34" charset="0"/>
                <a:ea typeface="Calibri" pitchFamily="34" charset="-122"/>
                <a:cs typeface="Calibri" pitchFamily="34" charset="-120"/>
              </a:rPr>
              <a:t>Same-SKU match blocks wrong-product images; only licence-clear sources adopted; false-swap rate measured.</a:t>
            </a:r>
            <a:endParaRPr lang="en-US" sz="1300" dirty="0"/>
          </a:p>
        </p:txBody>
      </p:sp>
      <p:sp>
        <p:nvSpPr>
          <p:cNvPr id="19" name="Shape 17"/>
          <p:cNvSpPr/>
          <p:nvPr/>
        </p:nvSpPr>
        <p:spPr>
          <a:xfrm>
            <a:off x="6217920" y="4297680"/>
            <a:ext cx="5394960" cy="2148840"/>
          </a:xfrm>
          <a:prstGeom prst="roundRect">
            <a:avLst>
              <a:gd name="adj" fmla="val 4255"/>
            </a:avLst>
          </a:prstGeom>
          <a:solidFill>
            <a:srgbClr val="FFFFFF"/>
          </a:solidFill>
          <a:ln w="12700">
            <a:solidFill>
              <a:srgbClr val="DCE6E6"/>
            </a:solidFill>
            <a:prstDash val="solid"/>
          </a:ln>
        </p:spPr>
      </p:sp>
      <p:sp>
        <p:nvSpPr>
          <p:cNvPr id="20" name="Shape 18"/>
          <p:cNvSpPr/>
          <p:nvPr/>
        </p:nvSpPr>
        <p:spPr>
          <a:xfrm>
            <a:off x="6537960" y="4617720"/>
            <a:ext cx="640080" cy="640080"/>
          </a:xfrm>
          <a:prstGeom prst="ellipse">
            <a:avLst/>
          </a:prstGeom>
          <a:solidFill>
            <a:srgbClr val="02C39A"/>
          </a:solidFill>
          <a:ln/>
        </p:spPr>
      </p:sp>
      <p:sp>
        <p:nvSpPr>
          <p:cNvPr id="21" name="Text 19"/>
          <p:cNvSpPr/>
          <p:nvPr/>
        </p:nvSpPr>
        <p:spPr>
          <a:xfrm>
            <a:off x="6537960" y="4617720"/>
            <a:ext cx="640080" cy="64008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a:t>
            </a:r>
            <a:endParaRPr lang="en-US" sz="2600" dirty="0"/>
          </a:p>
        </p:txBody>
      </p:sp>
      <p:sp>
        <p:nvSpPr>
          <p:cNvPr id="22" name="Text 20"/>
          <p:cNvSpPr/>
          <p:nvPr/>
        </p:nvSpPr>
        <p:spPr>
          <a:xfrm>
            <a:off x="7360920" y="4681728"/>
            <a:ext cx="4023360" cy="502920"/>
          </a:xfrm>
          <a:prstGeom prst="rect">
            <a:avLst/>
          </a:prstGeom>
          <a:noFill/>
          <a:ln/>
        </p:spPr>
        <p:txBody>
          <a:bodyPr wrap="square" lIns="0" tIns="0" rIns="0" bIns="0" rtlCol="0" anchor="ctr"/>
          <a:lstStyle/>
          <a:p>
            <a:pPr indent="0" marL="0">
              <a:buNone/>
            </a:pPr>
            <a:r>
              <a:rPr lang="en-US" sz="1900" b="1" dirty="0">
                <a:solidFill>
                  <a:srgbClr val="1B2A33"/>
                </a:solidFill>
                <a:latin typeface="Cambria" pitchFamily="34" charset="0"/>
                <a:ea typeface="Cambria" pitchFamily="34" charset="-122"/>
                <a:cs typeface="Cambria" pitchFamily="34" charset="-120"/>
              </a:rPr>
              <a:t>Transparent pricing</a:t>
            </a:r>
            <a:endParaRPr lang="en-US" sz="1900" dirty="0"/>
          </a:p>
        </p:txBody>
      </p:sp>
      <p:sp>
        <p:nvSpPr>
          <p:cNvPr id="23" name="Text 21"/>
          <p:cNvSpPr/>
          <p:nvPr/>
        </p:nvSpPr>
        <p:spPr>
          <a:xfrm>
            <a:off x="6537960" y="5394960"/>
            <a:ext cx="4754880" cy="914400"/>
          </a:xfrm>
          <a:prstGeom prst="rect">
            <a:avLst/>
          </a:prstGeom>
          <a:noFill/>
          <a:ln/>
        </p:spPr>
        <p:txBody>
          <a:bodyPr wrap="square" lIns="0" tIns="0" rIns="0" bIns="0" rtlCol="0" anchor="ctr"/>
          <a:lstStyle/>
          <a:p>
            <a:pPr indent="0" marL="0">
              <a:buNone/>
            </a:pPr>
            <a:r>
              <a:rPr lang="en-US" sz="1300" dirty="0">
                <a:solidFill>
                  <a:srgbClr val="5B6B73"/>
                </a:solidFill>
                <a:latin typeface="Calibri" pitchFamily="34" charset="0"/>
                <a:ea typeface="Calibri" pitchFamily="34" charset="-122"/>
                <a:cs typeface="Calibri" pitchFamily="34" charset="-120"/>
              </a:rPr>
              <a:t>Prices shown as ranges with the basis, so the owner makes the final call.</a:t>
            </a:r>
            <a:endParaRPr lang="en-US" sz="1300" dirty="0"/>
          </a:p>
        </p:txBody>
      </p:sp>
      <p:sp>
        <p:nvSpPr>
          <p:cNvPr id="24" name="Text 22"/>
          <p:cNvSpPr/>
          <p:nvPr/>
        </p:nvSpPr>
        <p:spPr>
          <a:xfrm>
            <a:off x="11274552" y="6400800"/>
            <a:ext cx="457200" cy="274320"/>
          </a:xfrm>
          <a:prstGeom prst="rect">
            <a:avLst/>
          </a:prstGeom>
          <a:noFill/>
          <a:ln/>
        </p:spPr>
        <p:txBody>
          <a:bodyPr wrap="square" rtlCol="0" anchor="ctr"/>
          <a:lstStyle/>
          <a:p>
            <a:pPr algn="r" indent="0" marL="0">
              <a:buNone/>
            </a:pPr>
            <a:r>
              <a:rPr lang="en-US" sz="1000" dirty="0">
                <a:solidFill>
                  <a:srgbClr val="5B6B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7"/>
        </a:solidFill>
      </p:bgPr>
    </p:bg>
    <p:spTree>
      <p:nvGrpSpPr>
        <p:cNvPr id="1" name=""/>
        <p:cNvGrpSpPr/>
        <p:nvPr/>
      </p:nvGrpSpPr>
      <p:grpSpPr>
        <a:xfrm>
          <a:off x="0" y="0"/>
          <a:ext cx="0" cy="0"/>
          <a:chOff x="0" y="0"/>
          <a:chExt cx="0" cy="0"/>
        </a:xfrm>
      </p:grpSpPr>
      <p:sp>
        <p:nvSpPr>
          <p:cNvPr id="2" name="Text 0"/>
          <p:cNvSpPr/>
          <p:nvPr/>
        </p:nvSpPr>
        <p:spPr>
          <a:xfrm>
            <a:off x="548640" y="502920"/>
            <a:ext cx="8229600" cy="320040"/>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EVALUATION</a:t>
            </a:r>
            <a:endParaRPr lang="en-US" sz="1200" dirty="0"/>
          </a:p>
        </p:txBody>
      </p:sp>
      <p:sp>
        <p:nvSpPr>
          <p:cNvPr id="3" name="Text 1"/>
          <p:cNvSpPr/>
          <p:nvPr/>
        </p:nvSpPr>
        <p:spPr>
          <a:xfrm>
            <a:off x="548640" y="777240"/>
            <a:ext cx="11091672" cy="822960"/>
          </a:xfrm>
          <a:prstGeom prst="rect">
            <a:avLst/>
          </a:prstGeom>
          <a:noFill/>
          <a:ln/>
        </p:spPr>
        <p:txBody>
          <a:bodyPr wrap="square" lIns="0" tIns="0" rIns="0" bIns="0" rtlCol="0" anchor="ctr"/>
          <a:lstStyle/>
          <a:p>
            <a:pPr indent="0" marL="0">
              <a:buNone/>
            </a:pPr>
            <a:r>
              <a:rPr lang="en-US" sz="3200" b="1" dirty="0">
                <a:solidFill>
                  <a:srgbClr val="1B2A33"/>
                </a:solidFill>
                <a:latin typeface="Cambria" pitchFamily="34" charset="0"/>
                <a:ea typeface="Cambria" pitchFamily="34" charset="-122"/>
                <a:cs typeface="Cambria" pitchFamily="34" charset="-120"/>
              </a:rPr>
              <a:t>Seven axes, anchored by a naive baseline</a:t>
            </a:r>
            <a:endParaRPr lang="en-US" sz="3200" dirty="0"/>
          </a:p>
        </p:txBody>
      </p:sp>
      <p:sp>
        <p:nvSpPr>
          <p:cNvPr id="4" name="Shape 2"/>
          <p:cNvSpPr/>
          <p:nvPr/>
        </p:nvSpPr>
        <p:spPr>
          <a:xfrm>
            <a:off x="548640" y="1783080"/>
            <a:ext cx="5394960" cy="621792"/>
          </a:xfrm>
          <a:prstGeom prst="roundRect">
            <a:avLst>
              <a:gd name="adj" fmla="val 10294"/>
            </a:avLst>
          </a:prstGeom>
          <a:solidFill>
            <a:srgbClr val="FFFFFF"/>
          </a:solidFill>
          <a:ln w="12700">
            <a:solidFill>
              <a:srgbClr val="DCE6E6"/>
            </a:solidFill>
            <a:prstDash val="solid"/>
          </a:ln>
        </p:spPr>
      </p:sp>
      <p:sp>
        <p:nvSpPr>
          <p:cNvPr id="5" name="Text 3"/>
          <p:cNvSpPr/>
          <p:nvPr/>
        </p:nvSpPr>
        <p:spPr>
          <a:xfrm>
            <a:off x="731520" y="1783080"/>
            <a:ext cx="2011680" cy="621792"/>
          </a:xfrm>
          <a:prstGeom prst="rect">
            <a:avLst/>
          </a:prstGeom>
          <a:noFill/>
          <a:ln/>
        </p:spPr>
        <p:txBody>
          <a:bodyPr wrap="square" lIns="635" tIns="635" rIns="635" bIns="635" rtlCol="0" anchor="ctr"/>
          <a:lstStyle/>
          <a:p>
            <a:pPr indent="0" marL="0">
              <a:buNone/>
            </a:pPr>
            <a:r>
              <a:rPr lang="en-US" sz="1300" b="1" dirty="0">
                <a:solidFill>
                  <a:srgbClr val="028090"/>
                </a:solidFill>
                <a:latin typeface="Calibri" pitchFamily="34" charset="0"/>
                <a:ea typeface="Calibri" pitchFamily="34" charset="-122"/>
                <a:cs typeface="Calibri" pitchFamily="34" charset="-120"/>
              </a:rPr>
              <a:t>Identification</a:t>
            </a:r>
            <a:endParaRPr lang="en-US" sz="1300" dirty="0"/>
          </a:p>
        </p:txBody>
      </p:sp>
      <p:sp>
        <p:nvSpPr>
          <p:cNvPr id="6" name="Text 4"/>
          <p:cNvSpPr/>
          <p:nvPr/>
        </p:nvSpPr>
        <p:spPr>
          <a:xfrm>
            <a:off x="2651760" y="1783080"/>
            <a:ext cx="3200400" cy="621792"/>
          </a:xfrm>
          <a:prstGeom prst="rect">
            <a:avLst/>
          </a:prstGeom>
          <a:noFill/>
          <a:ln/>
        </p:spPr>
        <p:txBody>
          <a:bodyPr wrap="square" lIns="635" tIns="635" rIns="635" bIns="635" rtlCol="0" anchor="ctr"/>
          <a:lstStyle/>
          <a:p>
            <a:pPr indent="0" marL="0">
              <a:buNone/>
            </a:pPr>
            <a:r>
              <a:rPr lang="en-US" sz="1100" dirty="0">
                <a:solidFill>
                  <a:srgbClr val="1B2A33"/>
                </a:solidFill>
                <a:latin typeface="Calibri" pitchFamily="34" charset="0"/>
                <a:ea typeface="Calibri" pitchFamily="34" charset="-122"/>
                <a:cs typeface="Calibri" pitchFamily="34" charset="-120"/>
              </a:rPr>
              <a:t>Top-1 / Top-3 SKU accuracy; brand vs variant level</a:t>
            </a:r>
            <a:endParaRPr lang="en-US" sz="1100" dirty="0"/>
          </a:p>
        </p:txBody>
      </p:sp>
      <p:sp>
        <p:nvSpPr>
          <p:cNvPr id="7" name="Shape 5"/>
          <p:cNvSpPr/>
          <p:nvPr/>
        </p:nvSpPr>
        <p:spPr>
          <a:xfrm>
            <a:off x="6217920" y="1783080"/>
            <a:ext cx="5394960" cy="621792"/>
          </a:xfrm>
          <a:prstGeom prst="roundRect">
            <a:avLst>
              <a:gd name="adj" fmla="val 10294"/>
            </a:avLst>
          </a:prstGeom>
          <a:solidFill>
            <a:srgbClr val="E9F1F1"/>
          </a:solidFill>
          <a:ln w="12700">
            <a:solidFill>
              <a:srgbClr val="DCE6E6"/>
            </a:solidFill>
            <a:prstDash val="solid"/>
          </a:ln>
        </p:spPr>
      </p:sp>
      <p:sp>
        <p:nvSpPr>
          <p:cNvPr id="8" name="Text 6"/>
          <p:cNvSpPr/>
          <p:nvPr/>
        </p:nvSpPr>
        <p:spPr>
          <a:xfrm>
            <a:off x="6400800" y="1783080"/>
            <a:ext cx="2011680" cy="621792"/>
          </a:xfrm>
          <a:prstGeom prst="rect">
            <a:avLst/>
          </a:prstGeom>
          <a:noFill/>
          <a:ln/>
        </p:spPr>
        <p:txBody>
          <a:bodyPr wrap="square" lIns="635" tIns="635" rIns="635" bIns="635" rtlCol="0" anchor="ctr"/>
          <a:lstStyle/>
          <a:p>
            <a:pPr indent="0" marL="0">
              <a:buNone/>
            </a:pPr>
            <a:r>
              <a:rPr lang="en-US" sz="1300" b="1" dirty="0">
                <a:solidFill>
                  <a:srgbClr val="028090"/>
                </a:solidFill>
                <a:latin typeface="Calibri" pitchFamily="34" charset="0"/>
                <a:ea typeface="Calibri" pitchFamily="34" charset="-122"/>
                <a:cs typeface="Calibri" pitchFamily="34" charset="-120"/>
              </a:rPr>
              <a:t>Attribute extraction</a:t>
            </a:r>
            <a:endParaRPr lang="en-US" sz="1300" dirty="0"/>
          </a:p>
        </p:txBody>
      </p:sp>
      <p:sp>
        <p:nvSpPr>
          <p:cNvPr id="9" name="Text 7"/>
          <p:cNvSpPr/>
          <p:nvPr/>
        </p:nvSpPr>
        <p:spPr>
          <a:xfrm>
            <a:off x="8321040" y="1783080"/>
            <a:ext cx="3200400" cy="621792"/>
          </a:xfrm>
          <a:prstGeom prst="rect">
            <a:avLst/>
          </a:prstGeom>
          <a:noFill/>
          <a:ln/>
        </p:spPr>
        <p:txBody>
          <a:bodyPr wrap="square" lIns="635" tIns="635" rIns="635" bIns="635" rtlCol="0" anchor="ctr"/>
          <a:lstStyle/>
          <a:p>
            <a:pPr indent="0" marL="0">
              <a:buNone/>
            </a:pPr>
            <a:r>
              <a:rPr lang="en-US" sz="1100" dirty="0">
                <a:solidFill>
                  <a:srgbClr val="1B2A33"/>
                </a:solidFill>
                <a:latin typeface="Calibri" pitchFamily="34" charset="0"/>
                <a:ea typeface="Calibri" pitchFamily="34" charset="-122"/>
                <a:cs typeface="Calibri" pitchFamily="34" charset="-120"/>
              </a:rPr>
              <a:t>Field-level precision / recall (size, flavour, count)</a:t>
            </a:r>
            <a:endParaRPr lang="en-US" sz="1100" dirty="0"/>
          </a:p>
        </p:txBody>
      </p:sp>
      <p:sp>
        <p:nvSpPr>
          <p:cNvPr id="10" name="Shape 8"/>
          <p:cNvSpPr/>
          <p:nvPr/>
        </p:nvSpPr>
        <p:spPr>
          <a:xfrm>
            <a:off x="548640" y="2496312"/>
            <a:ext cx="5394960" cy="621792"/>
          </a:xfrm>
          <a:prstGeom prst="roundRect">
            <a:avLst>
              <a:gd name="adj" fmla="val 10294"/>
            </a:avLst>
          </a:prstGeom>
          <a:solidFill>
            <a:srgbClr val="FFFFFF"/>
          </a:solidFill>
          <a:ln w="12700">
            <a:solidFill>
              <a:srgbClr val="DCE6E6"/>
            </a:solidFill>
            <a:prstDash val="solid"/>
          </a:ln>
        </p:spPr>
      </p:sp>
      <p:sp>
        <p:nvSpPr>
          <p:cNvPr id="11" name="Text 9"/>
          <p:cNvSpPr/>
          <p:nvPr/>
        </p:nvSpPr>
        <p:spPr>
          <a:xfrm>
            <a:off x="731520" y="2496312"/>
            <a:ext cx="2011680" cy="621792"/>
          </a:xfrm>
          <a:prstGeom prst="rect">
            <a:avLst/>
          </a:prstGeom>
          <a:noFill/>
          <a:ln/>
        </p:spPr>
        <p:txBody>
          <a:bodyPr wrap="square" lIns="635" tIns="635" rIns="635" bIns="635" rtlCol="0" anchor="ctr"/>
          <a:lstStyle/>
          <a:p>
            <a:pPr indent="0" marL="0">
              <a:buNone/>
            </a:pPr>
            <a:r>
              <a:rPr lang="en-US" sz="1300" b="1" dirty="0">
                <a:solidFill>
                  <a:srgbClr val="028090"/>
                </a:solidFill>
                <a:latin typeface="Calibri" pitchFamily="34" charset="0"/>
                <a:ea typeface="Calibri" pitchFamily="34" charset="-122"/>
                <a:cs typeface="Calibri" pitchFamily="34" charset="-120"/>
              </a:rPr>
              <a:t>Price estimation</a:t>
            </a:r>
            <a:endParaRPr lang="en-US" sz="1300" dirty="0"/>
          </a:p>
        </p:txBody>
      </p:sp>
      <p:sp>
        <p:nvSpPr>
          <p:cNvPr id="12" name="Text 10"/>
          <p:cNvSpPr/>
          <p:nvPr/>
        </p:nvSpPr>
        <p:spPr>
          <a:xfrm>
            <a:off x="2651760" y="2496312"/>
            <a:ext cx="3200400" cy="621792"/>
          </a:xfrm>
          <a:prstGeom prst="rect">
            <a:avLst/>
          </a:prstGeom>
          <a:noFill/>
          <a:ln/>
        </p:spPr>
        <p:txBody>
          <a:bodyPr wrap="square" lIns="635" tIns="635" rIns="635" bIns="635" rtlCol="0" anchor="ctr"/>
          <a:lstStyle/>
          <a:p>
            <a:pPr indent="0" marL="0">
              <a:buNone/>
            </a:pPr>
            <a:r>
              <a:rPr lang="en-US" sz="1100" dirty="0">
                <a:solidFill>
                  <a:srgbClr val="1B2A33"/>
                </a:solidFill>
                <a:latin typeface="Calibri" pitchFamily="34" charset="0"/>
                <a:ea typeface="Calibri" pitchFamily="34" charset="-122"/>
                <a:cs typeface="Calibri" pitchFamily="34" charset="-120"/>
              </a:rPr>
              <a:t>Median abs. % error vs real observed price; % in band</a:t>
            </a:r>
            <a:endParaRPr lang="en-US" sz="1100" dirty="0"/>
          </a:p>
        </p:txBody>
      </p:sp>
      <p:sp>
        <p:nvSpPr>
          <p:cNvPr id="13" name="Shape 11"/>
          <p:cNvSpPr/>
          <p:nvPr/>
        </p:nvSpPr>
        <p:spPr>
          <a:xfrm>
            <a:off x="6217920" y="2496312"/>
            <a:ext cx="5394960" cy="621792"/>
          </a:xfrm>
          <a:prstGeom prst="roundRect">
            <a:avLst>
              <a:gd name="adj" fmla="val 10294"/>
            </a:avLst>
          </a:prstGeom>
          <a:solidFill>
            <a:srgbClr val="E9F1F1"/>
          </a:solidFill>
          <a:ln w="12700">
            <a:solidFill>
              <a:srgbClr val="DCE6E6"/>
            </a:solidFill>
            <a:prstDash val="solid"/>
          </a:ln>
        </p:spPr>
      </p:sp>
      <p:sp>
        <p:nvSpPr>
          <p:cNvPr id="14" name="Text 12"/>
          <p:cNvSpPr/>
          <p:nvPr/>
        </p:nvSpPr>
        <p:spPr>
          <a:xfrm>
            <a:off x="6400800" y="2496312"/>
            <a:ext cx="2011680" cy="621792"/>
          </a:xfrm>
          <a:prstGeom prst="rect">
            <a:avLst/>
          </a:prstGeom>
          <a:noFill/>
          <a:ln/>
        </p:spPr>
        <p:txBody>
          <a:bodyPr wrap="square" lIns="635" tIns="635" rIns="635" bIns="635" rtlCol="0" anchor="ctr"/>
          <a:lstStyle/>
          <a:p>
            <a:pPr indent="0" marL="0">
              <a:buNone/>
            </a:pPr>
            <a:r>
              <a:rPr lang="en-US" sz="1300" b="1" dirty="0">
                <a:solidFill>
                  <a:srgbClr val="028090"/>
                </a:solidFill>
                <a:latin typeface="Calibri" pitchFamily="34" charset="0"/>
                <a:ea typeface="Calibri" pitchFamily="34" charset="-122"/>
                <a:cs typeface="Calibri" pitchFamily="34" charset="-120"/>
              </a:rPr>
              <a:t>Listing quality</a:t>
            </a:r>
            <a:endParaRPr lang="en-US" sz="1300" dirty="0"/>
          </a:p>
        </p:txBody>
      </p:sp>
      <p:sp>
        <p:nvSpPr>
          <p:cNvPr id="15" name="Text 13"/>
          <p:cNvSpPr/>
          <p:nvPr/>
        </p:nvSpPr>
        <p:spPr>
          <a:xfrm>
            <a:off x="8321040" y="2496312"/>
            <a:ext cx="3200400" cy="621792"/>
          </a:xfrm>
          <a:prstGeom prst="rect">
            <a:avLst/>
          </a:prstGeom>
          <a:noFill/>
          <a:ln/>
        </p:spPr>
        <p:txBody>
          <a:bodyPr wrap="square" lIns="635" tIns="635" rIns="635" bIns="635" rtlCol="0" anchor="ctr"/>
          <a:lstStyle/>
          <a:p>
            <a:pPr indent="0" marL="0">
              <a:buNone/>
            </a:pPr>
            <a:r>
              <a:rPr lang="en-US" sz="1100" dirty="0">
                <a:solidFill>
                  <a:srgbClr val="1B2A33"/>
                </a:solidFill>
                <a:latin typeface="Calibri" pitchFamily="34" charset="0"/>
                <a:ea typeface="Calibri" pitchFamily="34" charset="-122"/>
                <a:cs typeface="Calibri" pitchFamily="34" charset="-120"/>
              </a:rPr>
              <a:t>Blind human rubric: accuracy, completeness, no hallucination</a:t>
            </a:r>
            <a:endParaRPr lang="en-US" sz="1100" dirty="0"/>
          </a:p>
        </p:txBody>
      </p:sp>
      <p:sp>
        <p:nvSpPr>
          <p:cNvPr id="16" name="Shape 14"/>
          <p:cNvSpPr/>
          <p:nvPr/>
        </p:nvSpPr>
        <p:spPr>
          <a:xfrm>
            <a:off x="548640" y="3209544"/>
            <a:ext cx="5394960" cy="621792"/>
          </a:xfrm>
          <a:prstGeom prst="roundRect">
            <a:avLst>
              <a:gd name="adj" fmla="val 10294"/>
            </a:avLst>
          </a:prstGeom>
          <a:solidFill>
            <a:srgbClr val="FFFFFF"/>
          </a:solidFill>
          <a:ln w="12700">
            <a:solidFill>
              <a:srgbClr val="DCE6E6"/>
            </a:solidFill>
            <a:prstDash val="solid"/>
          </a:ln>
        </p:spPr>
      </p:sp>
      <p:sp>
        <p:nvSpPr>
          <p:cNvPr id="17" name="Text 15"/>
          <p:cNvSpPr/>
          <p:nvPr/>
        </p:nvSpPr>
        <p:spPr>
          <a:xfrm>
            <a:off x="731520" y="3209544"/>
            <a:ext cx="2011680" cy="621792"/>
          </a:xfrm>
          <a:prstGeom prst="rect">
            <a:avLst/>
          </a:prstGeom>
          <a:noFill/>
          <a:ln/>
        </p:spPr>
        <p:txBody>
          <a:bodyPr wrap="square" lIns="635" tIns="635" rIns="635" bIns="635" rtlCol="0" anchor="ctr"/>
          <a:lstStyle/>
          <a:p>
            <a:pPr indent="0" marL="0">
              <a:buNone/>
            </a:pPr>
            <a:r>
              <a:rPr lang="en-US" sz="1300" b="1" dirty="0">
                <a:solidFill>
                  <a:srgbClr val="028090"/>
                </a:solidFill>
                <a:latin typeface="Calibri" pitchFamily="34" charset="0"/>
                <a:ea typeface="Calibri" pitchFamily="34" charset="-122"/>
                <a:cs typeface="Calibri" pitchFamily="34" charset="-120"/>
              </a:rPr>
              <a:t>Image upgrade</a:t>
            </a:r>
            <a:endParaRPr lang="en-US" sz="1300" dirty="0"/>
          </a:p>
        </p:txBody>
      </p:sp>
      <p:sp>
        <p:nvSpPr>
          <p:cNvPr id="18" name="Text 16"/>
          <p:cNvSpPr/>
          <p:nvPr/>
        </p:nvSpPr>
        <p:spPr>
          <a:xfrm>
            <a:off x="2651760" y="3209544"/>
            <a:ext cx="3200400" cy="621792"/>
          </a:xfrm>
          <a:prstGeom prst="rect">
            <a:avLst/>
          </a:prstGeom>
          <a:noFill/>
          <a:ln/>
        </p:spPr>
        <p:txBody>
          <a:bodyPr wrap="square" lIns="635" tIns="635" rIns="635" bIns="635" rtlCol="0" anchor="ctr"/>
          <a:lstStyle/>
          <a:p>
            <a:pPr indent="0" marL="0">
              <a:buNone/>
            </a:pPr>
            <a:r>
              <a:rPr lang="en-US" sz="1100" dirty="0">
                <a:solidFill>
                  <a:srgbClr val="1B2A33"/>
                </a:solidFill>
                <a:latin typeface="Calibri" pitchFamily="34" charset="0"/>
                <a:ea typeface="Calibri" pitchFamily="34" charset="-122"/>
                <a:cs typeface="Calibri" pitchFamily="34" charset="-120"/>
              </a:rPr>
              <a:t>Match accuracy; % upgraded; false-swap rate (penalised)</a:t>
            </a:r>
            <a:endParaRPr lang="en-US" sz="1100" dirty="0"/>
          </a:p>
        </p:txBody>
      </p:sp>
      <p:sp>
        <p:nvSpPr>
          <p:cNvPr id="19" name="Shape 17"/>
          <p:cNvSpPr/>
          <p:nvPr/>
        </p:nvSpPr>
        <p:spPr>
          <a:xfrm>
            <a:off x="6217920" y="3209544"/>
            <a:ext cx="5394960" cy="621792"/>
          </a:xfrm>
          <a:prstGeom prst="roundRect">
            <a:avLst>
              <a:gd name="adj" fmla="val 10294"/>
            </a:avLst>
          </a:prstGeom>
          <a:solidFill>
            <a:srgbClr val="E9F1F1"/>
          </a:solidFill>
          <a:ln w="12700">
            <a:solidFill>
              <a:srgbClr val="DCE6E6"/>
            </a:solidFill>
            <a:prstDash val="solid"/>
          </a:ln>
        </p:spPr>
      </p:sp>
      <p:sp>
        <p:nvSpPr>
          <p:cNvPr id="20" name="Text 18"/>
          <p:cNvSpPr/>
          <p:nvPr/>
        </p:nvSpPr>
        <p:spPr>
          <a:xfrm>
            <a:off x="6400800" y="3209544"/>
            <a:ext cx="2011680" cy="621792"/>
          </a:xfrm>
          <a:prstGeom prst="rect">
            <a:avLst/>
          </a:prstGeom>
          <a:noFill/>
          <a:ln/>
        </p:spPr>
        <p:txBody>
          <a:bodyPr wrap="square" lIns="635" tIns="635" rIns="635" bIns="635" rtlCol="0" anchor="ctr"/>
          <a:lstStyle/>
          <a:p>
            <a:pPr indent="0" marL="0">
              <a:buNone/>
            </a:pPr>
            <a:r>
              <a:rPr lang="en-US" sz="1300" b="1" dirty="0">
                <a:solidFill>
                  <a:srgbClr val="028090"/>
                </a:solidFill>
                <a:latin typeface="Calibri" pitchFamily="34" charset="0"/>
                <a:ea typeface="Calibri" pitchFamily="34" charset="-122"/>
                <a:cs typeface="Calibri" pitchFamily="34" charset="-120"/>
              </a:rPr>
              <a:t>Responsible AI</a:t>
            </a:r>
            <a:endParaRPr lang="en-US" sz="1300" dirty="0"/>
          </a:p>
        </p:txBody>
      </p:sp>
      <p:sp>
        <p:nvSpPr>
          <p:cNvPr id="21" name="Text 19"/>
          <p:cNvSpPr/>
          <p:nvPr/>
        </p:nvSpPr>
        <p:spPr>
          <a:xfrm>
            <a:off x="8321040" y="3209544"/>
            <a:ext cx="3200400" cy="621792"/>
          </a:xfrm>
          <a:prstGeom prst="rect">
            <a:avLst/>
          </a:prstGeom>
          <a:noFill/>
          <a:ln/>
        </p:spPr>
        <p:txBody>
          <a:bodyPr wrap="square" lIns="635" tIns="635" rIns="635" bIns="635" rtlCol="0" anchor="ctr"/>
          <a:lstStyle/>
          <a:p>
            <a:pPr indent="0" marL="0">
              <a:buNone/>
            </a:pPr>
            <a:r>
              <a:rPr lang="en-US" sz="1100" dirty="0">
                <a:solidFill>
                  <a:srgbClr val="1B2A33"/>
                </a:solidFill>
                <a:latin typeface="Calibri" pitchFamily="34" charset="0"/>
                <a:ea typeface="Calibri" pitchFamily="34" charset="-122"/>
                <a:cs typeface="Calibri" pitchFamily="34" charset="-120"/>
              </a:rPr>
              <a:t>Age-restricted recall; hallucinated-claim catch rate</a:t>
            </a:r>
            <a:endParaRPr lang="en-US" sz="1100" dirty="0"/>
          </a:p>
        </p:txBody>
      </p:sp>
      <p:sp>
        <p:nvSpPr>
          <p:cNvPr id="22" name="Shape 20"/>
          <p:cNvSpPr/>
          <p:nvPr/>
        </p:nvSpPr>
        <p:spPr>
          <a:xfrm>
            <a:off x="548640" y="3922776"/>
            <a:ext cx="5394960" cy="621792"/>
          </a:xfrm>
          <a:prstGeom prst="roundRect">
            <a:avLst>
              <a:gd name="adj" fmla="val 10294"/>
            </a:avLst>
          </a:prstGeom>
          <a:solidFill>
            <a:srgbClr val="FFFFFF"/>
          </a:solidFill>
          <a:ln w="12700">
            <a:solidFill>
              <a:srgbClr val="DCE6E6"/>
            </a:solidFill>
            <a:prstDash val="solid"/>
          </a:ln>
        </p:spPr>
      </p:sp>
      <p:sp>
        <p:nvSpPr>
          <p:cNvPr id="23" name="Text 21"/>
          <p:cNvSpPr/>
          <p:nvPr/>
        </p:nvSpPr>
        <p:spPr>
          <a:xfrm>
            <a:off x="731520" y="3922776"/>
            <a:ext cx="2011680" cy="621792"/>
          </a:xfrm>
          <a:prstGeom prst="rect">
            <a:avLst/>
          </a:prstGeom>
          <a:noFill/>
          <a:ln/>
        </p:spPr>
        <p:txBody>
          <a:bodyPr wrap="square" lIns="635" tIns="635" rIns="635" bIns="635" rtlCol="0" anchor="ctr"/>
          <a:lstStyle/>
          <a:p>
            <a:pPr indent="0" marL="0">
              <a:buNone/>
            </a:pPr>
            <a:r>
              <a:rPr lang="en-US" sz="1300" b="1" dirty="0">
                <a:solidFill>
                  <a:srgbClr val="028090"/>
                </a:solidFill>
                <a:latin typeface="Calibri" pitchFamily="34" charset="0"/>
                <a:ea typeface="Calibri" pitchFamily="34" charset="-122"/>
                <a:cs typeface="Calibri" pitchFamily="34" charset="-120"/>
              </a:rPr>
              <a:t>Efficiency</a:t>
            </a:r>
            <a:endParaRPr lang="en-US" sz="1300" dirty="0"/>
          </a:p>
        </p:txBody>
      </p:sp>
      <p:sp>
        <p:nvSpPr>
          <p:cNvPr id="24" name="Text 22"/>
          <p:cNvSpPr/>
          <p:nvPr/>
        </p:nvSpPr>
        <p:spPr>
          <a:xfrm>
            <a:off x="2651760" y="3922776"/>
            <a:ext cx="3200400" cy="621792"/>
          </a:xfrm>
          <a:prstGeom prst="rect">
            <a:avLst/>
          </a:prstGeom>
          <a:noFill/>
          <a:ln/>
        </p:spPr>
        <p:txBody>
          <a:bodyPr wrap="square" lIns="635" tIns="635" rIns="635" bIns="635" rtlCol="0" anchor="ctr"/>
          <a:lstStyle/>
          <a:p>
            <a:pPr indent="0" marL="0">
              <a:buNone/>
            </a:pPr>
            <a:r>
              <a:rPr lang="en-US" sz="1100" dirty="0">
                <a:solidFill>
                  <a:srgbClr val="1B2A33"/>
                </a:solidFill>
                <a:latin typeface="Calibri" pitchFamily="34" charset="0"/>
                <a:ea typeface="Calibri" pitchFamily="34" charset="-122"/>
                <a:cs typeface="Calibri" pitchFamily="34" charset="-120"/>
              </a:rPr>
              <a:t>Latency and approximate cost per item</a:t>
            </a:r>
            <a:endParaRPr lang="en-US" sz="1100" dirty="0"/>
          </a:p>
        </p:txBody>
      </p:sp>
      <p:sp>
        <p:nvSpPr>
          <p:cNvPr id="25" name="Shape 23"/>
          <p:cNvSpPr/>
          <p:nvPr/>
        </p:nvSpPr>
        <p:spPr>
          <a:xfrm>
            <a:off x="548640" y="5394960"/>
            <a:ext cx="11064240" cy="1005840"/>
          </a:xfrm>
          <a:prstGeom prst="roundRect">
            <a:avLst>
              <a:gd name="adj" fmla="val 9091"/>
            </a:avLst>
          </a:prstGeom>
          <a:solidFill>
            <a:srgbClr val="0B2A3B"/>
          </a:solidFill>
          <a:ln/>
        </p:spPr>
      </p:sp>
      <p:sp>
        <p:nvSpPr>
          <p:cNvPr id="26" name="Text 24"/>
          <p:cNvSpPr/>
          <p:nvPr/>
        </p:nvSpPr>
        <p:spPr>
          <a:xfrm>
            <a:off x="822960" y="5440680"/>
            <a:ext cx="10515600" cy="914400"/>
          </a:xfrm>
          <a:prstGeom prst="rect">
            <a:avLst/>
          </a:prstGeom>
          <a:noFill/>
          <a:ln/>
        </p:spPr>
        <p:txBody>
          <a:bodyPr wrap="square" lIns="0" tIns="0" rIns="0" bIns="0" rtlCol="0" anchor="ctr"/>
          <a:lstStyle/>
          <a:p>
            <a:pPr indent="0" marL="0">
              <a:buNone/>
            </a:pPr>
            <a:r>
              <a:rPr lang="en-US" sz="1350" b="1" dirty="0">
                <a:solidFill>
                  <a:srgbClr val="02C39A"/>
                </a:solidFill>
                <a:latin typeface="Calibri" pitchFamily="34" charset="0"/>
                <a:ea typeface="Calibri" pitchFamily="34" charset="-122"/>
                <a:cs typeface="Calibri" pitchFamily="34" charset="-120"/>
              </a:rPr>
              <a:t>Naive baseline:  </a:t>
            </a:r>
            <a:pPr indent="0" marL="0">
              <a:buNone/>
            </a:pPr>
            <a:r>
              <a:rPr lang="en-US" sz="1350" dirty="0">
                <a:solidFill>
                  <a:srgbClr val="FFFFFF"/>
                </a:solidFill>
                <a:latin typeface="Calibri" pitchFamily="34" charset="0"/>
                <a:ea typeface="Calibri" pitchFamily="34" charset="-122"/>
                <a:cs typeface="Calibri" pitchFamily="34" charset="-120"/>
              </a:rPr>
              <a:t>VLM caption → generic listing, no retrieval grounding, no guardrails. Every improvement is measured against it, so gains are attributable — not a single headline number.</a:t>
            </a:r>
            <a:endParaRPr lang="en-US" sz="1350" dirty="0"/>
          </a:p>
        </p:txBody>
      </p:sp>
      <p:sp>
        <p:nvSpPr>
          <p:cNvPr id="27" name="Text 25"/>
          <p:cNvSpPr/>
          <p:nvPr/>
        </p:nvSpPr>
        <p:spPr>
          <a:xfrm>
            <a:off x="11274552" y="6400800"/>
            <a:ext cx="457200" cy="274320"/>
          </a:xfrm>
          <a:prstGeom prst="rect">
            <a:avLst/>
          </a:prstGeom>
          <a:noFill/>
          <a:ln/>
        </p:spPr>
        <p:txBody>
          <a:bodyPr wrap="square" rtlCol="0" anchor="ctr"/>
          <a:lstStyle/>
          <a:p>
            <a:pPr algn="r" indent="0" marL="0">
              <a:buNone/>
            </a:pPr>
            <a:r>
              <a:rPr lang="en-US" sz="1000" dirty="0">
                <a:solidFill>
                  <a:srgbClr val="5B6B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7"/>
        </a:solidFill>
      </p:bgPr>
    </p:bg>
    <p:spTree>
      <p:nvGrpSpPr>
        <p:cNvPr id="1" name=""/>
        <p:cNvGrpSpPr/>
        <p:nvPr/>
      </p:nvGrpSpPr>
      <p:grpSpPr>
        <a:xfrm>
          <a:off x="0" y="0"/>
          <a:ext cx="0" cy="0"/>
          <a:chOff x="0" y="0"/>
          <a:chExt cx="0" cy="0"/>
        </a:xfrm>
      </p:grpSpPr>
      <p:sp>
        <p:nvSpPr>
          <p:cNvPr id="2" name="Text 0"/>
          <p:cNvSpPr/>
          <p:nvPr/>
        </p:nvSpPr>
        <p:spPr>
          <a:xfrm>
            <a:off x="548640" y="502920"/>
            <a:ext cx="8229600" cy="320040"/>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RESULTS</a:t>
            </a:r>
            <a:endParaRPr lang="en-US" sz="1200" dirty="0"/>
          </a:p>
        </p:txBody>
      </p:sp>
      <p:sp>
        <p:nvSpPr>
          <p:cNvPr id="3" name="Text 1"/>
          <p:cNvSpPr/>
          <p:nvPr/>
        </p:nvSpPr>
        <p:spPr>
          <a:xfrm>
            <a:off x="548640" y="777240"/>
            <a:ext cx="11091672" cy="822960"/>
          </a:xfrm>
          <a:prstGeom prst="rect">
            <a:avLst/>
          </a:prstGeom>
          <a:noFill/>
          <a:ln/>
        </p:spPr>
        <p:txBody>
          <a:bodyPr wrap="square" lIns="0" tIns="0" rIns="0" bIns="0" rtlCol="0" anchor="ctr"/>
          <a:lstStyle/>
          <a:p>
            <a:pPr indent="0" marL="0">
              <a:buNone/>
            </a:pPr>
            <a:r>
              <a:rPr lang="en-US" sz="3200" b="1" dirty="0">
                <a:solidFill>
                  <a:srgbClr val="1B2A33"/>
                </a:solidFill>
                <a:latin typeface="Cambria" pitchFamily="34" charset="0"/>
                <a:ea typeface="Cambria" pitchFamily="34" charset="-122"/>
                <a:cs typeface="Cambria" pitchFamily="34" charset="-120"/>
              </a:rPr>
              <a:t>Results — pending live evaluation run</a:t>
            </a:r>
            <a:endParaRPr lang="en-US" sz="3200" dirty="0"/>
          </a:p>
        </p:txBody>
      </p:sp>
      <p:sp>
        <p:nvSpPr>
          <p:cNvPr id="4" name="Shape 2"/>
          <p:cNvSpPr/>
          <p:nvPr/>
        </p:nvSpPr>
        <p:spPr>
          <a:xfrm>
            <a:off x="548640" y="1645920"/>
            <a:ext cx="11064240" cy="548640"/>
          </a:xfrm>
          <a:prstGeom prst="roundRect">
            <a:avLst>
              <a:gd name="adj" fmla="val 13333"/>
            </a:avLst>
          </a:prstGeom>
          <a:solidFill>
            <a:srgbClr val="FDECEC"/>
          </a:solidFill>
          <a:ln w="12700">
            <a:solidFill>
              <a:srgbClr val="F96167"/>
            </a:solidFill>
            <a:prstDash val="solid"/>
          </a:ln>
        </p:spPr>
      </p:sp>
      <p:sp>
        <p:nvSpPr>
          <p:cNvPr id="5" name="Text 3"/>
          <p:cNvSpPr/>
          <p:nvPr/>
        </p:nvSpPr>
        <p:spPr>
          <a:xfrm>
            <a:off x="822960" y="1645920"/>
            <a:ext cx="10515600" cy="548640"/>
          </a:xfrm>
          <a:prstGeom prst="rect">
            <a:avLst/>
          </a:prstGeom>
          <a:noFill/>
          <a:ln/>
        </p:spPr>
        <p:txBody>
          <a:bodyPr wrap="square" lIns="0" tIns="0" rIns="0" bIns="0" rtlCol="0" anchor="ctr"/>
          <a:lstStyle/>
          <a:p>
            <a:pPr indent="0" marL="0">
              <a:buNone/>
            </a:pPr>
            <a:r>
              <a:rPr lang="en-US" sz="1250" b="1" dirty="0">
                <a:solidFill>
                  <a:srgbClr val="F96167"/>
                </a:solidFill>
                <a:latin typeface="Calibri" pitchFamily="34" charset="0"/>
                <a:ea typeface="Calibri" pitchFamily="34" charset="-122"/>
                <a:cs typeface="Calibri" pitchFamily="34" charset="-120"/>
              </a:rPr>
              <a:t>PLACEHOLDER — populate after the ~50-item labelled test set is scored on the live pipeline vs the naive baseline.</a:t>
            </a:r>
            <a:endParaRPr lang="en-US" sz="1250" dirty="0"/>
          </a:p>
        </p:txBody>
      </p:sp>
      <p:sp>
        <p:nvSpPr>
          <p:cNvPr id="6" name="Shape 4"/>
          <p:cNvSpPr/>
          <p:nvPr/>
        </p:nvSpPr>
        <p:spPr>
          <a:xfrm>
            <a:off x="548640" y="2468880"/>
            <a:ext cx="11064240" cy="502920"/>
          </a:xfrm>
          <a:prstGeom prst="rect">
            <a:avLst/>
          </a:prstGeom>
          <a:solidFill>
            <a:srgbClr val="028090"/>
          </a:solidFill>
          <a:ln/>
        </p:spPr>
      </p:sp>
      <p:sp>
        <p:nvSpPr>
          <p:cNvPr id="7" name="Text 5"/>
          <p:cNvSpPr/>
          <p:nvPr/>
        </p:nvSpPr>
        <p:spPr>
          <a:xfrm>
            <a:off x="548640" y="2468880"/>
            <a:ext cx="5943600" cy="502920"/>
          </a:xfrm>
          <a:prstGeom prst="rect">
            <a:avLst/>
          </a:prstGeom>
          <a:noFill/>
          <a:ln/>
        </p:spPr>
        <p:txBody>
          <a:bodyPr wrap="square" lIns="1270" tIns="1270" rIns="1270" bIns="127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Metric</a:t>
            </a:r>
            <a:endParaRPr lang="en-US" sz="1350" dirty="0"/>
          </a:p>
        </p:txBody>
      </p:sp>
      <p:sp>
        <p:nvSpPr>
          <p:cNvPr id="8" name="Text 6"/>
          <p:cNvSpPr/>
          <p:nvPr/>
        </p:nvSpPr>
        <p:spPr>
          <a:xfrm>
            <a:off x="6492240" y="2468880"/>
            <a:ext cx="2560320" cy="502920"/>
          </a:xfrm>
          <a:prstGeom prst="rect">
            <a:avLst/>
          </a:prstGeom>
          <a:noFill/>
          <a:ln/>
        </p:spPr>
        <p:txBody>
          <a:bodyPr wrap="square" lIns="1270" tIns="1270" rIns="1270" bIns="127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Naive baseline</a:t>
            </a:r>
            <a:endParaRPr lang="en-US" sz="1350" dirty="0"/>
          </a:p>
        </p:txBody>
      </p:sp>
      <p:sp>
        <p:nvSpPr>
          <p:cNvPr id="9" name="Text 7"/>
          <p:cNvSpPr/>
          <p:nvPr/>
        </p:nvSpPr>
        <p:spPr>
          <a:xfrm>
            <a:off x="9052560" y="2468880"/>
            <a:ext cx="2560320" cy="502920"/>
          </a:xfrm>
          <a:prstGeom prst="rect">
            <a:avLst/>
          </a:prstGeom>
          <a:noFill/>
          <a:ln/>
        </p:spPr>
        <p:txBody>
          <a:bodyPr wrap="square" lIns="1270" tIns="1270" rIns="1270" bIns="127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Snap-to-Sell</a:t>
            </a:r>
            <a:endParaRPr lang="en-US" sz="1350" dirty="0"/>
          </a:p>
        </p:txBody>
      </p:sp>
      <p:sp>
        <p:nvSpPr>
          <p:cNvPr id="10" name="Shape 8"/>
          <p:cNvSpPr/>
          <p:nvPr/>
        </p:nvSpPr>
        <p:spPr>
          <a:xfrm>
            <a:off x="548640" y="2971800"/>
            <a:ext cx="11064240" cy="502920"/>
          </a:xfrm>
          <a:prstGeom prst="rect">
            <a:avLst/>
          </a:prstGeom>
          <a:solidFill>
            <a:srgbClr val="E9F1F1"/>
          </a:solidFill>
          <a:ln/>
        </p:spPr>
      </p:sp>
      <p:sp>
        <p:nvSpPr>
          <p:cNvPr id="11" name="Text 9"/>
          <p:cNvSpPr/>
          <p:nvPr/>
        </p:nvSpPr>
        <p:spPr>
          <a:xfrm>
            <a:off x="548640" y="2971800"/>
            <a:ext cx="5943600" cy="502920"/>
          </a:xfrm>
          <a:prstGeom prst="rect">
            <a:avLst/>
          </a:prstGeom>
          <a:noFill/>
          <a:ln/>
        </p:spPr>
        <p:txBody>
          <a:bodyPr wrap="square" lIns="1270" tIns="1270" rIns="1270" bIns="1270" rtlCol="0" anchor="ctr"/>
          <a:lstStyle/>
          <a:p>
            <a:pPr indent="0" marL="0">
              <a:buNone/>
            </a:pPr>
            <a:r>
              <a:rPr lang="en-US" sz="1250" dirty="0">
                <a:solidFill>
                  <a:srgbClr val="1B2A33"/>
                </a:solidFill>
                <a:latin typeface="Calibri" pitchFamily="34" charset="0"/>
                <a:ea typeface="Calibri" pitchFamily="34" charset="-122"/>
                <a:cs typeface="Calibri" pitchFamily="34" charset="-120"/>
              </a:rPr>
              <a:t>Top-1 identification accuracy</a:t>
            </a:r>
            <a:endParaRPr lang="en-US" sz="1250" dirty="0"/>
          </a:p>
        </p:txBody>
      </p:sp>
      <p:sp>
        <p:nvSpPr>
          <p:cNvPr id="12" name="Text 10"/>
          <p:cNvSpPr/>
          <p:nvPr/>
        </p:nvSpPr>
        <p:spPr>
          <a:xfrm>
            <a:off x="6492240" y="2971800"/>
            <a:ext cx="2560320" cy="502920"/>
          </a:xfrm>
          <a:prstGeom prst="rect">
            <a:avLst/>
          </a:prstGeom>
          <a:noFill/>
          <a:ln/>
        </p:spPr>
        <p:txBody>
          <a:bodyPr wrap="square" lIns="0" tIns="0" rIns="0" bIns="0" rtlCol="0" anchor="ctr"/>
          <a:lstStyle/>
          <a:p>
            <a:pPr algn="ctr" indent="0" marL="0">
              <a:buNone/>
            </a:pPr>
            <a:r>
              <a:rPr lang="en-US" sz="1300" dirty="0">
                <a:solidFill>
                  <a:srgbClr val="5B6B73"/>
                </a:solidFill>
                <a:latin typeface="Calibri" pitchFamily="34" charset="0"/>
                <a:ea typeface="Calibri" pitchFamily="34" charset="-122"/>
                <a:cs typeface="Calibri" pitchFamily="34" charset="-120"/>
              </a:rPr>
              <a:t>—</a:t>
            </a:r>
            <a:endParaRPr lang="en-US" sz="1300" dirty="0"/>
          </a:p>
        </p:txBody>
      </p:sp>
      <p:sp>
        <p:nvSpPr>
          <p:cNvPr id="13" name="Text 11"/>
          <p:cNvSpPr/>
          <p:nvPr/>
        </p:nvSpPr>
        <p:spPr>
          <a:xfrm>
            <a:off x="9052560" y="2971800"/>
            <a:ext cx="2560320" cy="502920"/>
          </a:xfrm>
          <a:prstGeom prst="rect">
            <a:avLst/>
          </a:prstGeom>
          <a:noFill/>
          <a:ln/>
        </p:spPr>
        <p:txBody>
          <a:bodyPr wrap="square" lIns="0" tIns="0" rIns="0" bIns="0" rtlCol="0" anchor="ctr"/>
          <a:lstStyle/>
          <a:p>
            <a:pPr algn="ctr" indent="0" marL="0">
              <a:buNone/>
            </a:pPr>
            <a:r>
              <a:rPr lang="en-US" sz="1300" dirty="0">
                <a:solidFill>
                  <a:srgbClr val="5B6B73"/>
                </a:solidFill>
                <a:latin typeface="Calibri" pitchFamily="34" charset="0"/>
                <a:ea typeface="Calibri" pitchFamily="34" charset="-122"/>
                <a:cs typeface="Calibri" pitchFamily="34" charset="-120"/>
              </a:rPr>
              <a:t>—</a:t>
            </a:r>
            <a:endParaRPr lang="en-US" sz="1300" dirty="0"/>
          </a:p>
        </p:txBody>
      </p:sp>
      <p:sp>
        <p:nvSpPr>
          <p:cNvPr id="14" name="Shape 12"/>
          <p:cNvSpPr/>
          <p:nvPr/>
        </p:nvSpPr>
        <p:spPr>
          <a:xfrm>
            <a:off x="548640" y="3474720"/>
            <a:ext cx="11064240" cy="502920"/>
          </a:xfrm>
          <a:prstGeom prst="rect">
            <a:avLst/>
          </a:prstGeom>
          <a:solidFill>
            <a:srgbClr val="FFFFFF"/>
          </a:solidFill>
          <a:ln/>
        </p:spPr>
      </p:sp>
      <p:sp>
        <p:nvSpPr>
          <p:cNvPr id="15" name="Text 13"/>
          <p:cNvSpPr/>
          <p:nvPr/>
        </p:nvSpPr>
        <p:spPr>
          <a:xfrm>
            <a:off x="548640" y="3474720"/>
            <a:ext cx="5943600" cy="502920"/>
          </a:xfrm>
          <a:prstGeom prst="rect">
            <a:avLst/>
          </a:prstGeom>
          <a:noFill/>
          <a:ln/>
        </p:spPr>
        <p:txBody>
          <a:bodyPr wrap="square" lIns="1270" tIns="1270" rIns="1270" bIns="1270" rtlCol="0" anchor="ctr"/>
          <a:lstStyle/>
          <a:p>
            <a:pPr indent="0" marL="0">
              <a:buNone/>
            </a:pPr>
            <a:r>
              <a:rPr lang="en-US" sz="1250" dirty="0">
                <a:solidFill>
                  <a:srgbClr val="1B2A33"/>
                </a:solidFill>
                <a:latin typeface="Calibri" pitchFamily="34" charset="0"/>
                <a:ea typeface="Calibri" pitchFamily="34" charset="-122"/>
                <a:cs typeface="Calibri" pitchFamily="34" charset="-120"/>
              </a:rPr>
              <a:t>Top-3 identification accuracy</a:t>
            </a:r>
            <a:endParaRPr lang="en-US" sz="1250" dirty="0"/>
          </a:p>
        </p:txBody>
      </p:sp>
      <p:sp>
        <p:nvSpPr>
          <p:cNvPr id="16" name="Text 14"/>
          <p:cNvSpPr/>
          <p:nvPr/>
        </p:nvSpPr>
        <p:spPr>
          <a:xfrm>
            <a:off x="6492240" y="3474720"/>
            <a:ext cx="2560320" cy="502920"/>
          </a:xfrm>
          <a:prstGeom prst="rect">
            <a:avLst/>
          </a:prstGeom>
          <a:noFill/>
          <a:ln/>
        </p:spPr>
        <p:txBody>
          <a:bodyPr wrap="square" lIns="0" tIns="0" rIns="0" bIns="0" rtlCol="0" anchor="ctr"/>
          <a:lstStyle/>
          <a:p>
            <a:pPr algn="ctr" indent="0" marL="0">
              <a:buNone/>
            </a:pPr>
            <a:r>
              <a:rPr lang="en-US" sz="1300" dirty="0">
                <a:solidFill>
                  <a:srgbClr val="5B6B73"/>
                </a:solidFill>
                <a:latin typeface="Calibri" pitchFamily="34" charset="0"/>
                <a:ea typeface="Calibri" pitchFamily="34" charset="-122"/>
                <a:cs typeface="Calibri" pitchFamily="34" charset="-120"/>
              </a:rPr>
              <a:t>—</a:t>
            </a:r>
            <a:endParaRPr lang="en-US" sz="1300" dirty="0"/>
          </a:p>
        </p:txBody>
      </p:sp>
      <p:sp>
        <p:nvSpPr>
          <p:cNvPr id="17" name="Text 15"/>
          <p:cNvSpPr/>
          <p:nvPr/>
        </p:nvSpPr>
        <p:spPr>
          <a:xfrm>
            <a:off x="9052560" y="3474720"/>
            <a:ext cx="2560320" cy="502920"/>
          </a:xfrm>
          <a:prstGeom prst="rect">
            <a:avLst/>
          </a:prstGeom>
          <a:noFill/>
          <a:ln/>
        </p:spPr>
        <p:txBody>
          <a:bodyPr wrap="square" lIns="0" tIns="0" rIns="0" bIns="0" rtlCol="0" anchor="ctr"/>
          <a:lstStyle/>
          <a:p>
            <a:pPr algn="ctr" indent="0" marL="0">
              <a:buNone/>
            </a:pPr>
            <a:r>
              <a:rPr lang="en-US" sz="1300" dirty="0">
                <a:solidFill>
                  <a:srgbClr val="5B6B73"/>
                </a:solidFill>
                <a:latin typeface="Calibri" pitchFamily="34" charset="0"/>
                <a:ea typeface="Calibri" pitchFamily="34" charset="-122"/>
                <a:cs typeface="Calibri" pitchFamily="34" charset="-120"/>
              </a:rPr>
              <a:t>—</a:t>
            </a:r>
            <a:endParaRPr lang="en-US" sz="1300" dirty="0"/>
          </a:p>
        </p:txBody>
      </p:sp>
      <p:sp>
        <p:nvSpPr>
          <p:cNvPr id="18" name="Shape 16"/>
          <p:cNvSpPr/>
          <p:nvPr/>
        </p:nvSpPr>
        <p:spPr>
          <a:xfrm>
            <a:off x="548640" y="3977640"/>
            <a:ext cx="11064240" cy="502920"/>
          </a:xfrm>
          <a:prstGeom prst="rect">
            <a:avLst/>
          </a:prstGeom>
          <a:solidFill>
            <a:srgbClr val="E9F1F1"/>
          </a:solidFill>
          <a:ln/>
        </p:spPr>
      </p:sp>
      <p:sp>
        <p:nvSpPr>
          <p:cNvPr id="19" name="Text 17"/>
          <p:cNvSpPr/>
          <p:nvPr/>
        </p:nvSpPr>
        <p:spPr>
          <a:xfrm>
            <a:off x="548640" y="3977640"/>
            <a:ext cx="5943600" cy="502920"/>
          </a:xfrm>
          <a:prstGeom prst="rect">
            <a:avLst/>
          </a:prstGeom>
          <a:noFill/>
          <a:ln/>
        </p:spPr>
        <p:txBody>
          <a:bodyPr wrap="square" lIns="1270" tIns="1270" rIns="1270" bIns="1270" rtlCol="0" anchor="ctr"/>
          <a:lstStyle/>
          <a:p>
            <a:pPr indent="0" marL="0">
              <a:buNone/>
            </a:pPr>
            <a:r>
              <a:rPr lang="en-US" sz="1250" dirty="0">
                <a:solidFill>
                  <a:srgbClr val="1B2A33"/>
                </a:solidFill>
                <a:latin typeface="Calibri" pitchFamily="34" charset="0"/>
                <a:ea typeface="Calibri" pitchFamily="34" charset="-122"/>
                <a:cs typeface="Calibri" pitchFamily="34" charset="-120"/>
              </a:rPr>
              <a:t>Price median abs. % error</a:t>
            </a:r>
            <a:endParaRPr lang="en-US" sz="1250" dirty="0"/>
          </a:p>
        </p:txBody>
      </p:sp>
      <p:sp>
        <p:nvSpPr>
          <p:cNvPr id="20" name="Text 18"/>
          <p:cNvSpPr/>
          <p:nvPr/>
        </p:nvSpPr>
        <p:spPr>
          <a:xfrm>
            <a:off x="6492240" y="3977640"/>
            <a:ext cx="2560320" cy="502920"/>
          </a:xfrm>
          <a:prstGeom prst="rect">
            <a:avLst/>
          </a:prstGeom>
          <a:noFill/>
          <a:ln/>
        </p:spPr>
        <p:txBody>
          <a:bodyPr wrap="square" lIns="0" tIns="0" rIns="0" bIns="0" rtlCol="0" anchor="ctr"/>
          <a:lstStyle/>
          <a:p>
            <a:pPr algn="ctr" indent="0" marL="0">
              <a:buNone/>
            </a:pPr>
            <a:r>
              <a:rPr lang="en-US" sz="1300" dirty="0">
                <a:solidFill>
                  <a:srgbClr val="5B6B73"/>
                </a:solidFill>
                <a:latin typeface="Calibri" pitchFamily="34" charset="0"/>
                <a:ea typeface="Calibri" pitchFamily="34" charset="-122"/>
                <a:cs typeface="Calibri" pitchFamily="34" charset="-120"/>
              </a:rPr>
              <a:t>—</a:t>
            </a:r>
            <a:endParaRPr lang="en-US" sz="1300" dirty="0"/>
          </a:p>
        </p:txBody>
      </p:sp>
      <p:sp>
        <p:nvSpPr>
          <p:cNvPr id="21" name="Text 19"/>
          <p:cNvSpPr/>
          <p:nvPr/>
        </p:nvSpPr>
        <p:spPr>
          <a:xfrm>
            <a:off x="9052560" y="3977640"/>
            <a:ext cx="2560320" cy="502920"/>
          </a:xfrm>
          <a:prstGeom prst="rect">
            <a:avLst/>
          </a:prstGeom>
          <a:noFill/>
          <a:ln/>
        </p:spPr>
        <p:txBody>
          <a:bodyPr wrap="square" lIns="0" tIns="0" rIns="0" bIns="0" rtlCol="0" anchor="ctr"/>
          <a:lstStyle/>
          <a:p>
            <a:pPr algn="ctr" indent="0" marL="0">
              <a:buNone/>
            </a:pPr>
            <a:r>
              <a:rPr lang="en-US" sz="1300" dirty="0">
                <a:solidFill>
                  <a:srgbClr val="5B6B73"/>
                </a:solidFill>
                <a:latin typeface="Calibri" pitchFamily="34" charset="0"/>
                <a:ea typeface="Calibri" pitchFamily="34" charset="-122"/>
                <a:cs typeface="Calibri" pitchFamily="34" charset="-120"/>
              </a:rPr>
              <a:t>—</a:t>
            </a:r>
            <a:endParaRPr lang="en-US" sz="1300" dirty="0"/>
          </a:p>
        </p:txBody>
      </p:sp>
      <p:sp>
        <p:nvSpPr>
          <p:cNvPr id="22" name="Shape 20"/>
          <p:cNvSpPr/>
          <p:nvPr/>
        </p:nvSpPr>
        <p:spPr>
          <a:xfrm>
            <a:off x="548640" y="4480560"/>
            <a:ext cx="11064240" cy="502920"/>
          </a:xfrm>
          <a:prstGeom prst="rect">
            <a:avLst/>
          </a:prstGeom>
          <a:solidFill>
            <a:srgbClr val="FFFFFF"/>
          </a:solidFill>
          <a:ln/>
        </p:spPr>
      </p:sp>
      <p:sp>
        <p:nvSpPr>
          <p:cNvPr id="23" name="Text 21"/>
          <p:cNvSpPr/>
          <p:nvPr/>
        </p:nvSpPr>
        <p:spPr>
          <a:xfrm>
            <a:off x="548640" y="4480560"/>
            <a:ext cx="5943600" cy="502920"/>
          </a:xfrm>
          <a:prstGeom prst="rect">
            <a:avLst/>
          </a:prstGeom>
          <a:noFill/>
          <a:ln/>
        </p:spPr>
        <p:txBody>
          <a:bodyPr wrap="square" lIns="1270" tIns="1270" rIns="1270" bIns="1270" rtlCol="0" anchor="ctr"/>
          <a:lstStyle/>
          <a:p>
            <a:pPr indent="0" marL="0">
              <a:buNone/>
            </a:pPr>
            <a:r>
              <a:rPr lang="en-US" sz="1250" dirty="0">
                <a:solidFill>
                  <a:srgbClr val="1B2A33"/>
                </a:solidFill>
                <a:latin typeface="Calibri" pitchFamily="34" charset="0"/>
                <a:ea typeface="Calibri" pitchFamily="34" charset="-122"/>
                <a:cs typeface="Calibri" pitchFamily="34" charset="-120"/>
              </a:rPr>
              <a:t>Listing quality (blind rating)</a:t>
            </a:r>
            <a:endParaRPr lang="en-US" sz="1250" dirty="0"/>
          </a:p>
        </p:txBody>
      </p:sp>
      <p:sp>
        <p:nvSpPr>
          <p:cNvPr id="24" name="Text 22"/>
          <p:cNvSpPr/>
          <p:nvPr/>
        </p:nvSpPr>
        <p:spPr>
          <a:xfrm>
            <a:off x="6492240" y="4480560"/>
            <a:ext cx="2560320" cy="502920"/>
          </a:xfrm>
          <a:prstGeom prst="rect">
            <a:avLst/>
          </a:prstGeom>
          <a:noFill/>
          <a:ln/>
        </p:spPr>
        <p:txBody>
          <a:bodyPr wrap="square" lIns="0" tIns="0" rIns="0" bIns="0" rtlCol="0" anchor="ctr"/>
          <a:lstStyle/>
          <a:p>
            <a:pPr algn="ctr" indent="0" marL="0">
              <a:buNone/>
            </a:pPr>
            <a:r>
              <a:rPr lang="en-US" sz="1300" dirty="0">
                <a:solidFill>
                  <a:srgbClr val="5B6B73"/>
                </a:solidFill>
                <a:latin typeface="Calibri" pitchFamily="34" charset="0"/>
                <a:ea typeface="Calibri" pitchFamily="34" charset="-122"/>
                <a:cs typeface="Calibri" pitchFamily="34" charset="-120"/>
              </a:rPr>
              <a:t>—</a:t>
            </a:r>
            <a:endParaRPr lang="en-US" sz="1300" dirty="0"/>
          </a:p>
        </p:txBody>
      </p:sp>
      <p:sp>
        <p:nvSpPr>
          <p:cNvPr id="25" name="Text 23"/>
          <p:cNvSpPr/>
          <p:nvPr/>
        </p:nvSpPr>
        <p:spPr>
          <a:xfrm>
            <a:off x="9052560" y="4480560"/>
            <a:ext cx="2560320" cy="502920"/>
          </a:xfrm>
          <a:prstGeom prst="rect">
            <a:avLst/>
          </a:prstGeom>
          <a:noFill/>
          <a:ln/>
        </p:spPr>
        <p:txBody>
          <a:bodyPr wrap="square" lIns="0" tIns="0" rIns="0" bIns="0" rtlCol="0" anchor="ctr"/>
          <a:lstStyle/>
          <a:p>
            <a:pPr algn="ctr" indent="0" marL="0">
              <a:buNone/>
            </a:pPr>
            <a:r>
              <a:rPr lang="en-US" sz="1300" dirty="0">
                <a:solidFill>
                  <a:srgbClr val="5B6B73"/>
                </a:solidFill>
                <a:latin typeface="Calibri" pitchFamily="34" charset="0"/>
                <a:ea typeface="Calibri" pitchFamily="34" charset="-122"/>
                <a:cs typeface="Calibri" pitchFamily="34" charset="-120"/>
              </a:rPr>
              <a:t>—</a:t>
            </a:r>
            <a:endParaRPr lang="en-US" sz="1300" dirty="0"/>
          </a:p>
        </p:txBody>
      </p:sp>
      <p:sp>
        <p:nvSpPr>
          <p:cNvPr id="26" name="Shape 24"/>
          <p:cNvSpPr/>
          <p:nvPr/>
        </p:nvSpPr>
        <p:spPr>
          <a:xfrm>
            <a:off x="548640" y="4983480"/>
            <a:ext cx="11064240" cy="502920"/>
          </a:xfrm>
          <a:prstGeom prst="rect">
            <a:avLst/>
          </a:prstGeom>
          <a:solidFill>
            <a:srgbClr val="E9F1F1"/>
          </a:solidFill>
          <a:ln/>
        </p:spPr>
      </p:sp>
      <p:sp>
        <p:nvSpPr>
          <p:cNvPr id="27" name="Text 25"/>
          <p:cNvSpPr/>
          <p:nvPr/>
        </p:nvSpPr>
        <p:spPr>
          <a:xfrm>
            <a:off x="548640" y="4983480"/>
            <a:ext cx="5943600" cy="502920"/>
          </a:xfrm>
          <a:prstGeom prst="rect">
            <a:avLst/>
          </a:prstGeom>
          <a:noFill/>
          <a:ln/>
        </p:spPr>
        <p:txBody>
          <a:bodyPr wrap="square" lIns="1270" tIns="1270" rIns="1270" bIns="1270" rtlCol="0" anchor="ctr"/>
          <a:lstStyle/>
          <a:p>
            <a:pPr indent="0" marL="0">
              <a:buNone/>
            </a:pPr>
            <a:r>
              <a:rPr lang="en-US" sz="1250" dirty="0">
                <a:solidFill>
                  <a:srgbClr val="1B2A33"/>
                </a:solidFill>
                <a:latin typeface="Calibri" pitchFamily="34" charset="0"/>
                <a:ea typeface="Calibri" pitchFamily="34" charset="-122"/>
                <a:cs typeface="Calibri" pitchFamily="34" charset="-120"/>
              </a:rPr>
              <a:t>Age-restriction recall</a:t>
            </a:r>
            <a:endParaRPr lang="en-US" sz="1250" dirty="0"/>
          </a:p>
        </p:txBody>
      </p:sp>
      <p:sp>
        <p:nvSpPr>
          <p:cNvPr id="28" name="Text 26"/>
          <p:cNvSpPr/>
          <p:nvPr/>
        </p:nvSpPr>
        <p:spPr>
          <a:xfrm>
            <a:off x="6492240" y="4983480"/>
            <a:ext cx="2560320" cy="502920"/>
          </a:xfrm>
          <a:prstGeom prst="rect">
            <a:avLst/>
          </a:prstGeom>
          <a:noFill/>
          <a:ln/>
        </p:spPr>
        <p:txBody>
          <a:bodyPr wrap="square" lIns="0" tIns="0" rIns="0" bIns="0" rtlCol="0" anchor="ctr"/>
          <a:lstStyle/>
          <a:p>
            <a:pPr algn="ctr" indent="0" marL="0">
              <a:buNone/>
            </a:pPr>
            <a:r>
              <a:rPr lang="en-US" sz="1300" dirty="0">
                <a:solidFill>
                  <a:srgbClr val="5B6B73"/>
                </a:solidFill>
                <a:latin typeface="Calibri" pitchFamily="34" charset="0"/>
                <a:ea typeface="Calibri" pitchFamily="34" charset="-122"/>
                <a:cs typeface="Calibri" pitchFamily="34" charset="-120"/>
              </a:rPr>
              <a:t>—</a:t>
            </a:r>
            <a:endParaRPr lang="en-US" sz="1300" dirty="0"/>
          </a:p>
        </p:txBody>
      </p:sp>
      <p:sp>
        <p:nvSpPr>
          <p:cNvPr id="29" name="Text 27"/>
          <p:cNvSpPr/>
          <p:nvPr/>
        </p:nvSpPr>
        <p:spPr>
          <a:xfrm>
            <a:off x="9052560" y="4983480"/>
            <a:ext cx="2560320" cy="502920"/>
          </a:xfrm>
          <a:prstGeom prst="rect">
            <a:avLst/>
          </a:prstGeom>
          <a:noFill/>
          <a:ln/>
        </p:spPr>
        <p:txBody>
          <a:bodyPr wrap="square" lIns="0" tIns="0" rIns="0" bIns="0" rtlCol="0" anchor="ctr"/>
          <a:lstStyle/>
          <a:p>
            <a:pPr algn="ctr" indent="0" marL="0">
              <a:buNone/>
            </a:pPr>
            <a:r>
              <a:rPr lang="en-US" sz="1300" dirty="0">
                <a:solidFill>
                  <a:srgbClr val="5B6B73"/>
                </a:solidFill>
                <a:latin typeface="Calibri" pitchFamily="34" charset="0"/>
                <a:ea typeface="Calibri" pitchFamily="34" charset="-122"/>
                <a:cs typeface="Calibri" pitchFamily="34" charset="-120"/>
              </a:rPr>
              <a:t>—</a:t>
            </a:r>
            <a:endParaRPr lang="en-US" sz="1300" dirty="0"/>
          </a:p>
        </p:txBody>
      </p:sp>
      <p:sp>
        <p:nvSpPr>
          <p:cNvPr id="30" name="Shape 28"/>
          <p:cNvSpPr/>
          <p:nvPr/>
        </p:nvSpPr>
        <p:spPr>
          <a:xfrm>
            <a:off x="548640" y="5486400"/>
            <a:ext cx="11064240" cy="502920"/>
          </a:xfrm>
          <a:prstGeom prst="rect">
            <a:avLst/>
          </a:prstGeom>
          <a:solidFill>
            <a:srgbClr val="FFFFFF"/>
          </a:solidFill>
          <a:ln/>
        </p:spPr>
      </p:sp>
      <p:sp>
        <p:nvSpPr>
          <p:cNvPr id="31" name="Text 29"/>
          <p:cNvSpPr/>
          <p:nvPr/>
        </p:nvSpPr>
        <p:spPr>
          <a:xfrm>
            <a:off x="548640" y="5486400"/>
            <a:ext cx="5943600" cy="502920"/>
          </a:xfrm>
          <a:prstGeom prst="rect">
            <a:avLst/>
          </a:prstGeom>
          <a:noFill/>
          <a:ln/>
        </p:spPr>
        <p:txBody>
          <a:bodyPr wrap="square" lIns="1270" tIns="1270" rIns="1270" bIns="1270" rtlCol="0" anchor="ctr"/>
          <a:lstStyle/>
          <a:p>
            <a:pPr indent="0" marL="0">
              <a:buNone/>
            </a:pPr>
            <a:r>
              <a:rPr lang="en-US" sz="1250" dirty="0">
                <a:solidFill>
                  <a:srgbClr val="1B2A33"/>
                </a:solidFill>
                <a:latin typeface="Calibri" pitchFamily="34" charset="0"/>
                <a:ea typeface="Calibri" pitchFamily="34" charset="-122"/>
                <a:cs typeface="Calibri" pitchFamily="34" charset="-120"/>
              </a:rPr>
              <a:t>Image false-swap rate</a:t>
            </a:r>
            <a:endParaRPr lang="en-US" sz="1250" dirty="0"/>
          </a:p>
        </p:txBody>
      </p:sp>
      <p:sp>
        <p:nvSpPr>
          <p:cNvPr id="32" name="Text 30"/>
          <p:cNvSpPr/>
          <p:nvPr/>
        </p:nvSpPr>
        <p:spPr>
          <a:xfrm>
            <a:off x="6492240" y="5486400"/>
            <a:ext cx="2560320" cy="502920"/>
          </a:xfrm>
          <a:prstGeom prst="rect">
            <a:avLst/>
          </a:prstGeom>
          <a:noFill/>
          <a:ln/>
        </p:spPr>
        <p:txBody>
          <a:bodyPr wrap="square" lIns="0" tIns="0" rIns="0" bIns="0" rtlCol="0" anchor="ctr"/>
          <a:lstStyle/>
          <a:p>
            <a:pPr algn="ctr" indent="0" marL="0">
              <a:buNone/>
            </a:pPr>
            <a:r>
              <a:rPr lang="en-US" sz="1300" dirty="0">
                <a:solidFill>
                  <a:srgbClr val="5B6B73"/>
                </a:solidFill>
                <a:latin typeface="Calibri" pitchFamily="34" charset="0"/>
                <a:ea typeface="Calibri" pitchFamily="34" charset="-122"/>
                <a:cs typeface="Calibri" pitchFamily="34" charset="-120"/>
              </a:rPr>
              <a:t>—</a:t>
            </a:r>
            <a:endParaRPr lang="en-US" sz="1300" dirty="0"/>
          </a:p>
        </p:txBody>
      </p:sp>
      <p:sp>
        <p:nvSpPr>
          <p:cNvPr id="33" name="Text 31"/>
          <p:cNvSpPr/>
          <p:nvPr/>
        </p:nvSpPr>
        <p:spPr>
          <a:xfrm>
            <a:off x="9052560" y="5486400"/>
            <a:ext cx="2560320" cy="502920"/>
          </a:xfrm>
          <a:prstGeom prst="rect">
            <a:avLst/>
          </a:prstGeom>
          <a:noFill/>
          <a:ln/>
        </p:spPr>
        <p:txBody>
          <a:bodyPr wrap="square" lIns="0" tIns="0" rIns="0" bIns="0" rtlCol="0" anchor="ctr"/>
          <a:lstStyle/>
          <a:p>
            <a:pPr algn="ctr" indent="0" marL="0">
              <a:buNone/>
            </a:pPr>
            <a:r>
              <a:rPr lang="en-US" sz="1300" dirty="0">
                <a:solidFill>
                  <a:srgbClr val="5B6B73"/>
                </a:solidFill>
                <a:latin typeface="Calibri" pitchFamily="34" charset="0"/>
                <a:ea typeface="Calibri" pitchFamily="34" charset="-122"/>
                <a:cs typeface="Calibri" pitchFamily="34" charset="-120"/>
              </a:rPr>
              <a:t>—</a:t>
            </a:r>
            <a:endParaRPr lang="en-US" sz="1300" dirty="0"/>
          </a:p>
        </p:txBody>
      </p:sp>
      <p:sp>
        <p:nvSpPr>
          <p:cNvPr id="34" name="Text 32"/>
          <p:cNvSpPr/>
          <p:nvPr/>
        </p:nvSpPr>
        <p:spPr>
          <a:xfrm>
            <a:off x="548640" y="6172200"/>
            <a:ext cx="11064240" cy="457200"/>
          </a:xfrm>
          <a:prstGeom prst="rect">
            <a:avLst/>
          </a:prstGeom>
          <a:noFill/>
          <a:ln/>
        </p:spPr>
        <p:txBody>
          <a:bodyPr wrap="square" lIns="0" tIns="0" rIns="0" bIns="0" rtlCol="0" anchor="ctr"/>
          <a:lstStyle/>
          <a:p>
            <a:pPr indent="0" marL="0">
              <a:buNone/>
            </a:pPr>
            <a:r>
              <a:rPr lang="en-US" sz="1250" i="1" dirty="0">
                <a:solidFill>
                  <a:srgbClr val="5B6B73"/>
                </a:solidFill>
                <a:latin typeface="Calibri" pitchFamily="34" charset="0"/>
                <a:ea typeface="Calibri" pitchFamily="34" charset="-122"/>
                <a:cs typeface="Calibri" pitchFamily="34" charset="-120"/>
              </a:rPr>
              <a:t>Report brand-level vs variant-level separately; safety axes weighted; failure modes discussed alongside the numbers.</a:t>
            </a:r>
            <a:endParaRPr lang="en-US" sz="1250" dirty="0"/>
          </a:p>
        </p:txBody>
      </p:sp>
      <p:sp>
        <p:nvSpPr>
          <p:cNvPr id="35" name="Text 33"/>
          <p:cNvSpPr/>
          <p:nvPr/>
        </p:nvSpPr>
        <p:spPr>
          <a:xfrm>
            <a:off x="11274552" y="6400800"/>
            <a:ext cx="457200" cy="274320"/>
          </a:xfrm>
          <a:prstGeom prst="rect">
            <a:avLst/>
          </a:prstGeom>
          <a:noFill/>
          <a:ln/>
        </p:spPr>
        <p:txBody>
          <a:bodyPr wrap="square" rtlCol="0" anchor="ctr"/>
          <a:lstStyle/>
          <a:p>
            <a:pPr algn="r" indent="0" marL="0">
              <a:buNone/>
            </a:pPr>
            <a:r>
              <a:rPr lang="en-US" sz="1000" dirty="0">
                <a:solidFill>
                  <a:srgbClr val="5B6B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7"/>
        </a:solidFill>
      </p:bgPr>
    </p:bg>
    <p:spTree>
      <p:nvGrpSpPr>
        <p:cNvPr id="1" name=""/>
        <p:cNvGrpSpPr/>
        <p:nvPr/>
      </p:nvGrpSpPr>
      <p:grpSpPr>
        <a:xfrm>
          <a:off x="0" y="0"/>
          <a:ext cx="0" cy="0"/>
          <a:chOff x="0" y="0"/>
          <a:chExt cx="0" cy="0"/>
        </a:xfrm>
      </p:grpSpPr>
      <p:sp>
        <p:nvSpPr>
          <p:cNvPr id="2" name="Text 0"/>
          <p:cNvSpPr/>
          <p:nvPr/>
        </p:nvSpPr>
        <p:spPr>
          <a:xfrm>
            <a:off x="548640" y="502920"/>
            <a:ext cx="8229600" cy="320040"/>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DISCUSSION</a:t>
            </a:r>
            <a:endParaRPr lang="en-US" sz="1200" dirty="0"/>
          </a:p>
        </p:txBody>
      </p:sp>
      <p:sp>
        <p:nvSpPr>
          <p:cNvPr id="3" name="Text 1"/>
          <p:cNvSpPr/>
          <p:nvPr/>
        </p:nvSpPr>
        <p:spPr>
          <a:xfrm>
            <a:off x="548640" y="777240"/>
            <a:ext cx="11091672" cy="822960"/>
          </a:xfrm>
          <a:prstGeom prst="rect">
            <a:avLst/>
          </a:prstGeom>
          <a:noFill/>
          <a:ln/>
        </p:spPr>
        <p:txBody>
          <a:bodyPr wrap="square" lIns="0" tIns="0" rIns="0" bIns="0" rtlCol="0" anchor="ctr"/>
          <a:lstStyle/>
          <a:p>
            <a:pPr indent="0" marL="0">
              <a:buNone/>
            </a:pPr>
            <a:r>
              <a:rPr lang="en-US" sz="3200" b="1" dirty="0">
                <a:solidFill>
                  <a:srgbClr val="1B2A33"/>
                </a:solidFill>
                <a:latin typeface="Cambria" pitchFamily="34" charset="0"/>
                <a:ea typeface="Cambria" pitchFamily="34" charset="-122"/>
                <a:cs typeface="Cambria" pitchFamily="34" charset="-120"/>
              </a:rPr>
              <a:t>Where we expect it to break</a:t>
            </a:r>
            <a:endParaRPr lang="en-US" sz="3200" dirty="0"/>
          </a:p>
        </p:txBody>
      </p:sp>
      <p:sp>
        <p:nvSpPr>
          <p:cNvPr id="4" name="Shape 2"/>
          <p:cNvSpPr/>
          <p:nvPr/>
        </p:nvSpPr>
        <p:spPr>
          <a:xfrm>
            <a:off x="548640" y="1783080"/>
            <a:ext cx="3566160" cy="1417320"/>
          </a:xfrm>
          <a:prstGeom prst="roundRect">
            <a:avLst>
              <a:gd name="adj" fmla="val 5806"/>
            </a:avLst>
          </a:prstGeom>
          <a:solidFill>
            <a:srgbClr val="FFFFFF"/>
          </a:solidFill>
          <a:ln w="12700">
            <a:solidFill>
              <a:srgbClr val="DCE6E6"/>
            </a:solidFill>
            <a:prstDash val="solid"/>
          </a:ln>
        </p:spPr>
      </p:sp>
      <p:sp>
        <p:nvSpPr>
          <p:cNvPr id="5" name="Shape 3"/>
          <p:cNvSpPr/>
          <p:nvPr/>
        </p:nvSpPr>
        <p:spPr>
          <a:xfrm>
            <a:off x="804672" y="2057400"/>
            <a:ext cx="146304" cy="146304"/>
          </a:xfrm>
          <a:prstGeom prst="ellipse">
            <a:avLst/>
          </a:prstGeom>
          <a:solidFill>
            <a:srgbClr val="F96167"/>
          </a:solidFill>
          <a:ln/>
        </p:spPr>
      </p:sp>
      <p:sp>
        <p:nvSpPr>
          <p:cNvPr id="6" name="Text 4"/>
          <p:cNvSpPr/>
          <p:nvPr/>
        </p:nvSpPr>
        <p:spPr>
          <a:xfrm>
            <a:off x="1051560" y="1947672"/>
            <a:ext cx="2926080" cy="457200"/>
          </a:xfrm>
          <a:prstGeom prst="rect">
            <a:avLst/>
          </a:prstGeom>
          <a:noFill/>
          <a:ln/>
        </p:spPr>
        <p:txBody>
          <a:bodyPr wrap="square" lIns="0" tIns="0" rIns="0" bIns="0" rtlCol="0" anchor="ctr"/>
          <a:lstStyle/>
          <a:p>
            <a:pPr indent="0" marL="0">
              <a:buNone/>
            </a:pPr>
            <a:r>
              <a:rPr lang="en-US" sz="1500" b="1" dirty="0">
                <a:solidFill>
                  <a:srgbClr val="1B2A33"/>
                </a:solidFill>
                <a:latin typeface="Cambria" pitchFamily="34" charset="0"/>
                <a:ea typeface="Cambria" pitchFamily="34" charset="-122"/>
                <a:cs typeface="Cambria" pitchFamily="34" charset="-120"/>
              </a:rPr>
              <a:t>Look-alike packaging</a:t>
            </a:r>
            <a:endParaRPr lang="en-US" sz="1500" dirty="0"/>
          </a:p>
        </p:txBody>
      </p:sp>
      <p:sp>
        <p:nvSpPr>
          <p:cNvPr id="7" name="Text 5"/>
          <p:cNvSpPr/>
          <p:nvPr/>
        </p:nvSpPr>
        <p:spPr>
          <a:xfrm>
            <a:off x="822960" y="2441448"/>
            <a:ext cx="3063240" cy="640080"/>
          </a:xfrm>
          <a:prstGeom prst="rect">
            <a:avLst/>
          </a:prstGeom>
          <a:noFill/>
          <a:ln/>
        </p:spPr>
        <p:txBody>
          <a:bodyPr wrap="square" lIns="0" tIns="0" rIns="0" bIns="0" rtlCol="0" anchor="ctr"/>
          <a:lstStyle/>
          <a:p>
            <a:pPr indent="0" marL="0">
              <a:buNone/>
            </a:pPr>
            <a:r>
              <a:rPr lang="en-US" sz="1150" dirty="0">
                <a:solidFill>
                  <a:srgbClr val="5B6B73"/>
                </a:solidFill>
                <a:latin typeface="Calibri" pitchFamily="34" charset="0"/>
                <a:ea typeface="Calibri" pitchFamily="34" charset="-122"/>
                <a:cs typeface="Calibri" pitchFamily="34" charset="-120"/>
              </a:rPr>
              <a:t>Same brand family, different variant — the hardest identity call.</a:t>
            </a:r>
            <a:endParaRPr lang="en-US" sz="1150" dirty="0"/>
          </a:p>
        </p:txBody>
      </p:sp>
      <p:sp>
        <p:nvSpPr>
          <p:cNvPr id="8" name="Shape 6"/>
          <p:cNvSpPr/>
          <p:nvPr/>
        </p:nvSpPr>
        <p:spPr>
          <a:xfrm>
            <a:off x="4251960" y="1783080"/>
            <a:ext cx="3566160" cy="1417320"/>
          </a:xfrm>
          <a:prstGeom prst="roundRect">
            <a:avLst>
              <a:gd name="adj" fmla="val 5806"/>
            </a:avLst>
          </a:prstGeom>
          <a:solidFill>
            <a:srgbClr val="FFFFFF"/>
          </a:solidFill>
          <a:ln w="12700">
            <a:solidFill>
              <a:srgbClr val="DCE6E6"/>
            </a:solidFill>
            <a:prstDash val="solid"/>
          </a:ln>
        </p:spPr>
      </p:sp>
      <p:sp>
        <p:nvSpPr>
          <p:cNvPr id="9" name="Shape 7"/>
          <p:cNvSpPr/>
          <p:nvPr/>
        </p:nvSpPr>
        <p:spPr>
          <a:xfrm>
            <a:off x="4507992" y="2057400"/>
            <a:ext cx="146304" cy="146304"/>
          </a:xfrm>
          <a:prstGeom prst="ellipse">
            <a:avLst/>
          </a:prstGeom>
          <a:solidFill>
            <a:srgbClr val="F96167"/>
          </a:solidFill>
          <a:ln/>
        </p:spPr>
      </p:sp>
      <p:sp>
        <p:nvSpPr>
          <p:cNvPr id="10" name="Text 8"/>
          <p:cNvSpPr/>
          <p:nvPr/>
        </p:nvSpPr>
        <p:spPr>
          <a:xfrm>
            <a:off x="4754880" y="1947672"/>
            <a:ext cx="2926080" cy="457200"/>
          </a:xfrm>
          <a:prstGeom prst="rect">
            <a:avLst/>
          </a:prstGeom>
          <a:noFill/>
          <a:ln/>
        </p:spPr>
        <p:txBody>
          <a:bodyPr wrap="square" lIns="0" tIns="0" rIns="0" bIns="0" rtlCol="0" anchor="ctr"/>
          <a:lstStyle/>
          <a:p>
            <a:pPr indent="0" marL="0">
              <a:buNone/>
            </a:pPr>
            <a:r>
              <a:rPr lang="en-US" sz="1500" b="1" dirty="0">
                <a:solidFill>
                  <a:srgbClr val="1B2A33"/>
                </a:solidFill>
                <a:latin typeface="Cambria" pitchFamily="34" charset="0"/>
                <a:ea typeface="Cambria" pitchFamily="34" charset="-122"/>
                <a:cs typeface="Cambria" pitchFamily="34" charset="-120"/>
              </a:rPr>
              <a:t>Multipack ambiguity</a:t>
            </a:r>
            <a:endParaRPr lang="en-US" sz="1500" dirty="0"/>
          </a:p>
        </p:txBody>
      </p:sp>
      <p:sp>
        <p:nvSpPr>
          <p:cNvPr id="11" name="Text 9"/>
          <p:cNvSpPr/>
          <p:nvPr/>
        </p:nvSpPr>
        <p:spPr>
          <a:xfrm>
            <a:off x="4526280" y="2441448"/>
            <a:ext cx="3063240" cy="640080"/>
          </a:xfrm>
          <a:prstGeom prst="rect">
            <a:avLst/>
          </a:prstGeom>
          <a:noFill/>
          <a:ln/>
        </p:spPr>
        <p:txBody>
          <a:bodyPr wrap="square" lIns="0" tIns="0" rIns="0" bIns="0" rtlCol="0" anchor="ctr"/>
          <a:lstStyle/>
          <a:p>
            <a:pPr indent="0" marL="0">
              <a:buNone/>
            </a:pPr>
            <a:r>
              <a:rPr lang="en-US" sz="1150" dirty="0">
                <a:solidFill>
                  <a:srgbClr val="5B6B73"/>
                </a:solidFill>
                <a:latin typeface="Calibri" pitchFamily="34" charset="0"/>
                <a:ea typeface="Calibri" pitchFamily="34" charset="-122"/>
                <a:cs typeface="Calibri" pitchFamily="34" charset="-120"/>
              </a:rPr>
              <a:t>Single unit vs 6-pack vs 24-pack changes both SKU and price.</a:t>
            </a:r>
            <a:endParaRPr lang="en-US" sz="1150" dirty="0"/>
          </a:p>
        </p:txBody>
      </p:sp>
      <p:sp>
        <p:nvSpPr>
          <p:cNvPr id="12" name="Shape 10"/>
          <p:cNvSpPr/>
          <p:nvPr/>
        </p:nvSpPr>
        <p:spPr>
          <a:xfrm>
            <a:off x="7955280" y="1783080"/>
            <a:ext cx="3566160" cy="1417320"/>
          </a:xfrm>
          <a:prstGeom prst="roundRect">
            <a:avLst>
              <a:gd name="adj" fmla="val 5806"/>
            </a:avLst>
          </a:prstGeom>
          <a:solidFill>
            <a:srgbClr val="FFFFFF"/>
          </a:solidFill>
          <a:ln w="12700">
            <a:solidFill>
              <a:srgbClr val="DCE6E6"/>
            </a:solidFill>
            <a:prstDash val="solid"/>
          </a:ln>
        </p:spPr>
      </p:sp>
      <p:sp>
        <p:nvSpPr>
          <p:cNvPr id="13" name="Shape 11"/>
          <p:cNvSpPr/>
          <p:nvPr/>
        </p:nvSpPr>
        <p:spPr>
          <a:xfrm>
            <a:off x="8211312" y="2057400"/>
            <a:ext cx="146304" cy="146304"/>
          </a:xfrm>
          <a:prstGeom prst="ellipse">
            <a:avLst/>
          </a:prstGeom>
          <a:solidFill>
            <a:srgbClr val="F96167"/>
          </a:solidFill>
          <a:ln/>
        </p:spPr>
      </p:sp>
      <p:sp>
        <p:nvSpPr>
          <p:cNvPr id="14" name="Text 12"/>
          <p:cNvSpPr/>
          <p:nvPr/>
        </p:nvSpPr>
        <p:spPr>
          <a:xfrm>
            <a:off x="8458200" y="1947672"/>
            <a:ext cx="2926080" cy="457200"/>
          </a:xfrm>
          <a:prstGeom prst="rect">
            <a:avLst/>
          </a:prstGeom>
          <a:noFill/>
          <a:ln/>
        </p:spPr>
        <p:txBody>
          <a:bodyPr wrap="square" lIns="0" tIns="0" rIns="0" bIns="0" rtlCol="0" anchor="ctr"/>
          <a:lstStyle/>
          <a:p>
            <a:pPr indent="0" marL="0">
              <a:buNone/>
            </a:pPr>
            <a:r>
              <a:rPr lang="en-US" sz="1500" b="1" dirty="0">
                <a:solidFill>
                  <a:srgbClr val="1B2A33"/>
                </a:solidFill>
                <a:latin typeface="Cambria" pitchFamily="34" charset="0"/>
                <a:ea typeface="Cambria" pitchFamily="34" charset="-122"/>
                <a:cs typeface="Cambria" pitchFamily="34" charset="-120"/>
              </a:rPr>
              <a:t>Glare &amp; occlusion</a:t>
            </a:r>
            <a:endParaRPr lang="en-US" sz="1500" dirty="0"/>
          </a:p>
        </p:txBody>
      </p:sp>
      <p:sp>
        <p:nvSpPr>
          <p:cNvPr id="15" name="Text 13"/>
          <p:cNvSpPr/>
          <p:nvPr/>
        </p:nvSpPr>
        <p:spPr>
          <a:xfrm>
            <a:off x="8229600" y="2441448"/>
            <a:ext cx="3063240" cy="640080"/>
          </a:xfrm>
          <a:prstGeom prst="rect">
            <a:avLst/>
          </a:prstGeom>
          <a:noFill/>
          <a:ln/>
        </p:spPr>
        <p:txBody>
          <a:bodyPr wrap="square" lIns="0" tIns="0" rIns="0" bIns="0" rtlCol="0" anchor="ctr"/>
          <a:lstStyle/>
          <a:p>
            <a:pPr indent="0" marL="0">
              <a:buNone/>
            </a:pPr>
            <a:r>
              <a:rPr lang="en-US" sz="1150" dirty="0">
                <a:solidFill>
                  <a:srgbClr val="5B6B73"/>
                </a:solidFill>
                <a:latin typeface="Calibri" pitchFamily="34" charset="0"/>
                <a:ea typeface="Calibri" pitchFamily="34" charset="-122"/>
                <a:cs typeface="Calibri" pitchFamily="34" charset="-120"/>
              </a:rPr>
              <a:t>Reflections and partial views degrade OCR and the VLM read.</a:t>
            </a:r>
            <a:endParaRPr lang="en-US" sz="1150" dirty="0"/>
          </a:p>
        </p:txBody>
      </p:sp>
      <p:sp>
        <p:nvSpPr>
          <p:cNvPr id="16" name="Shape 14"/>
          <p:cNvSpPr/>
          <p:nvPr/>
        </p:nvSpPr>
        <p:spPr>
          <a:xfrm>
            <a:off x="548640" y="3383280"/>
            <a:ext cx="3566160" cy="1417320"/>
          </a:xfrm>
          <a:prstGeom prst="roundRect">
            <a:avLst>
              <a:gd name="adj" fmla="val 5806"/>
            </a:avLst>
          </a:prstGeom>
          <a:solidFill>
            <a:srgbClr val="FFFFFF"/>
          </a:solidFill>
          <a:ln w="12700">
            <a:solidFill>
              <a:srgbClr val="DCE6E6"/>
            </a:solidFill>
            <a:prstDash val="solid"/>
          </a:ln>
        </p:spPr>
      </p:sp>
      <p:sp>
        <p:nvSpPr>
          <p:cNvPr id="17" name="Shape 15"/>
          <p:cNvSpPr/>
          <p:nvPr/>
        </p:nvSpPr>
        <p:spPr>
          <a:xfrm>
            <a:off x="804672" y="3657600"/>
            <a:ext cx="146304" cy="146304"/>
          </a:xfrm>
          <a:prstGeom prst="ellipse">
            <a:avLst/>
          </a:prstGeom>
          <a:solidFill>
            <a:srgbClr val="F96167"/>
          </a:solidFill>
          <a:ln/>
        </p:spPr>
      </p:sp>
      <p:sp>
        <p:nvSpPr>
          <p:cNvPr id="18" name="Text 16"/>
          <p:cNvSpPr/>
          <p:nvPr/>
        </p:nvSpPr>
        <p:spPr>
          <a:xfrm>
            <a:off x="1051560" y="3547872"/>
            <a:ext cx="2926080" cy="457200"/>
          </a:xfrm>
          <a:prstGeom prst="rect">
            <a:avLst/>
          </a:prstGeom>
          <a:noFill/>
          <a:ln/>
        </p:spPr>
        <p:txBody>
          <a:bodyPr wrap="square" lIns="0" tIns="0" rIns="0" bIns="0" rtlCol="0" anchor="ctr"/>
          <a:lstStyle/>
          <a:p>
            <a:pPr indent="0" marL="0">
              <a:buNone/>
            </a:pPr>
            <a:r>
              <a:rPr lang="en-US" sz="1500" b="1" dirty="0">
                <a:solidFill>
                  <a:srgbClr val="1B2A33"/>
                </a:solidFill>
                <a:latin typeface="Cambria" pitchFamily="34" charset="0"/>
                <a:ea typeface="Cambria" pitchFamily="34" charset="-122"/>
                <a:cs typeface="Cambria" pitchFamily="34" charset="-120"/>
              </a:rPr>
              <a:t>Own-brand / regional</a:t>
            </a:r>
            <a:endParaRPr lang="en-US" sz="1500" dirty="0"/>
          </a:p>
        </p:txBody>
      </p:sp>
      <p:sp>
        <p:nvSpPr>
          <p:cNvPr id="19" name="Text 17"/>
          <p:cNvSpPr/>
          <p:nvPr/>
        </p:nvSpPr>
        <p:spPr>
          <a:xfrm>
            <a:off x="822960" y="4041648"/>
            <a:ext cx="3063240" cy="640080"/>
          </a:xfrm>
          <a:prstGeom prst="rect">
            <a:avLst/>
          </a:prstGeom>
          <a:noFill/>
          <a:ln/>
        </p:spPr>
        <p:txBody>
          <a:bodyPr wrap="square" lIns="0" tIns="0" rIns="0" bIns="0" rtlCol="0" anchor="ctr"/>
          <a:lstStyle/>
          <a:p>
            <a:pPr indent="0" marL="0">
              <a:buNone/>
            </a:pPr>
            <a:r>
              <a:rPr lang="en-US" sz="1150" dirty="0">
                <a:solidFill>
                  <a:srgbClr val="5B6B73"/>
                </a:solidFill>
                <a:latin typeface="Calibri" pitchFamily="34" charset="0"/>
                <a:ea typeface="Calibri" pitchFamily="34" charset="-122"/>
                <a:cs typeface="Calibri" pitchFamily="34" charset="-120"/>
              </a:rPr>
              <a:t>Thin coverage in open catalogues → weak retrieval grounding.</a:t>
            </a:r>
            <a:endParaRPr lang="en-US" sz="1150" dirty="0"/>
          </a:p>
        </p:txBody>
      </p:sp>
      <p:sp>
        <p:nvSpPr>
          <p:cNvPr id="20" name="Shape 18"/>
          <p:cNvSpPr/>
          <p:nvPr/>
        </p:nvSpPr>
        <p:spPr>
          <a:xfrm>
            <a:off x="4251960" y="3383280"/>
            <a:ext cx="3566160" cy="1417320"/>
          </a:xfrm>
          <a:prstGeom prst="roundRect">
            <a:avLst>
              <a:gd name="adj" fmla="val 5806"/>
            </a:avLst>
          </a:prstGeom>
          <a:solidFill>
            <a:srgbClr val="FFFFFF"/>
          </a:solidFill>
          <a:ln w="12700">
            <a:solidFill>
              <a:srgbClr val="DCE6E6"/>
            </a:solidFill>
            <a:prstDash val="solid"/>
          </a:ln>
        </p:spPr>
      </p:sp>
      <p:sp>
        <p:nvSpPr>
          <p:cNvPr id="21" name="Shape 19"/>
          <p:cNvSpPr/>
          <p:nvPr/>
        </p:nvSpPr>
        <p:spPr>
          <a:xfrm>
            <a:off x="4507992" y="3657600"/>
            <a:ext cx="146304" cy="146304"/>
          </a:xfrm>
          <a:prstGeom prst="ellipse">
            <a:avLst/>
          </a:prstGeom>
          <a:solidFill>
            <a:srgbClr val="F96167"/>
          </a:solidFill>
          <a:ln/>
        </p:spPr>
      </p:sp>
      <p:sp>
        <p:nvSpPr>
          <p:cNvPr id="22" name="Text 20"/>
          <p:cNvSpPr/>
          <p:nvPr/>
        </p:nvSpPr>
        <p:spPr>
          <a:xfrm>
            <a:off x="4754880" y="3547872"/>
            <a:ext cx="2926080" cy="457200"/>
          </a:xfrm>
          <a:prstGeom prst="rect">
            <a:avLst/>
          </a:prstGeom>
          <a:noFill/>
          <a:ln/>
        </p:spPr>
        <p:txBody>
          <a:bodyPr wrap="square" lIns="0" tIns="0" rIns="0" bIns="0" rtlCol="0" anchor="ctr"/>
          <a:lstStyle/>
          <a:p>
            <a:pPr indent="0" marL="0">
              <a:buNone/>
            </a:pPr>
            <a:r>
              <a:rPr lang="en-US" sz="1500" b="1" dirty="0">
                <a:solidFill>
                  <a:srgbClr val="1B2A33"/>
                </a:solidFill>
                <a:latin typeface="Cambria" pitchFamily="34" charset="0"/>
                <a:ea typeface="Cambria" pitchFamily="34" charset="-122"/>
                <a:cs typeface="Cambria" pitchFamily="34" charset="-120"/>
              </a:rPr>
              <a:t>Catalogue gaps</a:t>
            </a:r>
            <a:endParaRPr lang="en-US" sz="1500" dirty="0"/>
          </a:p>
        </p:txBody>
      </p:sp>
      <p:sp>
        <p:nvSpPr>
          <p:cNvPr id="23" name="Text 21"/>
          <p:cNvSpPr/>
          <p:nvPr/>
        </p:nvSpPr>
        <p:spPr>
          <a:xfrm>
            <a:off x="4526280" y="4041648"/>
            <a:ext cx="3063240" cy="640080"/>
          </a:xfrm>
          <a:prstGeom prst="rect">
            <a:avLst/>
          </a:prstGeom>
          <a:noFill/>
          <a:ln/>
        </p:spPr>
        <p:txBody>
          <a:bodyPr wrap="square" lIns="0" tIns="0" rIns="0" bIns="0" rtlCol="0" anchor="ctr"/>
          <a:lstStyle/>
          <a:p>
            <a:pPr indent="0" marL="0">
              <a:buNone/>
            </a:pPr>
            <a:r>
              <a:rPr lang="en-US" sz="1150" dirty="0">
                <a:solidFill>
                  <a:srgbClr val="5B6B73"/>
                </a:solidFill>
                <a:latin typeface="Calibri" pitchFamily="34" charset="0"/>
                <a:ea typeface="Calibri" pitchFamily="34" charset="-122"/>
                <a:cs typeface="Calibri" pitchFamily="34" charset="-120"/>
              </a:rPr>
              <a:t>No comparable found → price and image fall back to lower confidence.</a:t>
            </a:r>
            <a:endParaRPr lang="en-US" sz="1150" dirty="0"/>
          </a:p>
        </p:txBody>
      </p:sp>
      <p:sp>
        <p:nvSpPr>
          <p:cNvPr id="24" name="Shape 22"/>
          <p:cNvSpPr/>
          <p:nvPr/>
        </p:nvSpPr>
        <p:spPr>
          <a:xfrm>
            <a:off x="7955280" y="3383280"/>
            <a:ext cx="3566160" cy="1417320"/>
          </a:xfrm>
          <a:prstGeom prst="roundRect">
            <a:avLst>
              <a:gd name="adj" fmla="val 5806"/>
            </a:avLst>
          </a:prstGeom>
          <a:solidFill>
            <a:srgbClr val="FFFFFF"/>
          </a:solidFill>
          <a:ln w="12700">
            <a:solidFill>
              <a:srgbClr val="DCE6E6"/>
            </a:solidFill>
            <a:prstDash val="solid"/>
          </a:ln>
        </p:spPr>
      </p:sp>
      <p:sp>
        <p:nvSpPr>
          <p:cNvPr id="25" name="Shape 23"/>
          <p:cNvSpPr/>
          <p:nvPr/>
        </p:nvSpPr>
        <p:spPr>
          <a:xfrm>
            <a:off x="8211312" y="3657600"/>
            <a:ext cx="146304" cy="146304"/>
          </a:xfrm>
          <a:prstGeom prst="ellipse">
            <a:avLst/>
          </a:prstGeom>
          <a:solidFill>
            <a:srgbClr val="F96167"/>
          </a:solidFill>
          <a:ln/>
        </p:spPr>
      </p:sp>
      <p:sp>
        <p:nvSpPr>
          <p:cNvPr id="26" name="Text 24"/>
          <p:cNvSpPr/>
          <p:nvPr/>
        </p:nvSpPr>
        <p:spPr>
          <a:xfrm>
            <a:off x="8458200" y="3547872"/>
            <a:ext cx="2926080" cy="457200"/>
          </a:xfrm>
          <a:prstGeom prst="rect">
            <a:avLst/>
          </a:prstGeom>
          <a:noFill/>
          <a:ln/>
        </p:spPr>
        <p:txBody>
          <a:bodyPr wrap="square" lIns="0" tIns="0" rIns="0" bIns="0" rtlCol="0" anchor="ctr"/>
          <a:lstStyle/>
          <a:p>
            <a:pPr indent="0" marL="0">
              <a:buNone/>
            </a:pPr>
            <a:r>
              <a:rPr lang="en-US" sz="1500" b="1" dirty="0">
                <a:solidFill>
                  <a:srgbClr val="1B2A33"/>
                </a:solidFill>
                <a:latin typeface="Cambria" pitchFamily="34" charset="0"/>
                <a:ea typeface="Cambria" pitchFamily="34" charset="-122"/>
                <a:cs typeface="Cambria" pitchFamily="34" charset="-120"/>
              </a:rPr>
              <a:t>Attractive-but-wrong image</a:t>
            </a:r>
            <a:endParaRPr lang="en-US" sz="1500" dirty="0"/>
          </a:p>
        </p:txBody>
      </p:sp>
      <p:sp>
        <p:nvSpPr>
          <p:cNvPr id="27" name="Text 25"/>
          <p:cNvSpPr/>
          <p:nvPr/>
        </p:nvSpPr>
        <p:spPr>
          <a:xfrm>
            <a:off x="8229600" y="4041648"/>
            <a:ext cx="3063240" cy="640080"/>
          </a:xfrm>
          <a:prstGeom prst="rect">
            <a:avLst/>
          </a:prstGeom>
          <a:noFill/>
          <a:ln/>
        </p:spPr>
        <p:txBody>
          <a:bodyPr wrap="square" lIns="0" tIns="0" rIns="0" bIns="0" rtlCol="0" anchor="ctr"/>
          <a:lstStyle/>
          <a:p>
            <a:pPr indent="0" marL="0">
              <a:buNone/>
            </a:pPr>
            <a:r>
              <a:rPr lang="en-US" sz="1150" dirty="0">
                <a:solidFill>
                  <a:srgbClr val="5B6B73"/>
                </a:solidFill>
                <a:latin typeface="Calibri" pitchFamily="34" charset="0"/>
                <a:ea typeface="Calibri" pitchFamily="34" charset="-122"/>
                <a:cs typeface="Calibri" pitchFamily="34" charset="-120"/>
              </a:rPr>
              <a:t>A prettier image of the wrong SKU is worse than the shelf photo.</a:t>
            </a:r>
            <a:endParaRPr lang="en-US" sz="1150" dirty="0"/>
          </a:p>
        </p:txBody>
      </p:sp>
      <p:sp>
        <p:nvSpPr>
          <p:cNvPr id="28" name="Text 26"/>
          <p:cNvSpPr/>
          <p:nvPr/>
        </p:nvSpPr>
        <p:spPr>
          <a:xfrm>
            <a:off x="548640" y="5440680"/>
            <a:ext cx="11064240" cy="640080"/>
          </a:xfrm>
          <a:prstGeom prst="rect">
            <a:avLst/>
          </a:prstGeom>
          <a:noFill/>
          <a:ln/>
        </p:spPr>
        <p:txBody>
          <a:bodyPr wrap="square" lIns="0" tIns="0" rIns="0" bIns="0" rtlCol="0" anchor="ctr"/>
          <a:lstStyle/>
          <a:p>
            <a:pPr indent="0" marL="0">
              <a:buNone/>
            </a:pPr>
            <a:r>
              <a:rPr lang="en-US" sz="1350" i="1" dirty="0">
                <a:solidFill>
                  <a:srgbClr val="028090"/>
                </a:solidFill>
                <a:latin typeface="Calibri" pitchFamily="34" charset="0"/>
                <a:ea typeface="Calibri" pitchFamily="34" charset="-122"/>
                <a:cs typeface="Calibri" pitchFamily="34" charset="-120"/>
              </a:rPr>
              <a:t>Mitigations: confidence-gated routing to human review, same-SKU verification, and honest per-mode reporting rather than a single average.</a:t>
            </a:r>
            <a:endParaRPr lang="en-US" sz="1350" dirty="0"/>
          </a:p>
        </p:txBody>
      </p:sp>
      <p:sp>
        <p:nvSpPr>
          <p:cNvPr id="29" name="Text 27"/>
          <p:cNvSpPr/>
          <p:nvPr/>
        </p:nvSpPr>
        <p:spPr>
          <a:xfrm>
            <a:off x="11274552" y="6400800"/>
            <a:ext cx="457200" cy="274320"/>
          </a:xfrm>
          <a:prstGeom prst="rect">
            <a:avLst/>
          </a:prstGeom>
          <a:noFill/>
          <a:ln/>
        </p:spPr>
        <p:txBody>
          <a:bodyPr wrap="square" rtlCol="0" anchor="ctr"/>
          <a:lstStyle/>
          <a:p>
            <a:pPr algn="r" indent="0" marL="0">
              <a:buNone/>
            </a:pPr>
            <a:r>
              <a:rPr lang="en-US" sz="1000" dirty="0">
                <a:solidFill>
                  <a:srgbClr val="5B6B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2A3B"/>
        </a:solidFill>
      </p:bgPr>
    </p:bg>
    <p:spTree>
      <p:nvGrpSpPr>
        <p:cNvPr id="1" name=""/>
        <p:cNvGrpSpPr/>
        <p:nvPr/>
      </p:nvGrpSpPr>
      <p:grpSpPr>
        <a:xfrm>
          <a:off x="0" y="0"/>
          <a:ext cx="0" cy="0"/>
          <a:chOff x="0" y="0"/>
          <a:chExt cx="0" cy="0"/>
        </a:xfrm>
      </p:grpSpPr>
      <p:sp>
        <p:nvSpPr>
          <p:cNvPr id="2" name="Shape 0"/>
          <p:cNvSpPr/>
          <p:nvPr/>
        </p:nvSpPr>
        <p:spPr>
          <a:xfrm>
            <a:off x="-1645920" y="-1645920"/>
            <a:ext cx="4572000" cy="4572000"/>
          </a:xfrm>
          <a:prstGeom prst="ellipse">
            <a:avLst/>
          </a:prstGeom>
          <a:solidFill>
            <a:srgbClr val="028090">
              <a:alpha val="25000"/>
            </a:srgbClr>
          </a:solidFill>
          <a:ln/>
        </p:spPr>
      </p:sp>
      <p:sp>
        <p:nvSpPr>
          <p:cNvPr id="3" name="Text 1"/>
          <p:cNvSpPr/>
          <p:nvPr/>
        </p:nvSpPr>
        <p:spPr>
          <a:xfrm>
            <a:off x="548640" y="502920"/>
            <a:ext cx="8229600" cy="320040"/>
          </a:xfrm>
          <a:prstGeom prst="rect">
            <a:avLst/>
          </a:prstGeom>
          <a:noFill/>
          <a:ln/>
        </p:spPr>
        <p:txBody>
          <a:bodyPr wrap="square" lIns="0" tIns="0" rIns="0" bIns="0" rtlCol="0" anchor="ctr"/>
          <a:lstStyle/>
          <a:p>
            <a:pPr indent="0" marL="0">
              <a:buNone/>
            </a:pPr>
            <a:r>
              <a:rPr lang="en-US" sz="1200" b="1" spc="200" kern="0" dirty="0">
                <a:solidFill>
                  <a:srgbClr val="02C39A"/>
                </a:solidFill>
                <a:latin typeface="Calibri" pitchFamily="34" charset="0"/>
                <a:ea typeface="Calibri" pitchFamily="34" charset="-122"/>
                <a:cs typeface="Calibri" pitchFamily="34" charset="-120"/>
              </a:rPr>
              <a:t>SUMMARY &amp; CONCLUSION</a:t>
            </a:r>
            <a:endParaRPr lang="en-US" sz="1200" dirty="0"/>
          </a:p>
        </p:txBody>
      </p:sp>
      <p:sp>
        <p:nvSpPr>
          <p:cNvPr id="4" name="Text 2"/>
          <p:cNvSpPr/>
          <p:nvPr/>
        </p:nvSpPr>
        <p:spPr>
          <a:xfrm>
            <a:off x="548640" y="777240"/>
            <a:ext cx="11091672" cy="82296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One photo → a defensible, safe listing</a:t>
            </a:r>
            <a:endParaRPr lang="en-US" sz="3200" dirty="0"/>
          </a:p>
        </p:txBody>
      </p:sp>
      <p:sp>
        <p:nvSpPr>
          <p:cNvPr id="5" name="Shape 3"/>
          <p:cNvSpPr/>
          <p:nvPr/>
        </p:nvSpPr>
        <p:spPr>
          <a:xfrm>
            <a:off x="548640" y="2057400"/>
            <a:ext cx="365760" cy="365760"/>
          </a:xfrm>
          <a:prstGeom prst="ellipse">
            <a:avLst/>
          </a:prstGeom>
          <a:solidFill>
            <a:srgbClr val="028090"/>
          </a:solidFill>
          <a:ln/>
        </p:spPr>
      </p:sp>
      <p:sp>
        <p:nvSpPr>
          <p:cNvPr id="6" name="Text 4"/>
          <p:cNvSpPr/>
          <p:nvPr/>
        </p:nvSpPr>
        <p:spPr>
          <a:xfrm>
            <a:off x="548640" y="2057400"/>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7" name="Text 5"/>
          <p:cNvSpPr/>
          <p:nvPr/>
        </p:nvSpPr>
        <p:spPr>
          <a:xfrm>
            <a:off x="1143000" y="2011680"/>
            <a:ext cx="7269480" cy="914400"/>
          </a:xfrm>
          <a:prstGeom prst="rect">
            <a:avLst/>
          </a:prstGeom>
          <a:noFill/>
          <a:ln/>
        </p:spPr>
        <p:txBody>
          <a:bodyPr wrap="square" lIns="0" tIns="0" rIns="0" bIns="0" rtlCol="0" anchor="ctr"/>
          <a:lstStyle/>
          <a:p>
            <a:pPr indent="0" marL="0">
              <a:buNone/>
            </a:pPr>
            <a:r>
              <a:rPr lang="en-US" sz="1500" dirty="0">
                <a:solidFill>
                  <a:srgbClr val="E4F1F1"/>
                </a:solidFill>
                <a:latin typeface="Calibri" pitchFamily="34" charset="0"/>
                <a:ea typeface="Calibri" pitchFamily="34" charset="-122"/>
                <a:cs typeface="Calibri" pitchFamily="34" charset="-120"/>
              </a:rPr>
              <a:t>An integrated, evaluated pipeline for corner-store FMCG: recognition, comparable pricing, verified image upgrade, and grounded generation in one system.</a:t>
            </a:r>
            <a:endParaRPr lang="en-US" sz="1500" dirty="0"/>
          </a:p>
        </p:txBody>
      </p:sp>
      <p:sp>
        <p:nvSpPr>
          <p:cNvPr id="8" name="Shape 6"/>
          <p:cNvSpPr/>
          <p:nvPr/>
        </p:nvSpPr>
        <p:spPr>
          <a:xfrm>
            <a:off x="548640" y="3108960"/>
            <a:ext cx="365760" cy="365760"/>
          </a:xfrm>
          <a:prstGeom prst="ellipse">
            <a:avLst/>
          </a:prstGeom>
          <a:solidFill>
            <a:srgbClr val="00A896"/>
          </a:solidFill>
          <a:ln/>
        </p:spPr>
      </p:sp>
      <p:sp>
        <p:nvSpPr>
          <p:cNvPr id="9" name="Text 7"/>
          <p:cNvSpPr/>
          <p:nvPr/>
        </p:nvSpPr>
        <p:spPr>
          <a:xfrm>
            <a:off x="548640" y="3108960"/>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0" name="Text 8"/>
          <p:cNvSpPr/>
          <p:nvPr/>
        </p:nvSpPr>
        <p:spPr>
          <a:xfrm>
            <a:off x="1143000" y="3063240"/>
            <a:ext cx="7269480" cy="914400"/>
          </a:xfrm>
          <a:prstGeom prst="rect">
            <a:avLst/>
          </a:prstGeom>
          <a:noFill/>
          <a:ln/>
        </p:spPr>
        <p:txBody>
          <a:bodyPr wrap="square" lIns="0" tIns="0" rIns="0" bIns="0" rtlCol="0" anchor="ctr"/>
          <a:lstStyle/>
          <a:p>
            <a:pPr indent="0" marL="0">
              <a:buNone/>
            </a:pPr>
            <a:r>
              <a:rPr lang="en-US" sz="1500" dirty="0">
                <a:solidFill>
                  <a:srgbClr val="E4F1F1"/>
                </a:solidFill>
                <a:latin typeface="Calibri" pitchFamily="34" charset="0"/>
                <a:ea typeface="Calibri" pitchFamily="34" charset="-122"/>
                <a:cs typeface="Calibri" pitchFamily="34" charset="-120"/>
              </a:rPr>
              <a:t>Same-SKU image verification and selling-context responsible-AI are first-class, measurable outcomes.</a:t>
            </a:r>
            <a:endParaRPr lang="en-US" sz="1500" dirty="0"/>
          </a:p>
        </p:txBody>
      </p:sp>
      <p:sp>
        <p:nvSpPr>
          <p:cNvPr id="11" name="Shape 9"/>
          <p:cNvSpPr/>
          <p:nvPr/>
        </p:nvSpPr>
        <p:spPr>
          <a:xfrm>
            <a:off x="548640" y="4160520"/>
            <a:ext cx="365760" cy="365760"/>
          </a:xfrm>
          <a:prstGeom prst="ellipse">
            <a:avLst/>
          </a:prstGeom>
          <a:solidFill>
            <a:srgbClr val="02C39A"/>
          </a:solidFill>
          <a:ln/>
        </p:spPr>
      </p:sp>
      <p:sp>
        <p:nvSpPr>
          <p:cNvPr id="12" name="Text 10"/>
          <p:cNvSpPr/>
          <p:nvPr/>
        </p:nvSpPr>
        <p:spPr>
          <a:xfrm>
            <a:off x="548640" y="4160520"/>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3" name="Text 11"/>
          <p:cNvSpPr/>
          <p:nvPr/>
        </p:nvSpPr>
        <p:spPr>
          <a:xfrm>
            <a:off x="1143000" y="4114800"/>
            <a:ext cx="7269480" cy="914400"/>
          </a:xfrm>
          <a:prstGeom prst="rect">
            <a:avLst/>
          </a:prstGeom>
          <a:noFill/>
          <a:ln/>
        </p:spPr>
        <p:txBody>
          <a:bodyPr wrap="square" lIns="0" tIns="0" rIns="0" bIns="0" rtlCol="0" anchor="ctr"/>
          <a:lstStyle/>
          <a:p>
            <a:pPr indent="0" marL="0">
              <a:buNone/>
            </a:pPr>
            <a:r>
              <a:rPr lang="en-US" sz="1500" dirty="0">
                <a:solidFill>
                  <a:srgbClr val="E4F1F1"/>
                </a:solidFill>
                <a:latin typeface="Calibri" pitchFamily="34" charset="0"/>
                <a:ea typeface="Calibri" pitchFamily="34" charset="-122"/>
                <a:cs typeface="Calibri" pitchFamily="34" charset="-120"/>
              </a:rPr>
              <a:t>Reproducible, honestly evaluated: per-axis metrics, a naive baseline, and explicit failure analysis.</a:t>
            </a:r>
            <a:endParaRPr lang="en-US" sz="1500" dirty="0"/>
          </a:p>
        </p:txBody>
      </p:sp>
      <p:sp>
        <p:nvSpPr>
          <p:cNvPr id="14" name="Shape 12"/>
          <p:cNvSpPr/>
          <p:nvPr/>
        </p:nvSpPr>
        <p:spPr>
          <a:xfrm>
            <a:off x="8686800" y="2011680"/>
            <a:ext cx="2971800" cy="3063240"/>
          </a:xfrm>
          <a:prstGeom prst="roundRect">
            <a:avLst>
              <a:gd name="adj" fmla="val 3077"/>
            </a:avLst>
          </a:prstGeom>
          <a:solidFill>
            <a:srgbClr val="11384B"/>
          </a:solidFill>
          <a:ln w="12700">
            <a:solidFill>
              <a:srgbClr val="028090"/>
            </a:solidFill>
            <a:prstDash val="solid"/>
          </a:ln>
        </p:spPr>
      </p:sp>
      <p:sp>
        <p:nvSpPr>
          <p:cNvPr id="15" name="Text 13"/>
          <p:cNvSpPr/>
          <p:nvPr/>
        </p:nvSpPr>
        <p:spPr>
          <a:xfrm>
            <a:off x="8915400" y="2194560"/>
            <a:ext cx="2560320" cy="320040"/>
          </a:xfrm>
          <a:prstGeom prst="rect">
            <a:avLst/>
          </a:prstGeom>
          <a:noFill/>
          <a:ln/>
        </p:spPr>
        <p:txBody>
          <a:bodyPr wrap="square" lIns="0" tIns="0" rIns="0" bIns="0" rtlCol="0" anchor="ctr"/>
          <a:lstStyle/>
          <a:p>
            <a:pPr indent="0" marL="0">
              <a:buNone/>
            </a:pPr>
            <a:r>
              <a:rPr lang="en-US" sz="1200" b="1" spc="200" kern="0" dirty="0">
                <a:solidFill>
                  <a:srgbClr val="02C39A"/>
                </a:solidFill>
                <a:latin typeface="Calibri" pitchFamily="34" charset="0"/>
                <a:ea typeface="Calibri" pitchFamily="34" charset="-122"/>
                <a:cs typeface="Calibri" pitchFamily="34" charset="-120"/>
              </a:rPr>
              <a:t>FUTURE WORK</a:t>
            </a:r>
            <a:endParaRPr lang="en-US" sz="1200" dirty="0"/>
          </a:p>
        </p:txBody>
      </p:sp>
      <p:sp>
        <p:nvSpPr>
          <p:cNvPr id="16" name="Text 14"/>
          <p:cNvSpPr/>
          <p:nvPr/>
        </p:nvSpPr>
        <p:spPr>
          <a:xfrm>
            <a:off x="8915400" y="2606040"/>
            <a:ext cx="2606040" cy="22860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D8ECEC"/>
                </a:solidFill>
                <a:latin typeface="Calibri" pitchFamily="34" charset="0"/>
                <a:ea typeface="Calibri" pitchFamily="34" charset="-122"/>
                <a:cs typeface="Calibri" pitchFamily="34" charset="-120"/>
              </a:rPr>
              <a:t>Wider open-catalogue coverage</a:t>
            </a:r>
            <a:endParaRPr lang="en-US" sz="1250" dirty="0"/>
          </a:p>
          <a:p>
            <a:pPr marL="342900" indent="-342900">
              <a:spcAft>
                <a:spcPts val="900"/>
              </a:spcAft>
              <a:buSzPct val="100000"/>
              <a:buChar char="•"/>
            </a:pPr>
            <a:r>
              <a:rPr lang="en-US" sz="1250" dirty="0">
                <a:solidFill>
                  <a:srgbClr val="D8ECEC"/>
                </a:solidFill>
                <a:latin typeface="Calibri" pitchFamily="34" charset="0"/>
                <a:ea typeface="Calibri" pitchFamily="34" charset="-122"/>
                <a:cs typeface="Calibri" pitchFamily="34" charset="-120"/>
              </a:rPr>
              <a:t>Larger labelled test set</a:t>
            </a:r>
            <a:endParaRPr lang="en-US" sz="1250" dirty="0"/>
          </a:p>
          <a:p>
            <a:pPr marL="342900" indent="-342900">
              <a:spcAft>
                <a:spcPts val="900"/>
              </a:spcAft>
              <a:buSzPct val="100000"/>
              <a:buChar char="•"/>
            </a:pPr>
            <a:r>
              <a:rPr lang="en-US" sz="1250" dirty="0">
                <a:solidFill>
                  <a:srgbClr val="D8ECEC"/>
                </a:solidFill>
                <a:latin typeface="Calibri" pitchFamily="34" charset="0"/>
                <a:ea typeface="Calibri" pitchFamily="34" charset="-122"/>
                <a:cs typeface="Calibri" pitchFamily="34" charset="-120"/>
              </a:rPr>
              <a:t>Learned price adjustment</a:t>
            </a:r>
            <a:endParaRPr lang="en-US" sz="1250" dirty="0"/>
          </a:p>
          <a:p>
            <a:pPr marL="342900" indent="-342900">
              <a:spcAft>
                <a:spcPts val="900"/>
              </a:spcAft>
              <a:buSzPct val="100000"/>
              <a:buChar char="•"/>
            </a:pPr>
            <a:r>
              <a:rPr lang="en-US" sz="1250" dirty="0">
                <a:solidFill>
                  <a:srgbClr val="D8ECEC"/>
                </a:solidFill>
                <a:latin typeface="Calibri" pitchFamily="34" charset="0"/>
                <a:ea typeface="Calibri" pitchFamily="34" charset="-122"/>
                <a:cs typeface="Calibri" pitchFamily="34" charset="-120"/>
              </a:rPr>
              <a:t>Multi-item shelf detection</a:t>
            </a:r>
            <a:endParaRPr lang="en-US" sz="1250" dirty="0"/>
          </a:p>
          <a:p>
            <a:pPr marL="342900" indent="-342900">
              <a:spcAft>
                <a:spcPts val="900"/>
              </a:spcAft>
              <a:buSzPct val="100000"/>
              <a:buChar char="•"/>
            </a:pPr>
            <a:r>
              <a:rPr lang="en-US" sz="1250" dirty="0">
                <a:solidFill>
                  <a:srgbClr val="D8ECEC"/>
                </a:solidFill>
                <a:latin typeface="Calibri" pitchFamily="34" charset="0"/>
                <a:ea typeface="Calibri" pitchFamily="34" charset="-122"/>
                <a:cs typeface="Calibri" pitchFamily="34" charset="-120"/>
              </a:rPr>
              <a:t>Live marketplace publishing</a:t>
            </a:r>
            <a:endParaRPr lang="en-US" sz="1250" dirty="0"/>
          </a:p>
        </p:txBody>
      </p:sp>
      <p:sp>
        <p:nvSpPr>
          <p:cNvPr id="17" name="Text 15"/>
          <p:cNvSpPr/>
          <p:nvPr/>
        </p:nvSpPr>
        <p:spPr>
          <a:xfrm>
            <a:off x="548640" y="5852160"/>
            <a:ext cx="10515600" cy="548640"/>
          </a:xfrm>
          <a:prstGeom prst="rect">
            <a:avLst/>
          </a:prstGeom>
          <a:noFill/>
          <a:ln/>
        </p:spPr>
        <p:txBody>
          <a:bodyPr wrap="square" lIns="0" tIns="0" rIns="0" bIns="0" rtlCol="0" anchor="ctr"/>
          <a:lstStyle/>
          <a:p>
            <a:pPr indent="0" marL="0">
              <a:buNone/>
            </a:pPr>
            <a:r>
              <a:rPr lang="en-US" sz="1600" i="1" dirty="0">
                <a:solidFill>
                  <a:srgbClr val="00A896"/>
                </a:solidFill>
                <a:latin typeface="Cambria" pitchFamily="34" charset="0"/>
                <a:ea typeface="Cambria" pitchFamily="34" charset="-122"/>
                <a:cs typeface="Cambria" pitchFamily="34" charset="-120"/>
              </a:rPr>
              <a:t>Snap-to-Sell — lowering the e-commerce barrier for the retailers automation leaves behind.</a:t>
            </a:r>
            <a:endParaRPr lang="en-US" sz="1600" dirty="0"/>
          </a:p>
        </p:txBody>
      </p:sp>
      <p:sp>
        <p:nvSpPr>
          <p:cNvPr id="18" name="Text 16"/>
          <p:cNvSpPr/>
          <p:nvPr/>
        </p:nvSpPr>
        <p:spPr>
          <a:xfrm>
            <a:off x="11274552" y="6400800"/>
            <a:ext cx="457200" cy="274320"/>
          </a:xfrm>
          <a:prstGeom prst="rect">
            <a:avLst/>
          </a:prstGeom>
          <a:noFill/>
          <a:ln/>
        </p:spPr>
        <p:txBody>
          <a:bodyPr wrap="square" rtlCol="0" anchor="ctr"/>
          <a:lstStyle/>
          <a:p>
            <a:pPr algn="r" indent="0" marL="0">
              <a:buNone/>
            </a:pPr>
            <a:r>
              <a:rPr lang="en-US" sz="1000" dirty="0">
                <a:solidFill>
                  <a:srgbClr val="5B6B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2A3B"/>
        </a:solidFill>
      </p:bgPr>
    </p:bg>
    <p:spTree>
      <p:nvGrpSpPr>
        <p:cNvPr id="1" name=""/>
        <p:cNvGrpSpPr/>
        <p:nvPr/>
      </p:nvGrpSpPr>
      <p:grpSpPr>
        <a:xfrm>
          <a:off x="0" y="0"/>
          <a:ext cx="0" cy="0"/>
          <a:chOff x="0" y="0"/>
          <a:chExt cx="0" cy="0"/>
        </a:xfrm>
      </p:grpSpPr>
      <p:sp>
        <p:nvSpPr>
          <p:cNvPr id="2" name="Text 0"/>
          <p:cNvSpPr/>
          <p:nvPr/>
        </p:nvSpPr>
        <p:spPr>
          <a:xfrm>
            <a:off x="548640" y="502920"/>
            <a:ext cx="8229600" cy="320040"/>
          </a:xfrm>
          <a:prstGeom prst="rect">
            <a:avLst/>
          </a:prstGeom>
          <a:noFill/>
          <a:ln/>
        </p:spPr>
        <p:txBody>
          <a:bodyPr wrap="square" lIns="0" tIns="0" rIns="0" bIns="0" rtlCol="0" anchor="ctr"/>
          <a:lstStyle/>
          <a:p>
            <a:pPr indent="0" marL="0">
              <a:buNone/>
            </a:pPr>
            <a:r>
              <a:rPr lang="en-US" sz="1200" b="1" spc="200" kern="0" dirty="0">
                <a:solidFill>
                  <a:srgbClr val="02C39A"/>
                </a:solidFill>
                <a:latin typeface="Calibri" pitchFamily="34" charset="0"/>
                <a:ea typeface="Calibri" pitchFamily="34" charset="-122"/>
                <a:cs typeface="Calibri" pitchFamily="34" charset="-120"/>
              </a:rPr>
              <a:t>SELECTED REFERENCES (APA)</a:t>
            </a:r>
            <a:endParaRPr lang="en-US" sz="1200" dirty="0"/>
          </a:p>
        </p:txBody>
      </p:sp>
      <p:sp>
        <p:nvSpPr>
          <p:cNvPr id="3" name="Text 1"/>
          <p:cNvSpPr/>
          <p:nvPr/>
        </p:nvSpPr>
        <p:spPr>
          <a:xfrm>
            <a:off x="548640" y="777240"/>
            <a:ext cx="11091672" cy="82296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References</a:t>
            </a:r>
            <a:endParaRPr lang="en-US" sz="3200" dirty="0"/>
          </a:p>
        </p:txBody>
      </p:sp>
      <p:sp>
        <p:nvSpPr>
          <p:cNvPr id="4" name="Text 2"/>
          <p:cNvSpPr/>
          <p:nvPr/>
        </p:nvSpPr>
        <p:spPr>
          <a:xfrm>
            <a:off x="548640" y="1828800"/>
            <a:ext cx="10789920" cy="3931920"/>
          </a:xfrm>
          <a:prstGeom prst="rect">
            <a:avLst/>
          </a:prstGeom>
          <a:noFill/>
          <a:ln/>
        </p:spPr>
        <p:txBody>
          <a:bodyPr wrap="square" lIns="0" tIns="0" rIns="0" bIns="0" rtlCol="0" anchor="ctr"/>
          <a:lstStyle/>
          <a:p>
            <a:pPr marL="342900" indent="-342900">
              <a:spcAft>
                <a:spcPts val="1100"/>
              </a:spcAft>
              <a:buSzPct val="100000"/>
              <a:buChar char="•"/>
            </a:pPr>
            <a:r>
              <a:rPr lang="en-US" sz="1300" dirty="0">
                <a:solidFill>
                  <a:srgbClr val="CFE6E6"/>
                </a:solidFill>
                <a:latin typeface="Calibri" pitchFamily="34" charset="0"/>
                <a:ea typeface="Calibri" pitchFamily="34" charset="-122"/>
                <a:cs typeface="Calibri" pitchFamily="34" charset="-120"/>
              </a:rPr>
              <a:t>Chen, S., &amp; Chou, E. (2018). The price is right: Predicting prices with product images.</a:t>
            </a:r>
            <a:endParaRPr lang="en-US" sz="1300" dirty="0"/>
          </a:p>
          <a:p>
            <a:pPr marL="342900" indent="-342900">
              <a:spcAft>
                <a:spcPts val="1100"/>
              </a:spcAft>
              <a:buSzPct val="100000"/>
              <a:buChar char="•"/>
            </a:pPr>
            <a:r>
              <a:rPr lang="en-US" sz="1300" dirty="0">
                <a:solidFill>
                  <a:srgbClr val="CFE6E6"/>
                </a:solidFill>
                <a:latin typeface="Calibri" pitchFamily="34" charset="0"/>
                <a:ea typeface="Calibri" pitchFamily="34" charset="-122"/>
                <a:cs typeface="Calibri" pitchFamily="34" charset="-120"/>
              </a:rPr>
              <a:t>Li, Y., Hu, B., Luo, W., Ma, L., Ding, Y., &amp; Zhang, M. (2024). A multimodal in-context tuning approach for e-commerce product description generation (ModICT). LREC-COLING 2024. arXiv:2402.13587</a:t>
            </a:r>
            <a:endParaRPr lang="en-US" sz="1300" dirty="0"/>
          </a:p>
          <a:p>
            <a:pPr marL="342900" indent="-342900">
              <a:spcAft>
                <a:spcPts val="1100"/>
              </a:spcAft>
              <a:buSzPct val="100000"/>
              <a:buChar char="•"/>
            </a:pPr>
            <a:r>
              <a:rPr lang="en-US" sz="1300" dirty="0">
                <a:solidFill>
                  <a:srgbClr val="CFE6E6"/>
                </a:solidFill>
                <a:latin typeface="Calibri" pitchFamily="34" charset="0"/>
                <a:ea typeface="Calibri" pitchFamily="34" charset="-122"/>
                <a:cs typeface="Calibri" pitchFamily="34" charset="-120"/>
              </a:rPr>
              <a:t>Peng, J., Xiao, C., &amp; Li, Y. (2020). RP2K: A large-scale retail product dataset for fine-grained image classification. arXiv:2006.12634</a:t>
            </a:r>
            <a:endParaRPr lang="en-US" sz="1300" dirty="0"/>
          </a:p>
          <a:p>
            <a:pPr marL="342900" indent="-342900">
              <a:spcAft>
                <a:spcPts val="1100"/>
              </a:spcAft>
              <a:buSzPct val="100000"/>
              <a:buChar char="•"/>
            </a:pPr>
            <a:r>
              <a:rPr lang="en-US" sz="1300" dirty="0">
                <a:solidFill>
                  <a:srgbClr val="CFE6E6"/>
                </a:solidFill>
                <a:latin typeface="Calibri" pitchFamily="34" charset="0"/>
                <a:ea typeface="Calibri" pitchFamily="34" charset="-122"/>
                <a:cs typeface="Calibri" pitchFamily="34" charset="-120"/>
              </a:rPr>
              <a:t>LLP: LLM-based product pricing in e-commerce. (2025). arXiv:2510.09347</a:t>
            </a:r>
            <a:endParaRPr lang="en-US" sz="1300" dirty="0"/>
          </a:p>
          <a:p>
            <a:pPr marL="342900" indent="-342900">
              <a:spcAft>
                <a:spcPts val="1100"/>
              </a:spcAft>
              <a:buSzPct val="100000"/>
              <a:buChar char="•"/>
            </a:pPr>
            <a:r>
              <a:rPr lang="en-US" sz="1300" dirty="0">
                <a:solidFill>
                  <a:srgbClr val="CFE6E6"/>
                </a:solidFill>
                <a:latin typeface="Calibri" pitchFamily="34" charset="0"/>
                <a:ea typeface="Calibri" pitchFamily="34" charset="-122"/>
                <a:cs typeface="Calibri" pitchFamily="34" charset="-120"/>
              </a:rPr>
              <a:t>SIR: Similar image retrieval for product search in e-commerce. (2020). arXiv:2009.13836</a:t>
            </a:r>
            <a:endParaRPr lang="en-US" sz="1300" dirty="0"/>
          </a:p>
          <a:p>
            <a:pPr marL="342900" indent="-342900">
              <a:spcAft>
                <a:spcPts val="1100"/>
              </a:spcAft>
              <a:buSzPct val="100000"/>
              <a:buChar char="•"/>
            </a:pPr>
            <a:r>
              <a:rPr lang="en-US" sz="1300" dirty="0">
                <a:solidFill>
                  <a:srgbClr val="CFE6E6"/>
                </a:solidFill>
                <a:latin typeface="Calibri" pitchFamily="34" charset="0"/>
                <a:ea typeface="Calibri" pitchFamily="34" charset="-122"/>
                <a:cs typeface="Calibri" pitchFamily="34" charset="-120"/>
              </a:rPr>
              <a:t>e-CLIP: Large-scale vision-language representation learning in e-commerce. (2022). arXiv:2207.00208</a:t>
            </a:r>
            <a:endParaRPr lang="en-US" sz="1300" dirty="0"/>
          </a:p>
        </p:txBody>
      </p:sp>
      <p:sp>
        <p:nvSpPr>
          <p:cNvPr id="5" name="Text 3"/>
          <p:cNvSpPr/>
          <p:nvPr/>
        </p:nvSpPr>
        <p:spPr>
          <a:xfrm>
            <a:off x="548640" y="5943600"/>
            <a:ext cx="10789920" cy="457200"/>
          </a:xfrm>
          <a:prstGeom prst="rect">
            <a:avLst/>
          </a:prstGeom>
          <a:noFill/>
          <a:ln/>
        </p:spPr>
        <p:txBody>
          <a:bodyPr wrap="square" lIns="0" tIns="0" rIns="0" bIns="0" rtlCol="0" anchor="ctr"/>
          <a:lstStyle/>
          <a:p>
            <a:pPr indent="0" marL="0">
              <a:buNone/>
            </a:pPr>
            <a:r>
              <a:rPr lang="en-US" sz="1200" i="1" dirty="0">
                <a:solidFill>
                  <a:srgbClr val="5B6B73"/>
                </a:solidFill>
                <a:latin typeface="Calibri" pitchFamily="34" charset="0"/>
                <a:ea typeface="Calibri" pitchFamily="34" charset="-122"/>
                <a:cs typeface="Calibri" pitchFamily="34" charset="-120"/>
              </a:rPr>
              <a:t>Full list (10 landmark papers, 2018–2025) with verified author lists in docs/literature_review.md · APA per uOttawa guidelines.</a:t>
            </a:r>
            <a:endParaRPr lang="en-US" sz="1200" dirty="0"/>
          </a:p>
        </p:txBody>
      </p:sp>
      <p:sp>
        <p:nvSpPr>
          <p:cNvPr id="6" name="Text 4"/>
          <p:cNvSpPr/>
          <p:nvPr/>
        </p:nvSpPr>
        <p:spPr>
          <a:xfrm>
            <a:off x="11274552" y="6400800"/>
            <a:ext cx="457200" cy="274320"/>
          </a:xfrm>
          <a:prstGeom prst="rect">
            <a:avLst/>
          </a:prstGeom>
          <a:noFill/>
          <a:ln/>
        </p:spPr>
        <p:txBody>
          <a:bodyPr wrap="square" rtlCol="0" anchor="ctr"/>
          <a:lstStyle/>
          <a:p>
            <a:pPr algn="r" indent="0" marL="0">
              <a:buNone/>
            </a:pPr>
            <a:r>
              <a:rPr lang="en-US" sz="1000" dirty="0">
                <a:solidFill>
                  <a:srgbClr val="5B6B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2026-07-14T15:42:13Z</dcterms:created>
  <dcterms:modified xsi:type="dcterms:W3CDTF">2026-07-14T15:42:13Z</dcterms:modified>
</cp:coreProperties>
</file>