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49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88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6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184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Snap-to-Sell: a pipeline that takes a single phone photo of a packaged corner-store product and returns a publishable sales listing — identity, description, a defensible price, a clean catalogue image, and compliance flags. Build-and-evaluate stream: the contribution is integration, grounding, and rigorous failure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scene: demand is real, the bottleneck is manual catalogue creation. Recognising 'a chocolate bar' is trivial; recognising the exact SKU, pulling a realistic local price, and writing copy that doesn't misrepresent is where it gets hard.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sits on the gap between off-the-shelf AI capability and real deployment. Three sub-problems: exact identity, defensible price, grounded copy. Solving it lowers the e-commerce barrier for retailers automation usually leaves behind.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research question verbatim. Four objectives: build, quantify, characterise failures, safeguard. Emphasise the framing — investigation with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papers across four sub-problems support each design choice. Novelty: the integrated, measured pipeline for corner-store FMCG, with same-SKU verification and selling-context responsible-AI as first-class evaluated concerns.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six stages. Key design choices: VLM+OCR fusion over a scratch classifier; grounding generation in retrieved attributes; price as estimate-with-range; image swap only on a confident same-SKU match with the owner's photo as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 contract. Typed artifacts between stages mean each module can be developed and tested in isolation behind a frozen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CRISP-DM phases. Note the data-strategy honesty: no ready-made 'corner-store photo → listing + price' dataset exists, so building the labelled test set with real observed prices is itself part of the contribution.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genuinely runnable pipeline, not a mock. Hosted providers are pluggable; retrieval is barcode-first with graceful offline fallbacks; generation is grounded; image swap gated on same-SKU verification; every run writes a per-image trace 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a selling context, an invented spec or a wrong image is a real harm. Four safeguards, each measurable — age-restriction recall, hallucinated-claim catch rate, false-swap rate, priced-as-range transparency.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 per-axis, not one number. Safety axes weighted heavily. The naive baseline anchors every comparison. Failure modes analysed, not averaged 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Headline: the pipeline wins 4 of 5 measured axes over the naive baseline — identification, category, age-restriction recall (100%), and image upgrade. Be candid on price: the baseline's ungrounded VLM guess beats retrieval-grounded pricing on cheap corner-store goods, because Google Shopping keeps returning multipacks and look-alikes. That's a documented failure mode, and low-confidence matches are declined (routed to review) rather than mispriced. n=58; report median (robust) and mean (outlier-sensitive).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pipeline output: (1) a clean publish-ready listing; (2) an alcohol item correctly flagged 18+ with a verified catalogue image swapped in; (3) an unbranded item the confidence gate declined to price and routed to human review. This is the qualitative 'predictions / visualizations' the rubric asks for, and it sets up the interpretability point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Observed failure modes from the 58-item run, not predictions. Lead with pricing — the one axis the baseline won, honestly a retrieval-quality problem on cheap FMCG, not a modelling flaw. Then explicitly address interpretability/explainability (a rubric requirement): the whole pipeline is inspectable — trace logs, candidate scores, price basis, match reasons, guardrail flags — nothing is a black 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contribution: integrated, verified, reproducibly evaluated. Future work signals awareness of limitations. End with the mission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the full literature review for the complete APA list. A few preprint author lists still to be verified before final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7112" y="-1645920"/>
            <a:ext cx="4754880" cy="475488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177272" y="3291840"/>
            <a:ext cx="3108960" cy="310896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5100 — MACHINE LEARNING · GROUP PROJECT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Snap-to-Sell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 corner-store product photo into a priced, image-upgraded, publishable listing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931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AI System Development Project — Build &amp; Evaluate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52120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Ikenna Okonkwo   ·   Loic Tiemani   ·   Frank Boahen   ·   Adhikary Adhikary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5623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Ottawa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Selling online should be one photo away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corner stores increasingly want to sell online</a:t>
            </a:r>
            <a:endParaRPr lang="en-US" sz="1700" dirty="0"/>
          </a:p>
          <a:p>
            <a:pPr marL="0" indent="0">
              <a:buNone/>
            </a:pP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through delivery platforms, their own storefronts, or aggregator catalogues.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6035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onboarding inventory is manual and slow.</a:t>
            </a:r>
            <a:endParaRPr lang="en-US" sz="17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shop carries hundreds of fast-moving packaged goods. Creating each catalogue entry by hand — the right name, a description, a price, an image — is slow enough that most small retailers never digitise their stock at all.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502920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vision-language models can already read packaging. The gap is turning that capability into a reliable, deployable pipeline.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406640" y="1737360"/>
            <a:ext cx="42062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  <a:effectLst>
            <a:outerShdw blurRad="76200" dist="25400" dir="5400000" algn="bl" rotWithShape="0">
              <a:srgbClr val="99BBBB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635240" y="18745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Hundreds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635240" y="25146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SKUs per store, mostly packaged FMCG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406640" y="3246120"/>
            <a:ext cx="42062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  <a:effectLst>
            <a:outerShdw blurRad="76200" dist="25400" dir="5400000" algn="bl" rotWithShape="0">
              <a:srgbClr val="99BBBB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635240" y="33832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stages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635240" y="40233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→ retrieve → generate → verify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406640" y="4754880"/>
            <a:ext cx="42062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  <a:effectLst>
            <a:outerShdw blurRad="76200" dist="25400" dir="5400000" algn="bl" rotWithShape="0">
              <a:srgbClr val="99BBBB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635240" y="48920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photo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635240" y="55321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 →  publishable listing out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Down Ribbon 16">
            <a:extLst>
              <a:ext uri="{FF2B5EF4-FFF2-40B4-BE49-F238E27FC236}">
                <a16:creationId xmlns:a16="http://schemas.microsoft.com/office/drawing/2014/main" id="{F6AEE544-EF94-70F2-E6ED-81E8396C6257}"/>
              </a:ext>
            </a:extLst>
          </p:cNvPr>
          <p:cNvSpPr/>
          <p:nvPr/>
        </p:nvSpPr>
        <p:spPr>
          <a:xfrm>
            <a:off x="9623503" y="60774"/>
            <a:ext cx="2415354" cy="289932"/>
          </a:xfrm>
          <a:prstGeom prst="ribbon">
            <a:avLst/>
          </a:prstGeom>
          <a:solidFill>
            <a:srgbClr val="08494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Adhikary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hard part isn't seeing — it's being exactly right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0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question:  </a:t>
            </a: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single photo of a packaged product be turned — automatically and accurately enough to be useful — into a publishable listing with a defensible suggested price?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35661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8680" y="356616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4251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SKU?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68680" y="475488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Brand, variant and pack size — not just the category. This is where accuracy degrades.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297680" y="3246120"/>
            <a:ext cx="35661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17720" y="356616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1772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17720" y="4251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price?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17720" y="475488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realistic local price, grounded in comparables — never a single confident guess.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046720" y="3246120"/>
            <a:ext cx="35661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366760" y="356616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36676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366760" y="4251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claims?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66760" y="475488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that never invents specs or ingredients — misrepresentation is a real harm when selling.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Down Ribbon 21">
            <a:extLst>
              <a:ext uri="{FF2B5EF4-FFF2-40B4-BE49-F238E27FC236}">
                <a16:creationId xmlns:a16="http://schemas.microsoft.com/office/drawing/2014/main" id="{C7D3DE7B-7F86-5CB8-419D-B052D5BEC6EC}"/>
              </a:ext>
            </a:extLst>
          </p:cNvPr>
          <p:cNvSpPr/>
          <p:nvPr/>
        </p:nvSpPr>
        <p:spPr>
          <a:xfrm>
            <a:off x="9623503" y="60774"/>
            <a:ext cx="2415354" cy="289932"/>
          </a:xfrm>
          <a:prstGeom prst="ribbon">
            <a:avLst/>
          </a:prstGeom>
          <a:solidFill>
            <a:srgbClr val="08494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Adhikary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investigation with an evaluation — not a product build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5577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accurately can a vision-language + retrieval pipeline identify packaged corner-store products from a single shelf photo and generate a publishable, correctly priced listing — and where, systematically, does it fail?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434340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leans on an existing model or API. The contribution is the integration, the grounding / pricing logic, and rigorous failure analysis.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1691640"/>
            <a:ext cx="525780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583680" y="198424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83680" y="1984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269480" y="18013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269480" y="214884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pipeline: photo in → structured listing out (identity, attributes, copy, price, clean image, compliance flag).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0" y="2898648"/>
            <a:ext cx="525780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583680" y="3191256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83680" y="31912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269480" y="300837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Quantify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69480" y="3355848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on three axes — identification accuracy, price error, listing quality — vs a hand-labelled test set.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0" y="4105656"/>
            <a:ext cx="525780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583680" y="4398264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83680" y="43982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269480" y="421538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Characterise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269480" y="4562856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modes: look-alikes, multipack ambiguity, glare, occlusion, own-brand — not one headline number.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0" y="5312664"/>
            <a:ext cx="525780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583680" y="5605272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83680" y="5605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269480" y="54223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Safeguard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269480" y="5769864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responsible-AI layer: detect age-restricted items, flag hallucinated / unverifiable claims before publish.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Down Ribbon 27">
            <a:extLst>
              <a:ext uri="{FF2B5EF4-FFF2-40B4-BE49-F238E27FC236}">
                <a16:creationId xmlns:a16="http://schemas.microsoft.com/office/drawing/2014/main" id="{881BF33F-61E1-86E1-D9B0-B825E879F0C6}"/>
              </a:ext>
            </a:extLst>
          </p:cNvPr>
          <p:cNvSpPr/>
          <p:nvPr/>
        </p:nvSpPr>
        <p:spPr>
          <a:xfrm>
            <a:off x="9623503" y="60774"/>
            <a:ext cx="2415354" cy="289932"/>
          </a:xfrm>
          <a:prstGeom prst="ribbon">
            <a:avLst/>
          </a:prstGeom>
          <a:solidFill>
            <a:srgbClr val="08494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Adhikary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stage is solved — the integrated pipeline is not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265176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Sub-problem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0" y="1783080"/>
            <a:ext cx="493776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prior work (2018–2025)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38160" y="1783080"/>
            <a:ext cx="347472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gives us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64240" cy="749808"/>
          </a:xfrm>
          <a:prstGeom prst="rect">
            <a:avLst/>
          </a:prstGeom>
          <a:solidFill>
            <a:srgbClr val="E9F1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240280"/>
            <a:ext cx="2651760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generation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0" y="2240280"/>
            <a:ext cx="4937760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ModICT (2024): frozen LLM + in-context example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138160" y="2240280"/>
            <a:ext cx="3474720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our exact risk: generic copy for look-alikes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990088"/>
            <a:ext cx="11064240" cy="7498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2990088"/>
            <a:ext cx="2651760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0" y="2990088"/>
            <a:ext cx="4937760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RP2K, CAPG-GP; image + OCR fusion (2023)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138160" y="2990088"/>
            <a:ext cx="3474720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beats image-only, esp. few-shot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739896"/>
            <a:ext cx="11064240" cy="749808"/>
          </a:xfrm>
          <a:prstGeom prst="rect">
            <a:avLst/>
          </a:prstGeom>
          <a:solidFill>
            <a:srgbClr val="E9F1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3739896"/>
            <a:ext cx="2651760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00400" y="3739896"/>
            <a:ext cx="4937760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LLP (2025): retrieve comparables, reject low-confidence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138160" y="3739896"/>
            <a:ext cx="3474720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retrieval-grounded, confidence-gated pricing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489704"/>
            <a:ext cx="11064240" cy="7498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4489704"/>
            <a:ext cx="2651760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upgrade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00400" y="4489704"/>
            <a:ext cx="4937760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 (2020), e-CLIP (2022): embedding match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138160" y="4489704"/>
            <a:ext cx="3474720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Same-SKU match + restricted-item detection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422392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0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22960" y="5513832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published system chains recognition → comparable pricing → verified image replacement → grounded generation into one evaluated pipeline. Commercial snap-to-sell apps target used goods, are closed, and publish no evaluation.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Down Ribbon 26">
            <a:extLst>
              <a:ext uri="{FF2B5EF4-FFF2-40B4-BE49-F238E27FC236}">
                <a16:creationId xmlns:a16="http://schemas.microsoft.com/office/drawing/2014/main" id="{18DC0026-8688-CF57-DC93-E4E605957AB3}"/>
              </a:ext>
            </a:extLst>
          </p:cNvPr>
          <p:cNvSpPr/>
          <p:nvPr/>
        </p:nvSpPr>
        <p:spPr>
          <a:xfrm>
            <a:off x="9623503" y="60774"/>
            <a:ext cx="2415354" cy="289932"/>
          </a:xfrm>
          <a:prstGeom prst="ribbon">
            <a:avLst/>
          </a:prstGeom>
          <a:solidFill>
            <a:srgbClr val="08494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Ikenna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staged pipeline with human review</a:t>
            </a:r>
            <a:endParaRPr lang="en-US" sz="3200" dirty="0"/>
          </a:p>
        </p:txBody>
      </p:sp>
      <p:pic>
        <p:nvPicPr>
          <p:cNvPr id="4" name="Image 0" descr="fig_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640080"/>
            <a:ext cx="4160520" cy="61447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737360"/>
            <a:ext cx="65836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85800" y="188366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85800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280160" y="181051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280160" y="2139696"/>
            <a:ext cx="5715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image; deskew, crop, glare / exposure normalise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548640" y="2560320"/>
            <a:ext cx="65836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85800" y="270662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85800" y="2706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280160" y="263347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1280160" y="2962656"/>
            <a:ext cx="5715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+ packaging OCR → brand, product, variant, size, category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548640" y="3383280"/>
            <a:ext cx="65836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85800" y="3529584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85800" y="3529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1280160" y="345643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1280160" y="3785616"/>
            <a:ext cx="5715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Barcode-first lookup → comparable prices, canonical name, candidate images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548640" y="4206240"/>
            <a:ext cx="65836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85800" y="4352544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85800" y="4352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1280160" y="427939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1280160" y="4608576"/>
            <a:ext cx="5715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LLM copy + price range; select &amp; verify best catalogue image</a:t>
            </a:r>
            <a:endParaRPr lang="en-US" sz="1080" dirty="0"/>
          </a:p>
        </p:txBody>
      </p:sp>
      <p:sp>
        <p:nvSpPr>
          <p:cNvPr id="25" name="Shape 22"/>
          <p:cNvSpPr/>
          <p:nvPr/>
        </p:nvSpPr>
        <p:spPr>
          <a:xfrm>
            <a:off x="548640" y="5029200"/>
            <a:ext cx="65836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685800" y="5175504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85800" y="5175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1280160" y="510235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1280160" y="5431536"/>
            <a:ext cx="5715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Age-restriction, hallucination &amp; image-match checks; low-confidence routing</a:t>
            </a:r>
            <a:endParaRPr lang="en-US" sz="1080" dirty="0"/>
          </a:p>
        </p:txBody>
      </p:sp>
      <p:sp>
        <p:nvSpPr>
          <p:cNvPr id="30" name="Shape 27"/>
          <p:cNvSpPr/>
          <p:nvPr/>
        </p:nvSpPr>
        <p:spPr>
          <a:xfrm>
            <a:off x="548640" y="5852160"/>
            <a:ext cx="65836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685800" y="5998464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85800" y="5998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700" dirty="0"/>
          </a:p>
        </p:txBody>
      </p:sp>
      <p:sp>
        <p:nvSpPr>
          <p:cNvPr id="33" name="Text 30"/>
          <p:cNvSpPr/>
          <p:nvPr/>
        </p:nvSpPr>
        <p:spPr>
          <a:xfrm>
            <a:off x="1280160" y="592531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450" dirty="0"/>
          </a:p>
        </p:txBody>
      </p:sp>
      <p:sp>
        <p:nvSpPr>
          <p:cNvPr id="34" name="Text 31"/>
          <p:cNvSpPr/>
          <p:nvPr/>
        </p:nvSpPr>
        <p:spPr>
          <a:xfrm>
            <a:off x="1280160" y="6254496"/>
            <a:ext cx="5715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edits / approves; corrections feed back as labelled data</a:t>
            </a:r>
            <a:endParaRPr lang="en-US" sz="1080" dirty="0"/>
          </a:p>
        </p:txBody>
      </p:sp>
      <p:sp>
        <p:nvSpPr>
          <p:cNvPr id="35" name="Text 32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Down Ribbon 36">
            <a:extLst>
              <a:ext uri="{FF2B5EF4-FFF2-40B4-BE49-F238E27FC236}">
                <a16:creationId xmlns:a16="http://schemas.microsoft.com/office/drawing/2014/main" id="{465D79AA-9713-4F57-F35F-AE6BCD582153}"/>
              </a:ext>
            </a:extLst>
          </p:cNvPr>
          <p:cNvSpPr/>
          <p:nvPr/>
        </p:nvSpPr>
        <p:spPr>
          <a:xfrm>
            <a:off x="9623503" y="60774"/>
            <a:ext cx="2415354" cy="289932"/>
          </a:xfrm>
          <a:prstGeom prst="ribbon">
            <a:avLst/>
          </a:prstGeom>
          <a:solidFill>
            <a:srgbClr val="08494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Ikenna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flows between the stages</a:t>
            </a:r>
            <a:endParaRPr lang="en-US" sz="3200" dirty="0"/>
          </a:p>
        </p:txBody>
      </p:sp>
      <p:pic>
        <p:nvPicPr>
          <p:cNvPr id="4" name="Image 0" descr="fig_data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640080"/>
            <a:ext cx="3931920" cy="61447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73736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exchanges a typed artifact — the interfaces are frozen so components can be built and tested independently.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743200"/>
            <a:ext cx="6629400" cy="658368"/>
          </a:xfrm>
          <a:prstGeom prst="roundRect">
            <a:avLst>
              <a:gd name="adj" fmla="val 11111"/>
            </a:avLst>
          </a:prstGeom>
          <a:solidFill>
            <a:srgbClr val="E9F1F1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31520" y="2743200"/>
            <a:ext cx="182880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Photo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514600" y="2743200"/>
            <a:ext cx="457200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image + optional barcode crop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493008"/>
            <a:ext cx="66294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31520" y="3493008"/>
            <a:ext cx="182880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2514600" y="3493008"/>
            <a:ext cx="457200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· product · variant · size · category · confidence · query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4242816"/>
            <a:ext cx="6629400" cy="658368"/>
          </a:xfrm>
          <a:prstGeom prst="roundRect">
            <a:avLst>
              <a:gd name="adj" fmla="val 11111"/>
            </a:avLst>
          </a:prstGeom>
          <a:solidFill>
            <a:srgbClr val="E9F1F1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31520" y="4242816"/>
            <a:ext cx="182880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Bundle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2514600" y="4242816"/>
            <a:ext cx="457200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name · price + currency · candidate images · ambiguity flag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4992624"/>
            <a:ext cx="66294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31520" y="4992624"/>
            <a:ext cx="182880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 listing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2514600" y="4992624"/>
            <a:ext cx="457200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· description · suggested price · best image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8640" y="5742432"/>
            <a:ext cx="6629400" cy="658368"/>
          </a:xfrm>
          <a:prstGeom prst="roundRect">
            <a:avLst>
              <a:gd name="adj" fmla="val 11111"/>
            </a:avLst>
          </a:prstGeom>
          <a:solidFill>
            <a:srgbClr val="E9F1F1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31520" y="5742432"/>
            <a:ext cx="182880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Flags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2514600" y="5742432"/>
            <a:ext cx="457200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age-restricted · claim-grounded · image-swapped · route-to-review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3" name="Down Ribbon 22">
            <a:extLst>
              <a:ext uri="{FF2B5EF4-FFF2-40B4-BE49-F238E27FC236}">
                <a16:creationId xmlns:a16="http://schemas.microsoft.com/office/drawing/2014/main" id="{F039EF7C-2FDE-8D70-804C-3DF16D431115}"/>
              </a:ext>
            </a:extLst>
          </p:cNvPr>
          <p:cNvSpPr/>
          <p:nvPr/>
        </p:nvSpPr>
        <p:spPr>
          <a:xfrm>
            <a:off x="9623503" y="60774"/>
            <a:ext cx="2415354" cy="289932"/>
          </a:xfrm>
          <a:prstGeom prst="ribbon">
            <a:avLst/>
          </a:prstGeom>
          <a:solidFill>
            <a:srgbClr val="08494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Ikenna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CRISP-DM, adapted for assembled pretrained components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understanding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category, success criteria, responsible-AI requirements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51960" y="192024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26280" y="219456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2628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26280" y="2880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understanding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526280" y="32918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&amp; profile candidate images and price references; find look-alike clusters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55280" y="192024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29600" y="219456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229600" y="2880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229600" y="32918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labelled test set (photo → SKU + real observed price); define quality rubric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2960" y="43891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296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22960" y="5074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Modelling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22960" y="54864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stages; compare VLM-only vs VLM+OCR, retrieved-median vs adjusted pricing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51960" y="411480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26280" y="438912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2628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4526280" y="5074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4526280" y="54864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on held-out set; failure-mode analysis; compare to a naive baseline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955280" y="411480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229600" y="4389120"/>
            <a:ext cx="548640" cy="548640"/>
          </a:xfrm>
          <a:prstGeom prst="ellipse">
            <a:avLst/>
          </a:prstGeom>
          <a:solidFill>
            <a:srgbClr val="0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22960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8229600" y="5074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(academic)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8229600" y="54864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paper, timed presentation, documented reproducible codebase + demo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5" name="Down Ribbon 34">
            <a:extLst>
              <a:ext uri="{FF2B5EF4-FFF2-40B4-BE49-F238E27FC236}">
                <a16:creationId xmlns:a16="http://schemas.microsoft.com/office/drawing/2014/main" id="{7455D69E-1A07-2175-DDF4-20A4749C2767}"/>
              </a:ext>
            </a:extLst>
          </p:cNvPr>
          <p:cNvSpPr/>
          <p:nvPr/>
        </p:nvSpPr>
        <p:spPr>
          <a:xfrm>
            <a:off x="9623503" y="60774"/>
            <a:ext cx="2415354" cy="289932"/>
          </a:xfrm>
          <a:prstGeom prst="ribbon">
            <a:avLst/>
          </a:prstGeom>
          <a:solidFill>
            <a:srgbClr val="08494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Loic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is actually built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74980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1828800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Recognition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2606040" y="1783080"/>
            <a:ext cx="5349240" cy="8961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vision-language model (default GPT-4o-mini; Claude / Gemini optional) fused with packaging OCR → structured identity JSON.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752344"/>
            <a:ext cx="74980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752344"/>
            <a:ext cx="1828800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606040" y="2752344"/>
            <a:ext cx="5349240" cy="8961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Barcode-first lookup across Open Food Facts / Open Products Facts / Open Prices, plus a bounded Google Shopping layer; N-best re-ranking with retailer &amp; local-currency preference.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721608"/>
            <a:ext cx="74980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3721608"/>
            <a:ext cx="1828800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606040" y="3721608"/>
            <a:ext cx="5349240" cy="8961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with structured-output prompting, grounded strictly in retrieved / extracted attributes — no invented specs.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690872"/>
            <a:ext cx="74980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4690872"/>
            <a:ext cx="1828800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upgrade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606040" y="4690872"/>
            <a:ext cx="5349240" cy="8961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CLIP-style similarity + perceptual hash to verify same-SKU; background removal (rembg) to clean the owner's own photo; quality gate before any swap.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5660136"/>
            <a:ext cx="74980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5660136"/>
            <a:ext cx="1828800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606040" y="5660136"/>
            <a:ext cx="5349240" cy="8961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Age-restriction flag, claim-grounding, ambiguity → human review; per-image trace log for every decision.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321040" y="1783080"/>
            <a:ext cx="3337560" cy="4526280"/>
          </a:xfrm>
          <a:prstGeom prst="roundRect">
            <a:avLst>
              <a:gd name="adj" fmla="val 2740"/>
            </a:avLst>
          </a:prstGeom>
          <a:solidFill>
            <a:srgbClr val="0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549640" y="1965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549640" y="2377440"/>
            <a:ext cx="2971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8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 · src/ package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8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— capture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8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VLM + OCR — recognise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8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/ OPF / Open Prices + Shopping API — retrieve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8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/ phash + rembg — imagematch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8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Structured-output LLM — generate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8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+ trace layer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8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(local + Colab) demo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3" name="Down Ribbon 22">
            <a:extLst>
              <a:ext uri="{FF2B5EF4-FFF2-40B4-BE49-F238E27FC236}">
                <a16:creationId xmlns:a16="http://schemas.microsoft.com/office/drawing/2014/main" id="{597E21C1-5DA9-24A1-8472-1144BF0AF609}"/>
              </a:ext>
            </a:extLst>
          </p:cNvPr>
          <p:cNvSpPr/>
          <p:nvPr/>
        </p:nvSpPr>
        <p:spPr>
          <a:xfrm>
            <a:off x="9623503" y="60774"/>
            <a:ext cx="2415354" cy="289932"/>
          </a:xfrm>
          <a:prstGeom prst="ribbon">
            <a:avLst/>
          </a:prstGeom>
          <a:solidFill>
            <a:srgbClr val="08494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Loic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treated as a first-class, measured concern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224028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91640" y="230428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Age-restricted items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30175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Tobacco and similar are detected and flagged — never a silent publishable listing for a restricted product.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92024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37960" y="22402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3796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360920" y="230428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misrepresentation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537960" y="30175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is grounded in retrieved attributes; unverifiable claims are flagged before review.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29768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68680" y="461772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" y="4617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⤢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691640" y="468172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image, licensed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68680" y="5394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Same-SKU match blocks wrong-product images; only licence-clear sources adopted; false-swap rate measured.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429768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537960" y="461772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37960" y="4617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360920" y="468172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Transparent pricing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537960" y="5394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shown as ranges with the basis, so the owner makes the final call.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5" name="Down Ribbon 24">
            <a:extLst>
              <a:ext uri="{FF2B5EF4-FFF2-40B4-BE49-F238E27FC236}">
                <a16:creationId xmlns:a16="http://schemas.microsoft.com/office/drawing/2014/main" id="{D9B266B3-4317-F6AC-A91B-86D9B308A468}"/>
              </a:ext>
            </a:extLst>
          </p:cNvPr>
          <p:cNvSpPr/>
          <p:nvPr/>
        </p:nvSpPr>
        <p:spPr>
          <a:xfrm>
            <a:off x="9623503" y="60774"/>
            <a:ext cx="2415354" cy="289932"/>
          </a:xfrm>
          <a:prstGeom prst="ribbon">
            <a:avLst/>
          </a:prstGeom>
          <a:solidFill>
            <a:srgbClr val="08494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Loic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axes, anchored by a naive baseline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201168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651760" y="1783080"/>
            <a:ext cx="320040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/ Top-3 SKU accuracy; brand vs variant level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394960" cy="621792"/>
          </a:xfrm>
          <a:prstGeom prst="roundRect">
            <a:avLst>
              <a:gd name="adj" fmla="val 10294"/>
            </a:avLst>
          </a:prstGeom>
          <a:solidFill>
            <a:srgbClr val="E9F1F1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0" y="1783080"/>
            <a:ext cx="201168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extraction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321040" y="1783080"/>
            <a:ext cx="320040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Field-level precision / recall (size, flavour, count)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496312"/>
            <a:ext cx="539496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2496312"/>
            <a:ext cx="201168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estimation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51760" y="2496312"/>
            <a:ext cx="320040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abs. % error vs real observed price; % in band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2496312"/>
            <a:ext cx="5394960" cy="621792"/>
          </a:xfrm>
          <a:prstGeom prst="roundRect">
            <a:avLst>
              <a:gd name="adj" fmla="val 10294"/>
            </a:avLst>
          </a:prstGeom>
          <a:solidFill>
            <a:srgbClr val="E9F1F1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0" y="2496312"/>
            <a:ext cx="201168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quality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21040" y="2496312"/>
            <a:ext cx="320040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human rubric: accuracy, completeness, no hallucination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209544"/>
            <a:ext cx="539496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3209544"/>
            <a:ext cx="201168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upgrade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51760" y="3209544"/>
            <a:ext cx="320040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accuracy; % upgraded; false-swap rate (penalised)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3209544"/>
            <a:ext cx="5394960" cy="621792"/>
          </a:xfrm>
          <a:prstGeom prst="roundRect">
            <a:avLst>
              <a:gd name="adj" fmla="val 10294"/>
            </a:avLst>
          </a:prstGeom>
          <a:solidFill>
            <a:srgbClr val="E9F1F1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0" y="3209544"/>
            <a:ext cx="201168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21040" y="3209544"/>
            <a:ext cx="320040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Age-restricted recall; hallucinated-claim catch rate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922776"/>
            <a:ext cx="539496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31520" y="3922776"/>
            <a:ext cx="201168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651760" y="3922776"/>
            <a:ext cx="320040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and approximate cost per item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39496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0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22960" y="5440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baseline: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caption → generic listing, no retrieval grounding, no guardrails. Every improvement is measured against it, so gains are attributable — not a single headline number.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8" name="Down Ribbon 27">
            <a:extLst>
              <a:ext uri="{FF2B5EF4-FFF2-40B4-BE49-F238E27FC236}">
                <a16:creationId xmlns:a16="http://schemas.microsoft.com/office/drawing/2014/main" id="{75E41FA3-D2E5-BD6C-A532-419EE4F613AC}"/>
              </a:ext>
            </a:extLst>
          </p:cNvPr>
          <p:cNvSpPr/>
          <p:nvPr/>
        </p:nvSpPr>
        <p:spPr>
          <a:xfrm>
            <a:off x="9706393" y="63450"/>
            <a:ext cx="2415354" cy="289932"/>
          </a:xfrm>
          <a:prstGeom prst="ribbon">
            <a:avLst/>
          </a:prstGeom>
          <a:solidFill>
            <a:srgbClr val="08494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Loic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58-item corner-store test set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run: OpenAI gpt-4o-mini (recognition + generation) + Google Shopping retrieval; n = 58 hand-labelled products, scored against the naive VLM-caption baseline. Winner per row in green.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64240" cy="43891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5943600" cy="43891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92240" y="2011680"/>
            <a:ext cx="2560320" cy="43891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baseline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052560" y="2011680"/>
            <a:ext cx="2560320" cy="43891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Snap-to-Sell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450592"/>
            <a:ext cx="11064240" cy="457200"/>
          </a:xfrm>
          <a:prstGeom prst="rect">
            <a:avLst/>
          </a:prstGeom>
          <a:solidFill>
            <a:srgbClr val="E9F1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450592"/>
            <a:ext cx="5943600" cy="457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identification accuracy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92240" y="24505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84.5%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052560" y="24505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7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86.2%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907792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2907792"/>
            <a:ext cx="5943600" cy="457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accuracy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92240" y="29077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77.6%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052560" y="29077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7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79.3%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364992"/>
            <a:ext cx="11064240" cy="457200"/>
          </a:xfrm>
          <a:prstGeom prst="rect">
            <a:avLst/>
          </a:prstGeom>
          <a:solidFill>
            <a:srgbClr val="E9F1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3364992"/>
            <a:ext cx="5943600" cy="457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Age-restriction recall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92240" y="33649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052560" y="33649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7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822192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3822192"/>
            <a:ext cx="5943600" cy="457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Image-upgrade (swap) rate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92240" y="38221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052560" y="38221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7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29.3%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4279392"/>
            <a:ext cx="11064240" cy="457200"/>
          </a:xfrm>
          <a:prstGeom prst="rect">
            <a:avLst/>
          </a:prstGeom>
          <a:solidFill>
            <a:srgbClr val="E9F1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4279392"/>
            <a:ext cx="5943600" cy="457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— median abs. % error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92240" y="42793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7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22.4%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052560" y="42793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43.1%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736592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48640" y="4736592"/>
            <a:ext cx="5943600" cy="457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— mean abs. % error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492240" y="47365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7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47.4%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052560" y="47365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359.9%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8640" y="5330952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0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22960" y="5394960"/>
            <a:ext cx="10515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Snap-to-Sell beats the baseline on identification, category, age-restriction flagging (100% recall), and image upgrade. It loses on price — retrieval-grounded pricing underperforms a VLM guess on low-value FMCG (multipack / look-alike matches); 8 low-confidence matches were declined and routed to review.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" y="63276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accuracy and blind listing-quality rating not yet automated; 'swap rate' shown (false-swap rate needs per-image correctness labels).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7" name="Down Ribbon 36">
            <a:extLst>
              <a:ext uri="{FF2B5EF4-FFF2-40B4-BE49-F238E27FC236}">
                <a16:creationId xmlns:a16="http://schemas.microsoft.com/office/drawing/2014/main" id="{E8880C7F-A9D3-58F3-A08A-FA3F6EC3052B}"/>
              </a:ext>
            </a:extLst>
          </p:cNvPr>
          <p:cNvSpPr/>
          <p:nvPr/>
        </p:nvSpPr>
        <p:spPr>
          <a:xfrm>
            <a:off x="9623503" y="60774"/>
            <a:ext cx="2415354" cy="289932"/>
          </a:xfrm>
          <a:prstGeom prst="ribbon">
            <a:avLst/>
          </a:prstGeom>
          <a:solidFill>
            <a:srgbClr val="08494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Frank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Qualitative results — photo in, listing out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3538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7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Recognised → published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38728" cy="4526280"/>
          </a:xfrm>
          <a:prstGeom prst="roundRect">
            <a:avLst>
              <a:gd name="adj" fmla="val 2584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2148840"/>
            <a:ext cx="3081528" cy="1920240"/>
          </a:xfrm>
          <a:prstGeom prst="roundRect">
            <a:avLst>
              <a:gd name="adj" fmla="val 2857"/>
            </a:avLst>
          </a:prstGeom>
          <a:solidFill>
            <a:srgbClr val="F6F6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ex_cerave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77992" y="2240280"/>
            <a:ext cx="1518250" cy="1737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187952"/>
            <a:ext cx="2990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22960" y="4462272"/>
            <a:ext cx="2990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CeraVe Daily Moisturizing Lotion, 562 mL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22960" y="5175504"/>
            <a:ext cx="2990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7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43.72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22960" y="5650992"/>
            <a:ext cx="1313078" cy="310896"/>
          </a:xfrm>
          <a:prstGeom prst="roundRect">
            <a:avLst>
              <a:gd name="adj" fmla="val 50000"/>
            </a:avLst>
          </a:prstGeom>
          <a:solidFill>
            <a:srgbClr val="E6F7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22960" y="5650992"/>
            <a:ext cx="13130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7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publish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270248" y="1572768"/>
            <a:ext cx="3538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Age-restricted → flagged + image upgraded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270248" y="1920240"/>
            <a:ext cx="3538728" cy="4526280"/>
          </a:xfrm>
          <a:prstGeom prst="roundRect">
            <a:avLst>
              <a:gd name="adj" fmla="val 2584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498848" y="2148840"/>
            <a:ext cx="3081528" cy="1920240"/>
          </a:xfrm>
          <a:prstGeom prst="roundRect">
            <a:avLst>
              <a:gd name="adj" fmla="val 2857"/>
            </a:avLst>
          </a:prstGeom>
          <a:solidFill>
            <a:srgbClr val="F6F6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1" descr="ex_amarula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221857" y="2240280"/>
            <a:ext cx="1581510" cy="17373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44568" y="4187952"/>
            <a:ext cx="2990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544568" y="4462272"/>
            <a:ext cx="2990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Amarula Cream Liqueur, 1 L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4544568" y="5175504"/>
            <a:ext cx="2990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7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37.15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4544568" y="5650992"/>
            <a:ext cx="1174090" cy="310896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4544568" y="5650992"/>
            <a:ext cx="11740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18+ restricted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5810098" y="5650992"/>
            <a:ext cx="1243584" cy="310896"/>
          </a:xfrm>
          <a:prstGeom prst="roundRect">
            <a:avLst>
              <a:gd name="adj" fmla="val 50000"/>
            </a:avLst>
          </a:prstGeom>
          <a:solidFill>
            <a:srgbClr val="E9EC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5810098" y="5650992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A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image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7991856" y="1572768"/>
            <a:ext cx="3538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B97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confidence → routed to review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7991856" y="1920240"/>
            <a:ext cx="3538728" cy="4526280"/>
          </a:xfrm>
          <a:prstGeom prst="roundRect">
            <a:avLst>
              <a:gd name="adj" fmla="val 2584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8220456" y="2148840"/>
            <a:ext cx="3081528" cy="1920240"/>
          </a:xfrm>
          <a:prstGeom prst="roundRect">
            <a:avLst>
              <a:gd name="adj" fmla="val 2857"/>
            </a:avLst>
          </a:prstGeom>
          <a:solidFill>
            <a:srgbClr val="F6F6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2" descr="ex_crackers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833448" y="2240280"/>
            <a:ext cx="1656273" cy="173736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266176" y="4187952"/>
            <a:ext cx="2990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SNACKS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8266176" y="4462272"/>
            <a:ext cx="2990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Cream Crackers, 200 g (brand unconfirmed)</a:t>
            </a:r>
            <a:endParaRPr lang="en-US" sz="1350" dirty="0"/>
          </a:p>
        </p:txBody>
      </p:sp>
      <p:sp>
        <p:nvSpPr>
          <p:cNvPr id="30" name="Text 25"/>
          <p:cNvSpPr/>
          <p:nvPr/>
        </p:nvSpPr>
        <p:spPr>
          <a:xfrm>
            <a:off x="8266176" y="5175504"/>
            <a:ext cx="2990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97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routed to review</a:t>
            </a:r>
            <a:endParaRPr lang="en-US" sz="1350" dirty="0"/>
          </a:p>
        </p:txBody>
      </p:sp>
      <p:sp>
        <p:nvSpPr>
          <p:cNvPr id="31" name="Shape 26"/>
          <p:cNvSpPr/>
          <p:nvPr/>
        </p:nvSpPr>
        <p:spPr>
          <a:xfrm>
            <a:off x="8266176" y="5650992"/>
            <a:ext cx="1035101" cy="310896"/>
          </a:xfrm>
          <a:prstGeom prst="roundRect">
            <a:avLst>
              <a:gd name="adj" fmla="val 50000"/>
            </a:avLst>
          </a:prstGeom>
          <a:solidFill>
            <a:srgbClr val="FFF4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/>
          <p:nvPr/>
        </p:nvSpPr>
        <p:spPr>
          <a:xfrm>
            <a:off x="8266176" y="5650992"/>
            <a:ext cx="10351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97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review</a:t>
            </a:r>
            <a:endParaRPr lang="en-US" sz="950" dirty="0"/>
          </a:p>
        </p:txBody>
      </p:sp>
      <p:sp>
        <p:nvSpPr>
          <p:cNvPr id="33" name="Text 28"/>
          <p:cNvSpPr/>
          <p:nvPr/>
        </p:nvSpPr>
        <p:spPr>
          <a:xfrm>
            <a:off x="548640" y="65379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output carries its evidence — recognised identity + OCR, ranked candidates, price basis, image-match reason, and guardrail flags — logged per item and rendered in an HTML run report.</a:t>
            </a:r>
            <a:endParaRPr lang="en-US" sz="1050" dirty="0"/>
          </a:p>
        </p:txBody>
      </p:sp>
      <p:sp>
        <p:nvSpPr>
          <p:cNvPr id="34" name="Text 29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5" name="Down Ribbon 34">
            <a:extLst>
              <a:ext uri="{FF2B5EF4-FFF2-40B4-BE49-F238E27FC236}">
                <a16:creationId xmlns:a16="http://schemas.microsoft.com/office/drawing/2014/main" id="{730F8203-768F-2BA2-F280-7C49B0D19910}"/>
              </a:ext>
            </a:extLst>
          </p:cNvPr>
          <p:cNvSpPr/>
          <p:nvPr/>
        </p:nvSpPr>
        <p:spPr>
          <a:xfrm>
            <a:off x="9623503" y="60774"/>
            <a:ext cx="2415354" cy="289932"/>
          </a:xfrm>
          <a:prstGeom prst="ribbon">
            <a:avLst/>
          </a:prstGeom>
          <a:solidFill>
            <a:srgbClr val="08494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Frank 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broke — and what held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04672" y="2057400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51560" y="19476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Multipack / case pricing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44144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returned 24-packs and cases for single units — the main price-error driver. Per-unit normalization helps; wrong comparables persist.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51960" y="178308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07992" y="2057400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0" y="19476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Look-alike comparables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26280" y="244144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Visually similar wrong products (a kayak for an unbranded cracker) anchored bad prices; the outlier + brand gate reject the worst.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55280" y="178308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211312" y="2057400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458200" y="19476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Unbranded / regional items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0" y="244144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confident brand match → declined to price and routed to review (8 of 58 items).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38328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04672" y="3657600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51560" y="35478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Age-restricted retrieval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404164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Cigarettes / alcohol aren't on shopping search → junk hits — but the guardrail still flagged 100% of them.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251960" y="338328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07992" y="3657600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54880" y="35478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Low-res catalogue images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26280" y="404164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thumbnails are small; enhance mode keeps the owner's sharper photo, so swaps happen mainly in swap mode.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955280" y="338328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211312" y="3657600"/>
            <a:ext cx="146304" cy="146304"/>
          </a:xfrm>
          <a:prstGeom prst="ellipse">
            <a:avLst/>
          </a:prstGeom>
          <a:solidFill>
            <a:srgbClr val="0A7D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458200" y="35478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held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29600" y="404164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(86%), category (79%) and age-restriction recall (100%) were robust across all six categories.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49560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Mitigations: per-unit price normalization, price-outlier rejection, brand-confirmation gate (decline + route to review), robust median reporting.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539496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0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22960" y="54864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 &amp; explainability: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is white-box by construction — no black-box score decides a listing. Each output exposes its evidence: recognised attributes + OCR text, the ranked retrieval candidates with scores, the stated price basis, the LLM's same-SKU match reason, and explicit guardrail flags — all captured in a per-item trace log and an HTML run report for human review.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2" name="Down Ribbon 31">
            <a:extLst>
              <a:ext uri="{FF2B5EF4-FFF2-40B4-BE49-F238E27FC236}">
                <a16:creationId xmlns:a16="http://schemas.microsoft.com/office/drawing/2014/main" id="{DD9ED0EB-2E32-22BA-B617-F4016F296276}"/>
              </a:ext>
            </a:extLst>
          </p:cNvPr>
          <p:cNvSpPr/>
          <p:nvPr/>
        </p:nvSpPr>
        <p:spPr>
          <a:xfrm>
            <a:off x="9623503" y="60774"/>
            <a:ext cx="2415354" cy="289932"/>
          </a:xfrm>
          <a:prstGeom prst="ribbon">
            <a:avLst/>
          </a:prstGeom>
          <a:solidFill>
            <a:srgbClr val="08494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Frank 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028090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photo → a defensible, safe listing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2011680"/>
            <a:ext cx="7269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4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58 real corner-store products, Snap-to-Sell beats the naive baseline on identification, category, age-restriction recall (100%), and image upgrade.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3063240"/>
            <a:ext cx="7269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4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Responsible-AI is first-class and measured: every tobacco / alcohol item flagged, and low-confidence matches are declined and routed to human review.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4114800"/>
            <a:ext cx="7269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4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Honestly evaluated: retrieval-grounded pricing is the one axis the baseline wins — a documented failure mode on low-value goods, reported rather than hidden.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686800" y="2011680"/>
            <a:ext cx="2971800" cy="3063240"/>
          </a:xfrm>
          <a:prstGeom prst="roundRect">
            <a:avLst>
              <a:gd name="adj" fmla="val 3077"/>
            </a:avLst>
          </a:prstGeom>
          <a:solidFill>
            <a:srgbClr val="11384B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915400" y="2194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915400" y="2606040"/>
            <a:ext cx="2606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8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open-catalogue coverage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8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labelled test set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8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price adjustment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8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Multi-item shelf detection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8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marketplace publishing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58521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Snap-to-Sell — lowering the e-commerce barrier for the retailers automation leaves behind.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REFERENCES (APA)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0789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Chen, S., &amp; Chou, E. (2018). The price is right: Predicting prices with product images.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Li, Y., Hu, B., Luo, W., Ma, L., Ding, Y., &amp; Zhang, M. (2024). A multimodal in-context tuning approach for e-commerce product description generation (ModICT). LREC-COLING 2024. arXiv:2402.13587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Peng, J., Xiao, C., &amp; Li, Y. (2020). RP2K: A large-scale retail product dataset for fine-grained image classification. arXiv:2006.12634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LLP: LLM-based product pricing in e-commerce. (2025). arXiv:2510.09347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SIR: Similar image retrieval for product search in e-commerce. (2020). arXiv:2009.13836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e-CLIP: Large-scale vision-language representation learning in e-commerce. (2022). arXiv:2207.00208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59436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list (10 landmark papers, 2018–2025) with verified author lists in docs/literature_review.md · APA per uOttawa guidelines.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2775</Words>
  <Application>Microsoft Macintosh PowerPoint</Application>
  <PresentationFormat>Widescreen</PresentationFormat>
  <Paragraphs>316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LOIC TIEMANI YOUMBI DE YOUMBI</cp:lastModifiedBy>
  <cp:revision>3</cp:revision>
  <dcterms:created xsi:type="dcterms:W3CDTF">2026-07-16T21:10:48Z</dcterms:created>
  <dcterms:modified xsi:type="dcterms:W3CDTF">2026-07-16T22:36:08Z</dcterms:modified>
</cp:coreProperties>
</file>